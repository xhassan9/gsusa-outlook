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media/image-6-1.jpg" ContentType="image/jpg"/>
  <Override PartName="/ppt/media/image-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 parcel</c:v>
                </c:pt>
              </c:strCache>
            </c:strRef>
          </c:tx>
          <c:spPr>
            <a:solidFill>
              <a:srgbClr val="9AA5B1"/>
            </a:solidFill>
            <a:effectLst/>
          </c:spPr>
          <c:invertIfNegative val="0"/>
          <c:dLbls>
            <c:numFmt formatCode="#,##0" sourceLinked="0"/>
            <c:txPr>
              <a:bodyPr/>
              <a:lstStyle/>
              <a:p>
                <a:pPr>
                  <a:defRPr b="1" i="0" strike="noStrike" sz="1200" u="none">
                    <a:solidFill>
                      <a:srgbClr val="14213D"/>
                    </a:solidFill>
                    <a:latin typeface="Arial"/>
                  </a:defRPr>
                </a:pPr>
              </a:p>
            </c:txPr>
            <c:showLegendKey val="0"/>
            <c:showVal val="1"/>
            <c:showCatName val="0"/>
            <c:showSerName val="0"/>
            <c:showPercent val="0"/>
            <c:showBubbleSize val="0"/>
            <c:showLeaderLines val="0"/>
          </c:dLbls>
          <c:cat>
            <c:multiLvlStrRef>
              <c:f>Sheet1!$A$2:$A$5</c:f>
              <c:multiLvlStrCache>
                <c:ptCount val="4"/>
                <c:lvl>
                  <c:pt idx="0">
                    <c:v>Today
$11.99</c:v>
                  </c:pt>
                  <c:pt idx="1">
                    <c:v>UPS peak
$12.74</c:v>
                  </c:pt>
                  <c:pt idx="2">
                    <c:v>HTL 16.4%
$10.02</c:v>
                  </c:pt>
                  <c:pt idx="3">
                    <c:v>HTL 27%
$8.75</c:v>
                  </c:pt>
                </c:lvl>
              </c:multiLvlStrCache>
            </c:multiLvlStrRef>
          </c:cat>
          <c:val>
            <c:numRef>
              <c:f>Sheet1!$B$2:$B$5</c:f>
              <c:numCache>
                <c:formatCode>General</c:formatCode>
                <c:ptCount val="4"/>
                <c:pt idx="0">
                  <c:v>11.99</c:v>
                </c:pt>
                <c:pt idx="1">
                  <c:v>12.74</c:v>
                </c:pt>
                <c:pt idx="2">
                  <c:v>10.02</c:v>
                </c:pt>
                <c:pt idx="3">
                  <c:v>8.75</c:v>
                </c:pt>
              </c:numCache>
            </c:numRef>
          </c:val>
        </c:ser>
        <c:dLbls>
          <c:numFmt formatCode="#,##0" sourceLinked="0"/>
          <c:txPr>
            <a:bodyPr/>
            <a:lstStyle/>
            <a:p>
              <a:pPr>
                <a:defRPr b="1" i="0" strike="noStrike" sz="1200" u="none">
                  <a:solidFill>
                    <a:srgbClr val="14213D"/>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Gap 16.4%</c:v>
                </c:pt>
              </c:strCache>
            </c:strRef>
          </c:tx>
          <c:spPr>
            <a:solidFill>
              <a:srgbClr val="9AA5B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Nov</c:v>
                  </c:pt>
                  <c:pt idx="1">
                    <c:v>Dec</c:v>
                  </c:pt>
                  <c:pt idx="2">
                    <c:v>Jan</c:v>
                  </c:pt>
                  <c:pt idx="3">
                    <c:v>Feb</c:v>
                  </c:pt>
                  <c:pt idx="4">
                    <c:v>Mar</c:v>
                  </c:pt>
                  <c:pt idx="5">
                    <c:v>Apr</c:v>
                  </c:pt>
                </c:lvl>
              </c:multiLvlStrCache>
            </c:multiLvlStrRef>
          </c:cat>
          <c:val>
            <c:numRef>
              <c:f>Sheet1!$B$2:$B$7</c:f>
              <c:numCache>
                <c:formatCode>General</c:formatCode>
                <c:ptCount val="6"/>
                <c:pt idx="0">
                  <c:v>0.1</c:v>
                </c:pt>
                <c:pt idx="1">
                  <c:v>0.43</c:v>
                </c:pt>
                <c:pt idx="2">
                  <c:v>0.8</c:v>
                </c:pt>
                <c:pt idx="3">
                  <c:v>1.26</c:v>
                </c:pt>
                <c:pt idx="4">
                  <c:v>1.1</c:v>
                </c:pt>
                <c:pt idx="5">
                  <c:v>0.47</c:v>
                </c:pt>
              </c:numCache>
            </c:numRef>
          </c:val>
        </c:ser>
        <c:ser>
          <c:idx val="1"/>
          <c:order val="1"/>
          <c:tx>
            <c:strRef>
              <c:f>Sheet1!$C$1</c:f>
              <c:strCache>
                <c:ptCount val="1"/>
                <c:pt idx="0">
                  <c:v>Gap 27%</c:v>
                </c:pt>
              </c:strCache>
            </c:strRef>
          </c:tx>
          <c:spPr>
            <a:solidFill>
              <a:srgbClr val="B23A4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Nov</c:v>
                  </c:pt>
                  <c:pt idx="1">
                    <c:v>Dec</c:v>
                  </c:pt>
                  <c:pt idx="2">
                    <c:v>Jan</c:v>
                  </c:pt>
                  <c:pt idx="3">
                    <c:v>Feb</c:v>
                  </c:pt>
                  <c:pt idx="4">
                    <c:v>Mar</c:v>
                  </c:pt>
                  <c:pt idx="5">
                    <c:v>Apr</c:v>
                  </c:pt>
                </c:lvl>
              </c:multiLvlStrCache>
            </c:multiLvlStrRef>
          </c:cat>
          <c:val>
            <c:numRef>
              <c:f>Sheet1!$C$2:$C$7</c:f>
              <c:numCache>
                <c:formatCode>General</c:formatCode>
                <c:ptCount val="6"/>
                <c:pt idx="0">
                  <c:v>0.15</c:v>
                </c:pt>
                <c:pt idx="1">
                  <c:v>0.64</c:v>
                </c:pt>
                <c:pt idx="2">
                  <c:v>1.26</c:v>
                </c:pt>
                <c:pt idx="3">
                  <c:v>2.07</c:v>
                </c:pt>
                <c:pt idx="4">
                  <c:v>1.81</c:v>
                </c:pt>
                <c:pt idx="5">
                  <c:v>0.78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2"/>
          <c:order val="2"/>
          <c:tx>
            <c:strRef>
              <c:f>Sheet1!$D$1</c:f>
              <c:strCache>
                <c:ptCount val="1"/>
                <c:pt idx="0">
                  <c:v>Cum 16.4%</c:v>
                </c:pt>
              </c:strCache>
            </c:strRef>
          </c:tx>
          <c:spPr>
            <a:solidFill>
              <a:srgbClr val="5C6B82"/>
            </a:solidFill>
            <a:ln w="25400" cap="flat">
              <a:solidFill>
                <a:srgbClr val="5C6B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4213D"/>
              </a:solidFill>
              <a:ln w="9525" cap="flat">
                <a:solidFill>
                  <a:srgbClr val="5C6B82"/>
                </a:solidFill>
                <a:prstDash val="solid"/>
                <a:round/>
              </a:ln>
              <a:effectLst/>
            </c:spPr>
          </c:marker>
          <c:cat>
            <c:multiLvlStrRef>
              <c:f>Sheet1!$A$2:$A$7</c:f>
              <c:multiLvlStrCache>
                <c:ptCount val="6"/>
                <c:lvl>
                  <c:pt idx="0">
                    <c:v>Nov</c:v>
                  </c:pt>
                  <c:pt idx="1">
                    <c:v>Dec</c:v>
                  </c:pt>
                  <c:pt idx="2">
                    <c:v>Jan</c:v>
                  </c:pt>
                  <c:pt idx="3">
                    <c:v>Feb</c:v>
                  </c:pt>
                  <c:pt idx="4">
                    <c:v>Mar</c:v>
                  </c:pt>
                  <c:pt idx="5">
                    <c:v>Apr</c:v>
                  </c:pt>
                </c:lvl>
              </c:multiLvlStrCache>
            </c:multiLvlStrRef>
          </c:cat>
          <c:val>
            <c:numRef>
              <c:f>Sheet1!$D$2:$D$7</c:f>
              <c:numCache>
                <c:formatCode>General</c:formatCode>
                <c:ptCount val="6"/>
                <c:pt idx="0">
                  <c:v>0.1</c:v>
                </c:pt>
                <c:pt idx="1">
                  <c:v>0.53</c:v>
                </c:pt>
                <c:pt idx="2">
                  <c:v>1.33</c:v>
                </c:pt>
                <c:pt idx="3">
                  <c:v>2.59</c:v>
                </c:pt>
                <c:pt idx="4">
                  <c:v>3.69</c:v>
                </c:pt>
                <c:pt idx="5">
                  <c:v>4.17</c:v>
                </c:pt>
              </c:numCache>
            </c:numRef>
          </c:val>
          <c:smooth val="0"/>
        </c:ser>
        <c:ser>
          <c:idx val="3"/>
          <c:order val="3"/>
          <c:tx>
            <c:strRef>
              <c:f>Sheet1!$E$1</c:f>
              <c:strCache>
                <c:ptCount val="1"/>
                <c:pt idx="0">
                  <c:v>Cum 27%</c:v>
                </c:pt>
              </c:strCache>
            </c:strRef>
          </c:tx>
          <c:spPr>
            <a:solidFill>
              <a:srgbClr val="14213D"/>
            </a:solidFill>
            <a:ln w="25400" cap="flat">
              <a:solidFill>
                <a:srgbClr val="1421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4213D"/>
              </a:solidFill>
              <a:ln w="9525" cap="flat">
                <a:solidFill>
                  <a:srgbClr val="14213D"/>
                </a:solidFill>
                <a:prstDash val="solid"/>
                <a:round/>
              </a:ln>
              <a:effectLst/>
            </c:spPr>
          </c:marker>
          <c:cat>
            <c:multiLvlStrRef>
              <c:f>Sheet1!$A$2:$A$7</c:f>
              <c:multiLvlStrCache>
                <c:ptCount val="6"/>
                <c:lvl>
                  <c:pt idx="0">
                    <c:v>Nov</c:v>
                  </c:pt>
                  <c:pt idx="1">
                    <c:v>Dec</c:v>
                  </c:pt>
                  <c:pt idx="2">
                    <c:v>Jan</c:v>
                  </c:pt>
                  <c:pt idx="3">
                    <c:v>Feb</c:v>
                  </c:pt>
                  <c:pt idx="4">
                    <c:v>Mar</c:v>
                  </c:pt>
                  <c:pt idx="5">
                    <c:v>Apr</c:v>
                  </c:pt>
                </c:lvl>
              </c:multiLvlStrCache>
            </c:multiLvlStrRef>
          </c:cat>
          <c:val>
            <c:numRef>
              <c:f>Sheet1!$E$2:$E$7</c:f>
              <c:numCache>
                <c:formatCode>General</c:formatCode>
                <c:ptCount val="6"/>
                <c:pt idx="0">
                  <c:v>0.15</c:v>
                </c:pt>
                <c:pt idx="1">
                  <c:v>0.79</c:v>
                </c:pt>
                <c:pt idx="2">
                  <c:v>2.05</c:v>
                </c:pt>
                <c:pt idx="3">
                  <c:v>4.12</c:v>
                </c:pt>
                <c:pt idx="4">
                  <c:v>5.93</c:v>
                </c:pt>
                <c:pt idx="5">
                  <c:v>6.71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AF0"/>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Monthly gap $M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valAx>
        <c:axId val="2094734553"/>
        <c:scaling>
          <c:orientation val="minMax"/>
        </c:scaling>
        <c:delete val="0"/>
        <c:axPos val="r"/>
        <c:majorGridlines>
          <c:spPr>
            <a:ln w="12700" cap="flat">
              <a:solidFill>
                <a:srgbClr val="888888"/>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Cumulative $M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Index</c:v>
                </c:pt>
              </c:strCache>
            </c:strRef>
          </c:tx>
          <c:spPr>
            <a:solidFill>
              <a:srgbClr val="1B998B"/>
            </a:solidFill>
            <a:effectLst/>
          </c:spPr>
          <c:invertIfNegative val="0"/>
          <c:dLbls>
            <c:numFmt formatCode="#,##0" sourceLinked="0"/>
            <c:txPr>
              <a:bodyPr/>
              <a:lstStyle/>
              <a:p>
                <a:pPr>
                  <a:defRPr b="1" i="0" strike="noStrike" sz="1200" u="none">
                    <a:solidFill>
                      <a:srgbClr val="14213D"/>
                    </a:solidFill>
                    <a:latin typeface="Arial"/>
                  </a:defRPr>
                </a:pPr>
              </a:p>
            </c:txPr>
            <c:showLegendKey val="0"/>
            <c:showVal val="1"/>
            <c:showCatName val="0"/>
            <c:showSerName val="0"/>
            <c:showPercent val="0"/>
            <c:showBubbleSize val="0"/>
            <c:showLeaderLines val="0"/>
          </c:dLbls>
          <c:cat>
            <c:multiLvlStrRef>
              <c:f>Sheet1!$A$2:$A$6</c:f>
              <c:multiLvlStrCache>
                <c:ptCount val="5"/>
                <c:lvl>
                  <c:pt idx="0">
                    <c:v>Jan 2025
prior</c:v>
                  </c:pt>
                  <c:pt idx="1">
                    <c:v>Jul 2025
HTL wk 1</c:v>
                  </c:pt>
                  <c:pt idx="2">
                    <c:v>Sep 2025
HTL month</c:v>
                  </c:pt>
                  <c:pt idx="3">
                    <c:v>Oct 24-Nov 21
surcharge</c:v>
                  </c:pt>
                  <c:pt idx="4">
                    <c:v>2026
prior list</c:v>
                  </c:pt>
                </c:lvl>
              </c:multiLvlStrCache>
            </c:multiLvlStrRef>
          </c:cat>
          <c:val>
            <c:numRef>
              <c:f>Sheet1!$B$2:$B$6</c:f>
              <c:numCache>
                <c:formatCode>General</c:formatCode>
                <c:ptCount val="5"/>
                <c:pt idx="0">
                  <c:v>100</c:v>
                </c:pt>
                <c:pt idx="1">
                  <c:v>57</c:v>
                </c:pt>
                <c:pt idx="2">
                  <c:v>52</c:v>
                </c:pt>
                <c:pt idx="3">
                  <c:v>51</c:v>
                </c:pt>
                <c:pt idx="4">
                  <c:v>106</c:v>
                </c:pt>
              </c:numCache>
            </c:numRef>
          </c:val>
        </c:ser>
        <c:dLbls>
          <c:numFmt formatCode="#,##0" sourceLinked="0"/>
          <c:txPr>
            <a:bodyPr/>
            <a:lstStyle/>
            <a:p>
              <a:pPr>
                <a:defRPr b="1" i="0" strike="noStrike" sz="1200" u="none">
                  <a:solidFill>
                    <a:srgbClr val="1421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Prior carrier</c:v>
                </c:pt>
              </c:strCache>
            </c:strRef>
          </c:tx>
          <c:spPr>
            <a:solidFill>
              <a:srgbClr val="B23A48"/>
            </a:solidFill>
            <a:ln w="31750" cap="flat">
              <a:solidFill>
                <a:srgbClr val="B23A4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23A48"/>
              </a:solidFill>
              <a:ln w="9525" cap="flat">
                <a:solidFill>
                  <a:srgbClr val="B23A48"/>
                </a:solidFill>
                <a:prstDash val="solid"/>
                <a:round/>
              </a:ln>
              <a:effectLst/>
            </c:spPr>
          </c:marker>
          <c:cat>
            <c:multiLvlStrRef>
              <c:f>Sheet1!$A$2:$A$14</c:f>
              <c:multiLvlStrCache>
                <c:ptCount val="13"/>
                <c:lvl>
                  <c:pt idx="0">
                    <c:v>Oct 20</c:v>
                  </c:pt>
                  <c:pt idx="1">
                    <c:v>Oct 27</c:v>
                  </c:pt>
                  <c:pt idx="2">
                    <c:v>Nov 3</c:v>
                  </c:pt>
                  <c:pt idx="3">
                    <c:v>Nov 10</c:v>
                  </c:pt>
                  <c:pt idx="4">
                    <c:v>Nov 17</c:v>
                  </c:pt>
                  <c:pt idx="5">
                    <c:v>Nov 24</c:v>
                  </c:pt>
                  <c:pt idx="6">
                    <c:v>Dec 1</c:v>
                  </c:pt>
                  <c:pt idx="7">
                    <c:v>Dec 8</c:v>
                  </c:pt>
                  <c:pt idx="8">
                    <c:v>Dec 15</c:v>
                  </c:pt>
                  <c:pt idx="9">
                    <c:v>Dec 22</c:v>
                  </c:pt>
                  <c:pt idx="10">
                    <c:v>Dec 29</c:v>
                  </c:pt>
                  <c:pt idx="11">
                    <c:v>Jan 5</c:v>
                  </c:pt>
                  <c:pt idx="12">
                    <c:v>Jan 12</c:v>
                  </c:pt>
                </c:lvl>
              </c:multiLvlStrCache>
            </c:multiLvlStrRef>
          </c:cat>
          <c:val>
            <c:numRef>
              <c:f>Sheet1!$B$2:$B$14</c:f>
              <c:numCache>
                <c:formatCode>General</c:formatCode>
                <c:ptCount val="13"/>
                <c:pt idx="0">
                  <c:v>100</c:v>
                </c:pt>
                <c:pt idx="1">
                  <c:v>102.6</c:v>
                </c:pt>
                <c:pt idx="2">
                  <c:v>102.6</c:v>
                </c:pt>
                <c:pt idx="3">
                  <c:v>102.6</c:v>
                </c:pt>
                <c:pt idx="4">
                  <c:v>102.6</c:v>
                </c:pt>
                <c:pt idx="5">
                  <c:v>103.9</c:v>
                </c:pt>
                <c:pt idx="6">
                  <c:v>103.9</c:v>
                </c:pt>
                <c:pt idx="7">
                  <c:v>103.9</c:v>
                </c:pt>
                <c:pt idx="8">
                  <c:v>103.9</c:v>
                </c:pt>
                <c:pt idx="9">
                  <c:v>103.9</c:v>
                </c:pt>
                <c:pt idx="10">
                  <c:v>102.6</c:v>
                </c:pt>
                <c:pt idx="11">
                  <c:v>108.5</c:v>
                </c:pt>
                <c:pt idx="12">
                  <c:v>108.5</c:v>
                </c:pt>
              </c:numCache>
            </c:numRef>
          </c:val>
          <c:smooth val="0"/>
        </c:ser>
        <c:ser>
          <c:idx val="1"/>
          <c:order val="1"/>
          <c:tx>
            <c:strRef>
              <c:f>Sheet1!$C$1</c:f>
              <c:strCache>
                <c:ptCount val="1"/>
                <c:pt idx="0">
                  <c:v>Through HTL</c:v>
                </c:pt>
              </c:strCache>
            </c:strRef>
          </c:tx>
          <c:spPr>
            <a:solidFill>
              <a:srgbClr val="1B998B"/>
            </a:solidFill>
            <a:ln w="31750" cap="flat">
              <a:solidFill>
                <a:srgbClr val="1B998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998B"/>
              </a:solidFill>
              <a:ln w="9525" cap="flat">
                <a:solidFill>
                  <a:srgbClr val="1B998B"/>
                </a:solidFill>
                <a:prstDash val="solid"/>
                <a:round/>
              </a:ln>
              <a:effectLst/>
            </c:spPr>
          </c:marker>
          <c:cat>
            <c:multiLvlStrRef>
              <c:f>Sheet1!$A$2:$A$14</c:f>
              <c:multiLvlStrCache>
                <c:ptCount val="13"/>
                <c:lvl>
                  <c:pt idx="0">
                    <c:v>Oct 20</c:v>
                  </c:pt>
                  <c:pt idx="1">
                    <c:v>Oct 27</c:v>
                  </c:pt>
                  <c:pt idx="2">
                    <c:v>Nov 3</c:v>
                  </c:pt>
                  <c:pt idx="3">
                    <c:v>Nov 10</c:v>
                  </c:pt>
                  <c:pt idx="4">
                    <c:v>Nov 17</c:v>
                  </c:pt>
                  <c:pt idx="5">
                    <c:v>Nov 24</c:v>
                  </c:pt>
                  <c:pt idx="6">
                    <c:v>Dec 1</c:v>
                  </c:pt>
                  <c:pt idx="7">
                    <c:v>Dec 8</c:v>
                  </c:pt>
                  <c:pt idx="8">
                    <c:v>Dec 15</c:v>
                  </c:pt>
                  <c:pt idx="9">
                    <c:v>Dec 22</c:v>
                  </c:pt>
                  <c:pt idx="10">
                    <c:v>Dec 29</c:v>
                  </c:pt>
                  <c:pt idx="11">
                    <c:v>Jan 5</c:v>
                  </c:pt>
                  <c:pt idx="12">
                    <c:v>Jan 12</c:v>
                  </c:pt>
                </c:lvl>
              </c:multiLvlStrCache>
            </c:multiLvlStrRef>
          </c:cat>
          <c:val>
            <c:numRef>
              <c:f>Sheet1!$C$2:$C$14</c:f>
              <c:numCache>
                <c:formatCode>General</c:formatCode>
                <c:ptCount val="13"/>
                <c:pt idx="0">
                  <c:v>83.6</c:v>
                </c:pt>
                <c:pt idx="1">
                  <c:v>86.1</c:v>
                </c:pt>
                <c:pt idx="2">
                  <c:v>85.4</c:v>
                </c:pt>
                <c:pt idx="3">
                  <c:v>85.4</c:v>
                </c:pt>
                <c:pt idx="4">
                  <c:v>86.7</c:v>
                </c:pt>
                <c:pt idx="5">
                  <c:v>86.7</c:v>
                </c:pt>
                <c:pt idx="6">
                  <c:v>86.7</c:v>
                </c:pt>
                <c:pt idx="7">
                  <c:v>86.7</c:v>
                </c:pt>
                <c:pt idx="8">
                  <c:v>86.7</c:v>
                </c:pt>
                <c:pt idx="9">
                  <c:v>86.7</c:v>
                </c:pt>
                <c:pt idx="10">
                  <c:v>86.7</c:v>
                </c:pt>
                <c:pt idx="11">
                  <c:v>86.7</c:v>
                </c:pt>
                <c:pt idx="12">
                  <c:v>86.7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Stay the course</c:v>
                </c:pt>
              </c:strCache>
            </c:strRef>
          </c:tx>
          <c:spPr>
            <a:solidFill>
              <a:srgbClr val="B23A4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Low ~19K</c:v>
                  </c:pt>
                  <c:pt idx="1">
                    <c:v>Mid ~48K</c:v>
                  </c:pt>
                  <c:pt idx="2">
                    <c:v>High ~76K</c:v>
                  </c:pt>
                </c:lvl>
              </c:multiLvlStrCache>
            </c:multiLvlStrRef>
          </c:cat>
          <c:val>
            <c:numRef>
              <c:f>Sheet1!$B$2:$B$4</c:f>
              <c:numCache>
                <c:formatCode>General</c:formatCode>
                <c:ptCount val="3"/>
                <c:pt idx="0">
                  <c:v>246</c:v>
                </c:pt>
                <c:pt idx="1">
                  <c:v>621</c:v>
                </c:pt>
                <c:pt idx="2">
                  <c:v>984</c:v>
                </c:pt>
              </c:numCache>
            </c:numRef>
          </c:val>
        </c:ser>
        <c:ser>
          <c:idx val="1"/>
          <c:order val="1"/>
          <c:tx>
            <c:strRef>
              <c:f>Sheet1!$C$1</c:f>
              <c:strCache>
                <c:ptCount val="1"/>
                <c:pt idx="0">
                  <c:v>HTL 16.4%</c:v>
                </c:pt>
              </c:strCache>
            </c:strRef>
          </c:tx>
          <c:spPr>
            <a:solidFill>
              <a:srgbClr val="9AA5B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Low ~19K</c:v>
                  </c:pt>
                  <c:pt idx="1">
                    <c:v>Mid ~48K</c:v>
                  </c:pt>
                  <c:pt idx="2">
                    <c:v>High ~76K</c:v>
                  </c:pt>
                </c:lvl>
              </c:multiLvlStrCache>
            </c:multiLvlStrRef>
          </c:cat>
          <c:val>
            <c:numRef>
              <c:f>Sheet1!$C$2:$C$4</c:f>
              <c:numCache>
                <c:formatCode>General</c:formatCode>
                <c:ptCount val="3"/>
                <c:pt idx="0">
                  <c:v>202</c:v>
                </c:pt>
                <c:pt idx="1">
                  <c:v>510</c:v>
                </c:pt>
                <c:pt idx="2">
                  <c:v>807</c:v>
                </c:pt>
              </c:numCache>
            </c:numRef>
          </c:val>
        </c:ser>
        <c:ser>
          <c:idx val="2"/>
          <c:order val="2"/>
          <c:tx>
            <c:strRef>
              <c:f>Sheet1!$D$1</c:f>
              <c:strCache>
                <c:ptCount val="1"/>
                <c:pt idx="0">
                  <c:v>HTL 27%</c:v>
                </c:pt>
              </c:strCache>
            </c:strRef>
          </c:tx>
          <c:spPr>
            <a:solidFill>
              <a:srgbClr val="1B998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Low ~19K</c:v>
                  </c:pt>
                  <c:pt idx="1">
                    <c:v>Mid ~48K</c:v>
                  </c:pt>
                  <c:pt idx="2">
                    <c:v>High ~76K</c:v>
                  </c:pt>
                </c:lvl>
              </c:multiLvlStrCache>
            </c:multiLvlStrRef>
          </c:cat>
          <c:val>
            <c:numRef>
              <c:f>Sheet1!$D$2:$D$4</c:f>
              <c:numCache>
                <c:formatCode>General</c:formatCode>
                <c:ptCount val="3"/>
                <c:pt idx="0">
                  <c:v>176</c:v>
                </c:pt>
                <c:pt idx="1">
                  <c:v>445</c:v>
                </c:pt>
                <c:pt idx="2">
                  <c:v>704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Season, 16.4%</c:v>
                </c:pt>
              </c:strCache>
            </c:strRef>
          </c:tx>
          <c:spPr>
            <a:solidFill>
              <a:srgbClr val="9AA5B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2027</c:v>
                  </c:pt>
                  <c:pt idx="1">
                    <c:v>2028</c:v>
                  </c:pt>
                  <c:pt idx="2">
                    <c:v>2029</c:v>
                  </c:pt>
                </c:lvl>
              </c:multiLvlStrCache>
            </c:multiLvlStrRef>
          </c:cat>
          <c:val>
            <c:numRef>
              <c:f>Sheet1!$B$2:$B$4</c:f>
              <c:numCache>
                <c:formatCode>General</c:formatCode>
                <c:ptCount val="3"/>
                <c:pt idx="0">
                  <c:v>4.3</c:v>
                </c:pt>
                <c:pt idx="1">
                  <c:v>4.5</c:v>
                </c:pt>
                <c:pt idx="2">
                  <c:v>4.8</c:v>
                </c:pt>
              </c:numCache>
            </c:numRef>
          </c:val>
        </c:ser>
        <c:ser>
          <c:idx val="1"/>
          <c:order val="1"/>
          <c:tx>
            <c:strRef>
              <c:f>Sheet1!$C$1</c:f>
              <c:strCache>
                <c:ptCount val="1"/>
                <c:pt idx="0">
                  <c:v>Season, 27%</c:v>
                </c:pt>
              </c:strCache>
            </c:strRef>
          </c:tx>
          <c:spPr>
            <a:solidFill>
              <a:srgbClr val="1B998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2027</c:v>
                  </c:pt>
                  <c:pt idx="1">
                    <c:v>2028</c:v>
                  </c:pt>
                  <c:pt idx="2">
                    <c:v>2029</c:v>
                  </c:pt>
                </c:lvl>
              </c:multiLvlStrCache>
            </c:multiLvlStrRef>
          </c:cat>
          <c:val>
            <c:numRef>
              <c:f>Sheet1!$C$2:$C$4</c:f>
              <c:numCache>
                <c:formatCode>General</c:formatCode>
                <c:ptCount val="3"/>
                <c:pt idx="0">
                  <c:v>6.9</c:v>
                </c:pt>
                <c:pt idx="1">
                  <c:v>7.3</c:v>
                </c:pt>
                <c:pt idx="2">
                  <c:v>7.8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2"/>
          <c:order val="2"/>
          <c:tx>
            <c:strRef>
              <c:f>Sheet1!$D$1</c:f>
              <c:strCache>
                <c:ptCount val="1"/>
                <c:pt idx="0">
                  <c:v>Cumulative 16.4%</c:v>
                </c:pt>
              </c:strCache>
            </c:strRef>
          </c:tx>
          <c:spPr>
            <a:solidFill>
              <a:srgbClr val="5C6B82"/>
            </a:solidFill>
            <a:ln w="25400" cap="flat">
              <a:solidFill>
                <a:srgbClr val="5C6B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C6B82"/>
              </a:solidFill>
              <a:ln w="9525" cap="flat">
                <a:solidFill>
                  <a:srgbClr val="5C6B82"/>
                </a:solidFill>
                <a:prstDash val="solid"/>
                <a:round/>
              </a:ln>
              <a:effectLst/>
            </c:spPr>
          </c:marker>
          <c:cat>
            <c:multiLvlStrRef>
              <c:f>Sheet1!$A$2:$A$4</c:f>
              <c:multiLvlStrCache>
                <c:ptCount val="3"/>
                <c:lvl>
                  <c:pt idx="0">
                    <c:v>2027</c:v>
                  </c:pt>
                  <c:pt idx="1">
                    <c:v>2028</c:v>
                  </c:pt>
                  <c:pt idx="2">
                    <c:v>2029</c:v>
                  </c:pt>
                </c:lvl>
              </c:multiLvlStrCache>
            </c:multiLvlStrRef>
          </c:cat>
          <c:val>
            <c:numRef>
              <c:f>Sheet1!$D$2:$D$4</c:f>
              <c:numCache>
                <c:formatCode>General</c:formatCode>
                <c:ptCount val="3"/>
                <c:pt idx="0">
                  <c:v>4.3</c:v>
                </c:pt>
                <c:pt idx="1">
                  <c:v>8.8</c:v>
                </c:pt>
                <c:pt idx="2">
                  <c:v>13.6</c:v>
                </c:pt>
              </c:numCache>
            </c:numRef>
          </c:val>
          <c:smooth val="0"/>
        </c:ser>
        <c:ser>
          <c:idx val="3"/>
          <c:order val="3"/>
          <c:tx>
            <c:strRef>
              <c:f>Sheet1!$E$1</c:f>
              <c:strCache>
                <c:ptCount val="1"/>
                <c:pt idx="0">
                  <c:v>Cumulative 27%</c:v>
                </c:pt>
              </c:strCache>
            </c:strRef>
          </c:tx>
          <c:spPr>
            <a:solidFill>
              <a:srgbClr val="14213D"/>
            </a:solidFill>
            <a:ln w="25400" cap="flat">
              <a:solidFill>
                <a:srgbClr val="1421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C6B82"/>
              </a:solidFill>
              <a:ln w="9525" cap="flat">
                <a:solidFill>
                  <a:srgbClr val="14213D"/>
                </a:solidFill>
                <a:prstDash val="solid"/>
                <a:round/>
              </a:ln>
              <a:effectLst/>
            </c:spPr>
          </c:marker>
          <c:cat>
            <c:multiLvlStrRef>
              <c:f>Sheet1!$A$2:$A$4</c:f>
              <c:multiLvlStrCache>
                <c:ptCount val="3"/>
                <c:lvl>
                  <c:pt idx="0">
                    <c:v>2027</c:v>
                  </c:pt>
                  <c:pt idx="1">
                    <c:v>2028</c:v>
                  </c:pt>
                  <c:pt idx="2">
                    <c:v>2029</c:v>
                  </c:pt>
                </c:lvl>
              </c:multiLvlStrCache>
            </c:multiLvlStrRef>
          </c:cat>
          <c:val>
            <c:numRef>
              <c:f>Sheet1!$E$2:$E$4</c:f>
              <c:numCache>
                <c:formatCode>General</c:formatCode>
                <c:ptCount val="3"/>
                <c:pt idx="0">
                  <c:v>6.9</c:v>
                </c:pt>
                <c:pt idx="1">
                  <c:v>14.2</c:v>
                </c:pt>
                <c:pt idx="2">
                  <c:v>21.9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AF0"/>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Season $M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valAx>
        <c:axId val="2094734553"/>
        <c:scaling>
          <c:orientation val="minMax"/>
        </c:scaling>
        <c:delete val="0"/>
        <c:axPos val="r"/>
        <c:majorGridlines>
          <c:spPr>
            <a:ln w="12700" cap="flat">
              <a:solidFill>
                <a:srgbClr val="888888"/>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Cumulative $M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13D"/>
          </a:solidFill>
          <a:ln/>
        </p:spPr>
      </p:sp>
      <p:sp>
        <p:nvSpPr>
          <p:cNvPr id="3" name="Shape 1"/>
          <p:cNvSpPr/>
          <p:nvPr/>
        </p:nvSpPr>
        <p:spPr>
          <a:xfrm>
            <a:off x="0" y="0"/>
            <a:ext cx="109728" cy="6858000"/>
          </a:xfrm>
          <a:prstGeom prst="rect">
            <a:avLst/>
          </a:prstGeom>
          <a:solidFill>
            <a:srgbClr val="1B998B"/>
          </a:solidFill>
          <a:ln/>
        </p:spPr>
      </p:sp>
      <p:pic>
        <p:nvPicPr>
          <p:cNvPr id="4" name="Image 0" descr="/workspace/artifacts/HTL_logo_clean.png">    </p:cNvPr>
          <p:cNvPicPr>
            <a:picLocks noChangeAspect="1"/>
          </p:cNvPicPr>
          <p:nvPr/>
        </p:nvPicPr>
        <p:blipFill>
          <a:blip r:embed="rId1"/>
          <a:stretch>
            <a:fillRect/>
          </a:stretch>
        </p:blipFill>
        <p:spPr>
          <a:xfrm>
            <a:off x="438912" y="347472"/>
            <a:ext cx="777240" cy="777240"/>
          </a:xfrm>
          <a:prstGeom prst="rect">
            <a:avLst/>
          </a:prstGeom>
        </p:spPr>
      </p:pic>
      <p:sp>
        <p:nvSpPr>
          <p:cNvPr id="5" name="Text 2"/>
          <p:cNvSpPr/>
          <p:nvPr/>
        </p:nvSpPr>
        <p:spPr>
          <a:xfrm>
            <a:off x="1371600" y="502920"/>
            <a:ext cx="7315200" cy="256032"/>
          </a:xfrm>
          <a:prstGeom prst="rect">
            <a:avLst/>
          </a:prstGeom>
          <a:noFill/>
          <a:ln/>
        </p:spPr>
        <p:txBody>
          <a:bodyPr wrap="square" lIns="0" tIns="0" rIns="0" bIns="0" rtlCol="0" anchor="ctr"/>
          <a:lstStyle/>
          <a:p>
            <a:pPr indent="0" marL="0">
              <a:buNone/>
            </a:pPr>
            <a:r>
              <a:rPr lang="en-US" sz="1300" b="1" spc="110" kern="0" dirty="0">
                <a:solidFill>
                  <a:srgbClr val="1B998B"/>
                </a:solidFill>
                <a:latin typeface="Arial" pitchFamily="34" charset="0"/>
                <a:ea typeface="Arial" pitchFamily="34" charset="-122"/>
                <a:cs typeface="Arial" pitchFamily="34" charset="-120"/>
              </a:rPr>
              <a:t>PARCEL COST OUTLOOK</a:t>
            </a:r>
            <a:endParaRPr lang="en-US" sz="1300" dirty="0"/>
          </a:p>
        </p:txBody>
      </p:sp>
      <p:sp>
        <p:nvSpPr>
          <p:cNvPr id="6" name="Text 3"/>
          <p:cNvSpPr/>
          <p:nvPr/>
        </p:nvSpPr>
        <p:spPr>
          <a:xfrm>
            <a:off x="438912" y="1554480"/>
            <a:ext cx="10972800" cy="15544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Peak Surcharges vs.</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HTL &amp; Efficient Logistics</a:t>
            </a:r>
            <a:endParaRPr lang="en-US" sz="4000" dirty="0"/>
          </a:p>
        </p:txBody>
      </p:sp>
      <p:sp>
        <p:nvSpPr>
          <p:cNvPr id="7" name="Text 4"/>
          <p:cNvSpPr/>
          <p:nvPr/>
        </p:nvSpPr>
        <p:spPr>
          <a:xfrm>
            <a:off x="438912" y="3383280"/>
            <a:ext cx="10972800" cy="329184"/>
          </a:xfrm>
          <a:prstGeom prst="rect">
            <a:avLst/>
          </a:prstGeom>
          <a:noFill/>
          <a:ln/>
        </p:spPr>
        <p:txBody>
          <a:bodyPr wrap="square" lIns="0" tIns="0" rIns="0" bIns="0" rtlCol="0" anchor="ctr"/>
          <a:lstStyle/>
          <a:p>
            <a:pPr indent="0" marL="0">
              <a:buNone/>
            </a:pPr>
            <a:r>
              <a:rPr lang="en-US" sz="1600" dirty="0">
                <a:solidFill>
                  <a:srgbClr val="D5DEE6"/>
                </a:solidFill>
                <a:latin typeface="Arial" pitchFamily="34" charset="0"/>
                <a:ea typeface="Arial" pitchFamily="34" charset="-122"/>
                <a:cs typeface="Arial" pitchFamily="34" charset="-120"/>
              </a:rPr>
              <a:t>Prepared for Girl Scouts of the USA   |   Digital Cookie direct-ship   |   October 2026</a:t>
            </a:r>
            <a:endParaRPr lang="en-US" sz="1600" dirty="0"/>
          </a:p>
        </p:txBody>
      </p:sp>
      <p:sp>
        <p:nvSpPr>
          <p:cNvPr id="8" name="Text 5"/>
          <p:cNvSpPr/>
          <p:nvPr/>
        </p:nvSpPr>
        <p:spPr>
          <a:xfrm>
            <a:off x="438912" y="3840480"/>
            <a:ext cx="10972800" cy="29260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Presented by Xander Hassan (HTL) and Kyle Dou (Efficient Logistics)</a:t>
            </a:r>
            <a:endParaRPr lang="en-US" sz="1500" dirty="0"/>
          </a:p>
        </p:txBody>
      </p:sp>
      <p:sp>
        <p:nvSpPr>
          <p:cNvPr id="9" name="Text 6"/>
          <p:cNvSpPr/>
          <p:nvPr/>
        </p:nvSpPr>
        <p:spPr>
          <a:xfrm>
            <a:off x="438912" y="6263640"/>
            <a:ext cx="10972800" cy="219456"/>
          </a:xfrm>
          <a:prstGeom prst="rect">
            <a:avLst/>
          </a:prstGeom>
          <a:noFill/>
          <a:ln/>
        </p:spPr>
        <p:txBody>
          <a:bodyPr wrap="square" lIns="0" tIns="0" rIns="0" bIns="0" rtlCol="0" anchor="ctr"/>
          <a:lstStyle/>
          <a:p>
            <a:pPr indent="0" marL="0">
              <a:buNone/>
            </a:pPr>
            <a:r>
              <a:rPr lang="en-US" sz="1200" dirty="0">
                <a:solidFill>
                  <a:srgbClr val="8FA0B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Rates are going up. The only question is whether GSUSA's cost does too.</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Shape 3"/>
          <p:cNvSpPr/>
          <p:nvPr/>
        </p:nvSpPr>
        <p:spPr>
          <a:xfrm>
            <a:off x="329184" y="1051560"/>
            <a:ext cx="1965960" cy="868680"/>
          </a:xfrm>
          <a:prstGeom prst="roundRect">
            <a:avLst>
              <a:gd name="adj" fmla="val 8421"/>
            </a:avLst>
          </a:prstGeom>
          <a:solidFill>
            <a:srgbClr val="14213D"/>
          </a:solidFill>
          <a:ln/>
        </p:spPr>
      </p:sp>
      <p:sp>
        <p:nvSpPr>
          <p:cNvPr id="6" name="Text 4"/>
          <p:cNvSpPr/>
          <p:nvPr/>
        </p:nvSpPr>
        <p:spPr>
          <a:xfrm>
            <a:off x="420624" y="1307592"/>
            <a:ext cx="17830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Oct 25, 2026</a:t>
            </a:r>
            <a:endParaRPr lang="en-US" sz="1300" dirty="0"/>
          </a:p>
        </p:txBody>
      </p:sp>
      <p:sp>
        <p:nvSpPr>
          <p:cNvPr id="7" name="Shape 5"/>
          <p:cNvSpPr/>
          <p:nvPr/>
        </p:nvSpPr>
        <p:spPr>
          <a:xfrm>
            <a:off x="2468880" y="1051560"/>
            <a:ext cx="9326880" cy="868680"/>
          </a:xfrm>
          <a:prstGeom prst="rect">
            <a:avLst/>
          </a:prstGeom>
          <a:solidFill>
            <a:srgbClr val="F4F6F8"/>
          </a:solidFill>
          <a:ln/>
        </p:spPr>
      </p:sp>
      <p:sp>
        <p:nvSpPr>
          <p:cNvPr id="8" name="Text 6"/>
          <p:cNvSpPr/>
          <p:nvPr/>
        </p:nvSpPr>
        <p:spPr>
          <a:xfrm>
            <a:off x="2651760" y="1179576"/>
            <a:ext cx="8961120" cy="640080"/>
          </a:xfrm>
          <a:prstGeom prst="rect">
            <a:avLst/>
          </a:prstGeom>
          <a:noFill/>
          <a:ln/>
        </p:spPr>
        <p:txBody>
          <a:bodyPr wrap="square" lIns="0" tIns="0" rIns="0" bIns="0" rtlCol="0" anchor="ctr"/>
          <a:lstStyle/>
          <a:p>
            <a:pPr indent="0" marL="0">
              <a:buNone/>
            </a:pPr>
            <a:r>
              <a:rPr lang="en-US" sz="1500" dirty="0">
                <a:solidFill>
                  <a:srgbClr val="1F2A37"/>
                </a:solidFill>
                <a:latin typeface="Arial" pitchFamily="34" charset="0"/>
                <a:ea typeface="Arial" pitchFamily="34" charset="-122"/>
                <a:cs typeface="Arial" pitchFamily="34" charset="-120"/>
              </a:rPr>
              <a:t>UPS residential demand surcharge begins. $0.50 shoulder, $0.75 at peak (Nov 22 to Dec 26). Up 25% from last season.</a:t>
            </a:r>
            <a:endParaRPr lang="en-US" sz="1500" dirty="0"/>
          </a:p>
        </p:txBody>
      </p:sp>
      <p:sp>
        <p:nvSpPr>
          <p:cNvPr id="9" name="Shape 7"/>
          <p:cNvSpPr/>
          <p:nvPr/>
        </p:nvSpPr>
        <p:spPr>
          <a:xfrm>
            <a:off x="329184" y="2194560"/>
            <a:ext cx="1965960" cy="868680"/>
          </a:xfrm>
          <a:prstGeom prst="roundRect">
            <a:avLst>
              <a:gd name="adj" fmla="val 8421"/>
            </a:avLst>
          </a:prstGeom>
          <a:solidFill>
            <a:srgbClr val="14213D"/>
          </a:solidFill>
          <a:ln/>
        </p:spPr>
      </p:sp>
      <p:sp>
        <p:nvSpPr>
          <p:cNvPr id="10" name="Text 8"/>
          <p:cNvSpPr/>
          <p:nvPr/>
        </p:nvSpPr>
        <p:spPr>
          <a:xfrm>
            <a:off x="420624" y="2450592"/>
            <a:ext cx="17830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Oct 26, 2026</a:t>
            </a:r>
            <a:endParaRPr lang="en-US" sz="1300" dirty="0"/>
          </a:p>
        </p:txBody>
      </p:sp>
      <p:sp>
        <p:nvSpPr>
          <p:cNvPr id="11" name="Shape 9"/>
          <p:cNvSpPr/>
          <p:nvPr/>
        </p:nvSpPr>
        <p:spPr>
          <a:xfrm>
            <a:off x="2468880" y="2194560"/>
            <a:ext cx="9326880" cy="868680"/>
          </a:xfrm>
          <a:prstGeom prst="rect">
            <a:avLst/>
          </a:prstGeom>
          <a:solidFill>
            <a:srgbClr val="F4F6F8"/>
          </a:solidFill>
          <a:ln/>
        </p:spPr>
      </p:sp>
      <p:sp>
        <p:nvSpPr>
          <p:cNvPr id="12" name="Text 10"/>
          <p:cNvSpPr/>
          <p:nvPr/>
        </p:nvSpPr>
        <p:spPr>
          <a:xfrm>
            <a:off x="2651760" y="2322576"/>
            <a:ext cx="8961120" cy="640080"/>
          </a:xfrm>
          <a:prstGeom prst="rect">
            <a:avLst/>
          </a:prstGeom>
          <a:noFill/>
          <a:ln/>
        </p:spPr>
        <p:txBody>
          <a:bodyPr wrap="square" lIns="0" tIns="0" rIns="0" bIns="0" rtlCol="0" anchor="ctr"/>
          <a:lstStyle/>
          <a:p>
            <a:pPr indent="0" marL="0">
              <a:buNone/>
            </a:pPr>
            <a:r>
              <a:rPr lang="en-US" sz="1500" dirty="0">
                <a:solidFill>
                  <a:srgbClr val="1F2A37"/>
                </a:solidFill>
                <a:latin typeface="Arial" pitchFamily="34" charset="0"/>
                <a:ea typeface="Arial" pitchFamily="34" charset="-122"/>
                <a:cs typeface="Arial" pitchFamily="34" charset="-120"/>
              </a:rPr>
              <a:t>FedEx residential demand surcharge begins. $0.50 shoulder, $0.80 at peak (Nov 23 to Dec 27). Up from $0.65 last year.</a:t>
            </a:r>
            <a:endParaRPr lang="en-US" sz="1500" dirty="0"/>
          </a:p>
        </p:txBody>
      </p:sp>
      <p:sp>
        <p:nvSpPr>
          <p:cNvPr id="13" name="Shape 11"/>
          <p:cNvSpPr/>
          <p:nvPr/>
        </p:nvSpPr>
        <p:spPr>
          <a:xfrm>
            <a:off x="329184" y="3337560"/>
            <a:ext cx="1965960" cy="868680"/>
          </a:xfrm>
          <a:prstGeom prst="roundRect">
            <a:avLst>
              <a:gd name="adj" fmla="val 8421"/>
            </a:avLst>
          </a:prstGeom>
          <a:solidFill>
            <a:srgbClr val="14213D"/>
          </a:solidFill>
          <a:ln/>
        </p:spPr>
      </p:sp>
      <p:sp>
        <p:nvSpPr>
          <p:cNvPr id="14" name="Text 12"/>
          <p:cNvSpPr/>
          <p:nvPr/>
        </p:nvSpPr>
        <p:spPr>
          <a:xfrm>
            <a:off x="420624" y="3593592"/>
            <a:ext cx="17830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Jan 4, 2027</a:t>
            </a:r>
            <a:endParaRPr lang="en-US" sz="1300" dirty="0"/>
          </a:p>
        </p:txBody>
      </p:sp>
      <p:sp>
        <p:nvSpPr>
          <p:cNvPr id="15" name="Shape 13"/>
          <p:cNvSpPr/>
          <p:nvPr/>
        </p:nvSpPr>
        <p:spPr>
          <a:xfrm>
            <a:off x="2468880" y="3337560"/>
            <a:ext cx="9326880" cy="868680"/>
          </a:xfrm>
          <a:prstGeom prst="rect">
            <a:avLst/>
          </a:prstGeom>
          <a:solidFill>
            <a:srgbClr val="F4F6F8"/>
          </a:solidFill>
          <a:ln/>
        </p:spPr>
      </p:sp>
      <p:sp>
        <p:nvSpPr>
          <p:cNvPr id="16" name="Text 14"/>
          <p:cNvSpPr/>
          <p:nvPr/>
        </p:nvSpPr>
        <p:spPr>
          <a:xfrm>
            <a:off x="2651760" y="3465576"/>
            <a:ext cx="8961120" cy="640080"/>
          </a:xfrm>
          <a:prstGeom prst="rect">
            <a:avLst/>
          </a:prstGeom>
          <a:noFill/>
          <a:ln/>
        </p:spPr>
        <p:txBody>
          <a:bodyPr wrap="square" lIns="0" tIns="0" rIns="0" bIns="0" rtlCol="0" anchor="ctr"/>
          <a:lstStyle/>
          <a:p>
            <a:pPr indent="0" marL="0">
              <a:buNone/>
            </a:pPr>
            <a:r>
              <a:rPr lang="en-US" sz="1500" dirty="0">
                <a:solidFill>
                  <a:srgbClr val="1F2A37"/>
                </a:solidFill>
                <a:latin typeface="Arial" pitchFamily="34" charset="0"/>
                <a:ea typeface="Arial" pitchFamily="34" charset="-122"/>
                <a:cs typeface="Arial" pitchFamily="34" charset="-120"/>
              </a:rPr>
              <a:t>FedEx general rate increase, 5.9% average; 6.49% on 1-5 lb Ground. UPS has matched FedEx every year; its 2027 number was not yet published as of Sept 21.</a:t>
            </a:r>
            <a:endParaRPr lang="en-US" sz="1500" dirty="0"/>
          </a:p>
        </p:txBody>
      </p:sp>
      <p:sp>
        <p:nvSpPr>
          <p:cNvPr id="17" name="Shape 15"/>
          <p:cNvSpPr/>
          <p:nvPr/>
        </p:nvSpPr>
        <p:spPr>
          <a:xfrm>
            <a:off x="329184" y="4480560"/>
            <a:ext cx="1965960" cy="868680"/>
          </a:xfrm>
          <a:prstGeom prst="roundRect">
            <a:avLst>
              <a:gd name="adj" fmla="val 8421"/>
            </a:avLst>
          </a:prstGeom>
          <a:solidFill>
            <a:srgbClr val="1B998B"/>
          </a:solidFill>
          <a:ln/>
        </p:spPr>
      </p:sp>
      <p:sp>
        <p:nvSpPr>
          <p:cNvPr id="18" name="Text 16"/>
          <p:cNvSpPr/>
          <p:nvPr/>
        </p:nvSpPr>
        <p:spPr>
          <a:xfrm>
            <a:off x="420624" y="4736592"/>
            <a:ext cx="17830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Jan 12, 2027</a:t>
            </a:r>
            <a:endParaRPr lang="en-US" sz="1300" dirty="0"/>
          </a:p>
        </p:txBody>
      </p:sp>
      <p:sp>
        <p:nvSpPr>
          <p:cNvPr id="19" name="Shape 17"/>
          <p:cNvSpPr/>
          <p:nvPr/>
        </p:nvSpPr>
        <p:spPr>
          <a:xfrm>
            <a:off x="2468880" y="4480560"/>
            <a:ext cx="9326880" cy="868680"/>
          </a:xfrm>
          <a:prstGeom prst="rect">
            <a:avLst/>
          </a:prstGeom>
          <a:solidFill>
            <a:srgbClr val="F4F6F8"/>
          </a:solidFill>
          <a:ln/>
        </p:spPr>
      </p:sp>
      <p:sp>
        <p:nvSpPr>
          <p:cNvPr id="20" name="Text 18"/>
          <p:cNvSpPr/>
          <p:nvPr/>
        </p:nvSpPr>
        <p:spPr>
          <a:xfrm>
            <a:off x="2651760" y="4608576"/>
            <a:ext cx="8961120" cy="640080"/>
          </a:xfrm>
          <a:prstGeom prst="rect">
            <a:avLst/>
          </a:prstGeom>
          <a:noFill/>
          <a:ln/>
        </p:spPr>
        <p:txBody>
          <a:bodyPr wrap="square" lIns="0" tIns="0" rIns="0" bIns="0" rtlCol="0" anchor="ctr"/>
          <a:lstStyle/>
          <a:p>
            <a:pPr indent="0" marL="0">
              <a:buNone/>
            </a:pPr>
            <a:r>
              <a:rPr lang="en-US" sz="1500" dirty="0">
                <a:solidFill>
                  <a:srgbClr val="1F2A37"/>
                </a:solidFill>
                <a:latin typeface="Arial" pitchFamily="34" charset="0"/>
                <a:ea typeface="Arial" pitchFamily="34" charset="-122"/>
                <a:cs typeface="Arial" pitchFamily="34" charset="-120"/>
              </a:rPr>
              <a:t>Digital Cookie 2027 season opens. Patch Pals and Sparkables launch online-only.</a:t>
            </a:r>
            <a:endParaRPr lang="en-US" sz="1500" dirty="0"/>
          </a:p>
        </p:txBody>
      </p:sp>
      <p:sp>
        <p:nvSpPr>
          <p:cNvPr id="21" name="Text 19"/>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Sources: Supply Chain Dive (UPS Aug 26, 2026; FedEx Sept 2026), EasyPost Peak Season Surcharges 2026.</a:t>
            </a:r>
            <a:endParaRPr lang="en-US" sz="1000" dirty="0"/>
          </a:p>
        </p:txBody>
      </p:sp>
      <p:sp>
        <p:nvSpPr>
          <p:cNvPr id="22" name="Text 20"/>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What one cookie parcel costs: today, in peak season, and through HTL</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Baseline is GSUSA's own published Digital Cookie shipping fee for a 4-8 package order, passed through to the carrier at cost.</a:t>
            </a:r>
            <a:endParaRPr lang="en-US" sz="1200" dirty="0"/>
          </a:p>
        </p:txBody>
      </p:sp>
      <p:graphicFrame>
        <p:nvGraphicFramePr>
          <p:cNvPr id="6" name="Chart 0" descr=""/>
          <p:cNvGraphicFramePr/>
          <p:nvPr/>
        </p:nvGraphicFramePr>
        <p:xfrm>
          <a:off x="274320" y="1051560"/>
          <a:ext cx="7863840" cy="47548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321040" y="1371600"/>
            <a:ext cx="3474720" cy="1234440"/>
          </a:xfrm>
          <a:prstGeom prst="rect">
            <a:avLst/>
          </a:prstGeom>
          <a:solidFill>
            <a:srgbClr val="E7F6F3"/>
          </a:solidFill>
          <a:ln/>
        </p:spPr>
      </p:sp>
      <p:sp>
        <p:nvSpPr>
          <p:cNvPr id="8" name="Text 5"/>
          <p:cNvSpPr/>
          <p:nvPr/>
        </p:nvSpPr>
        <p:spPr>
          <a:xfrm>
            <a:off x="8458200" y="1481328"/>
            <a:ext cx="3200400" cy="411480"/>
          </a:xfrm>
          <a:prstGeom prst="rect">
            <a:avLst/>
          </a:prstGeom>
          <a:noFill/>
          <a:ln/>
        </p:spPr>
        <p:txBody>
          <a:bodyPr wrap="square" lIns="0" tIns="0" rIns="0" bIns="0" rtlCol="0" anchor="ctr"/>
          <a:lstStyle/>
          <a:p>
            <a:pPr indent="0" marL="0">
              <a:buNone/>
            </a:pPr>
            <a:r>
              <a:rPr lang="en-US" sz="2800" b="1" dirty="0">
                <a:solidFill>
                  <a:srgbClr val="1B998B"/>
                </a:solidFill>
                <a:latin typeface="Arial" pitchFamily="34" charset="0"/>
                <a:ea typeface="Arial" pitchFamily="34" charset="-122"/>
                <a:cs typeface="Arial" pitchFamily="34" charset="-120"/>
              </a:rPr>
              <a:t>-$1.97</a:t>
            </a:r>
            <a:endParaRPr lang="en-US" sz="2800" dirty="0"/>
          </a:p>
        </p:txBody>
      </p:sp>
      <p:sp>
        <p:nvSpPr>
          <p:cNvPr id="9" name="Text 6"/>
          <p:cNvSpPr/>
          <p:nvPr/>
        </p:nvSpPr>
        <p:spPr>
          <a:xfrm>
            <a:off x="8458200" y="1938528"/>
            <a:ext cx="3200400" cy="50292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vs. the $11.99 fee, at the 16.4% matched sample.</a:t>
            </a:r>
            <a:endParaRPr lang="en-US" sz="1300" dirty="0"/>
          </a:p>
        </p:txBody>
      </p:sp>
      <p:sp>
        <p:nvSpPr>
          <p:cNvPr id="10" name="Shape 7"/>
          <p:cNvSpPr/>
          <p:nvPr/>
        </p:nvSpPr>
        <p:spPr>
          <a:xfrm>
            <a:off x="8321040" y="2788920"/>
            <a:ext cx="3474720" cy="1234440"/>
          </a:xfrm>
          <a:prstGeom prst="rect">
            <a:avLst/>
          </a:prstGeom>
          <a:solidFill>
            <a:srgbClr val="1B998B"/>
          </a:solidFill>
          <a:ln/>
        </p:spPr>
      </p:sp>
      <p:sp>
        <p:nvSpPr>
          <p:cNvPr id="11" name="Text 8"/>
          <p:cNvSpPr/>
          <p:nvPr/>
        </p:nvSpPr>
        <p:spPr>
          <a:xfrm>
            <a:off x="8458200" y="2898648"/>
            <a:ext cx="3200400" cy="4114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-$3.24</a:t>
            </a:r>
            <a:endParaRPr lang="en-US" sz="2800" dirty="0"/>
          </a:p>
        </p:txBody>
      </p:sp>
      <p:sp>
        <p:nvSpPr>
          <p:cNvPr id="12" name="Text 9"/>
          <p:cNvSpPr/>
          <p:nvPr/>
        </p:nvSpPr>
        <p:spPr>
          <a:xfrm>
            <a:off x="8458200" y="3355848"/>
            <a:ext cx="3200400" cy="5029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vs. the $11.99 fee, at the 27% full-invoice re-rate.</a:t>
            </a:r>
            <a:endParaRPr lang="en-US" sz="1300" dirty="0"/>
          </a:p>
        </p:txBody>
      </p:sp>
      <p:sp>
        <p:nvSpPr>
          <p:cNvPr id="13" name="Text 10"/>
          <p:cNvSpPr/>
          <p:nvPr/>
        </p:nvSpPr>
        <p:spPr>
          <a:xfrm>
            <a:off x="329184" y="5897880"/>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The $11.99 baseline is GSUSA's published shipping fee for 4-8 packages; GSUSA states shipping fees go to the vendor with no margin retained. Savings rates are measured on a live HTL customer. Surcharge bar adds UPS's published $0.75 peak residential demand surcharge. Illustrative until GSUSA's shipment data is in hand; not a quote.</a:t>
            </a:r>
            <a:endParaRPr lang="en-US" sz="1000" dirty="0"/>
          </a:p>
        </p:txBody>
      </p:sp>
      <p:sp>
        <p:nvSpPr>
          <p:cNvPr id="14" name="Text 11"/>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Six-month cookie season: what the rate gap adds up to</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2.0M parcels/season (measured). GSUSA's published $11.99 fee. Cato's measured 16.4% and 27% savings. UPS 2026 peak surcharge Nov-Jan.</a:t>
            </a:r>
            <a:endParaRPr lang="en-US" sz="1200" dirty="0"/>
          </a:p>
        </p:txBody>
      </p:sp>
      <p:graphicFrame>
        <p:nvGraphicFramePr>
          <p:cNvPr id="6" name="Chart 0" descr=""/>
          <p:cNvGraphicFramePr/>
          <p:nvPr/>
        </p:nvGraphicFramePr>
        <p:xfrm>
          <a:off x="137160" y="1051560"/>
          <a:ext cx="8503920" cy="42976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686800" y="1280160"/>
            <a:ext cx="3154680" cy="2103120"/>
          </a:xfrm>
          <a:prstGeom prst="rect">
            <a:avLst/>
          </a:prstGeom>
          <a:solidFill>
            <a:srgbClr val="1B998B"/>
          </a:solidFill>
          <a:ln/>
        </p:spPr>
      </p:sp>
      <p:sp>
        <p:nvSpPr>
          <p:cNvPr id="8" name="Text 5"/>
          <p:cNvSpPr/>
          <p:nvPr/>
        </p:nvSpPr>
        <p:spPr>
          <a:xfrm>
            <a:off x="8823960" y="1417320"/>
            <a:ext cx="2880360" cy="6400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$4.2M to $6.7M</a:t>
            </a:r>
            <a:endParaRPr lang="en-US" sz="2200" dirty="0"/>
          </a:p>
        </p:txBody>
      </p:sp>
      <p:sp>
        <p:nvSpPr>
          <p:cNvPr id="9" name="Text 6"/>
          <p:cNvSpPr/>
          <p:nvPr/>
        </p:nvSpPr>
        <p:spPr>
          <a:xfrm>
            <a:off x="8823960" y="2103120"/>
            <a:ext cx="2880360" cy="100584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over the season that could go back to the mission</a:t>
            </a:r>
            <a:endParaRPr lang="en-US" sz="1400" dirty="0"/>
          </a:p>
        </p:txBody>
      </p:sp>
      <p:sp>
        <p:nvSpPr>
          <p:cNvPr id="10" name="Text 7"/>
          <p:cNvSpPr/>
          <p:nvPr/>
        </p:nvSpPr>
        <p:spPr>
          <a:xfrm>
            <a:off x="8823960" y="3657600"/>
            <a:ext cx="2880360" cy="365760"/>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Line ends: $4.2M and $6.7M</a:t>
            </a:r>
            <a:endParaRPr lang="en-US" sz="1300" dirty="0"/>
          </a:p>
        </p:txBody>
      </p:sp>
      <p:sp>
        <p:nvSpPr>
          <p:cNvPr id="11" name="Text 8"/>
          <p:cNvSpPr/>
          <p:nvPr/>
        </p:nvSpPr>
        <p:spPr>
          <a:xfrm>
            <a:off x="329184" y="5806440"/>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Illustrative. One baker network only; national direct-ship is likely 3-4M parcels. Actual results depend on the PLD. Monthly gaps: Nov $0.10M/$0.15M, Dec $0.43M/$0.64M, Jan $0.80M/$1.26M, Feb $1.26M/$2.07M, Mar $1.10M/$1.81M, Apr $0.47M/$0.78M. Cumulative ends $4.17M and $6.71M.</a:t>
            </a:r>
            <a:endParaRPr lang="en-US" sz="1000" dirty="0"/>
          </a:p>
        </p:txBody>
      </p:sp>
      <p:sp>
        <p:nvSpPr>
          <p:cNvPr id="12" name="Text 9"/>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How this works at your scale</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Your carriers stay. We work on what's behind them. The more volume, the deeper it goes.</a:t>
            </a:r>
            <a:endParaRPr lang="en-US" sz="1200" dirty="0"/>
          </a:p>
        </p:txBody>
      </p:sp>
      <p:sp>
        <p:nvSpPr>
          <p:cNvPr id="6" name="Shape 4"/>
          <p:cNvSpPr/>
          <p:nvPr/>
        </p:nvSpPr>
        <p:spPr>
          <a:xfrm>
            <a:off x="347472" y="1106424"/>
            <a:ext cx="164592" cy="164592"/>
          </a:xfrm>
          <a:prstGeom prst="ellipse">
            <a:avLst/>
          </a:prstGeom>
          <a:solidFill>
            <a:srgbClr val="1B998B"/>
          </a:solidFill>
          <a:ln/>
        </p:spPr>
      </p:sp>
      <p:sp>
        <p:nvSpPr>
          <p:cNvPr id="7" name="Text 5"/>
          <p:cNvSpPr/>
          <p:nvPr/>
        </p:nvSpPr>
        <p:spPr>
          <a:xfrm>
            <a:off x="621792" y="1051560"/>
            <a:ext cx="5623560" cy="82296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Your carriers stay. UPS, FedEx, USPS: same accounts, same tracking, same customer experience. Nothing changes for your team or your customers.</a:t>
            </a:r>
            <a:endParaRPr lang="en-US" sz="1200" dirty="0"/>
          </a:p>
        </p:txBody>
      </p:sp>
      <p:sp>
        <p:nvSpPr>
          <p:cNvPr id="8" name="Shape 6"/>
          <p:cNvSpPr/>
          <p:nvPr/>
        </p:nvSpPr>
        <p:spPr>
          <a:xfrm>
            <a:off x="347472" y="1975104"/>
            <a:ext cx="164592" cy="164592"/>
          </a:xfrm>
          <a:prstGeom prst="ellipse">
            <a:avLst/>
          </a:prstGeom>
          <a:solidFill>
            <a:srgbClr val="1B998B"/>
          </a:solidFill>
          <a:ln/>
        </p:spPr>
      </p:sp>
      <p:sp>
        <p:nvSpPr>
          <p:cNvPr id="9" name="Text 7"/>
          <p:cNvSpPr/>
          <p:nvPr/>
        </p:nvSpPr>
        <p:spPr>
          <a:xfrm>
            <a:off x="621792" y="1920240"/>
            <a:ext cx="5623560" cy="82296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We renegotiate what's behind them. HTL and Efficient work the rates behind your existing relationships, and route to our carrier mix only where it is better for that specific parcel.</a:t>
            </a:r>
            <a:endParaRPr lang="en-US" sz="1200" dirty="0"/>
          </a:p>
        </p:txBody>
      </p:sp>
      <p:sp>
        <p:nvSpPr>
          <p:cNvPr id="10" name="Shape 8"/>
          <p:cNvSpPr/>
          <p:nvPr/>
        </p:nvSpPr>
        <p:spPr>
          <a:xfrm>
            <a:off x="347472" y="2843784"/>
            <a:ext cx="164592" cy="164592"/>
          </a:xfrm>
          <a:prstGeom prst="ellipse">
            <a:avLst/>
          </a:prstGeom>
          <a:solidFill>
            <a:srgbClr val="1B998B"/>
          </a:solidFill>
          <a:ln/>
        </p:spPr>
      </p:sp>
      <p:sp>
        <p:nvSpPr>
          <p:cNvPr id="11" name="Text 9"/>
          <p:cNvSpPr/>
          <p:nvPr/>
        </p:nvSpPr>
        <p:spPr>
          <a:xfrm>
            <a:off x="621792" y="2788920"/>
            <a:ext cx="5623560" cy="82296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The residential fee is the lever. On an all-residential program it is the largest line after the base rate ($6.95 UPS / $6.60 FedEx per package, 2026). Depending on volume, it comes down or comes off.</a:t>
            </a:r>
            <a:endParaRPr lang="en-US" sz="1200" dirty="0"/>
          </a:p>
        </p:txBody>
      </p:sp>
      <p:sp>
        <p:nvSpPr>
          <p:cNvPr id="12" name="Shape 10"/>
          <p:cNvSpPr/>
          <p:nvPr/>
        </p:nvSpPr>
        <p:spPr>
          <a:xfrm>
            <a:off x="6537960" y="2624328"/>
            <a:ext cx="1051560" cy="256032"/>
          </a:xfrm>
          <a:prstGeom prst="rect">
            <a:avLst/>
          </a:prstGeom>
          <a:solidFill>
            <a:srgbClr val="B7E4DC"/>
          </a:solidFill>
          <a:ln/>
        </p:spPr>
      </p:sp>
      <p:sp>
        <p:nvSpPr>
          <p:cNvPr id="13" name="Shape 11"/>
          <p:cNvSpPr/>
          <p:nvPr/>
        </p:nvSpPr>
        <p:spPr>
          <a:xfrm>
            <a:off x="6537960" y="2880360"/>
            <a:ext cx="1051560" cy="1051560"/>
          </a:xfrm>
          <a:prstGeom prst="rect">
            <a:avLst/>
          </a:prstGeom>
          <a:solidFill>
            <a:srgbClr val="1B998B"/>
          </a:solidFill>
          <a:ln/>
        </p:spPr>
      </p:sp>
      <p:sp>
        <p:nvSpPr>
          <p:cNvPr id="14" name="Text 12"/>
          <p:cNvSpPr/>
          <p:nvPr/>
        </p:nvSpPr>
        <p:spPr>
          <a:xfrm>
            <a:off x="6537960" y="4005072"/>
            <a:ext cx="1051560" cy="219456"/>
          </a:xfrm>
          <a:prstGeom prst="rect">
            <a:avLst/>
          </a:prstGeom>
          <a:noFill/>
          <a:ln/>
        </p:spPr>
        <p:txBody>
          <a:bodyPr wrap="square" lIns="0" tIns="0" rIns="0" bIns="0" rtlCol="0" anchor="ctr"/>
          <a:lstStyle/>
          <a:p>
            <a:pPr algn="ctr" indent="0" marL="0">
              <a:buNone/>
            </a:pPr>
            <a:r>
              <a:rPr lang="en-US" sz="1200" b="1" dirty="0">
                <a:solidFill>
                  <a:srgbClr val="14213D"/>
                </a:solidFill>
                <a:latin typeface="Arial" pitchFamily="34" charset="0"/>
                <a:ea typeface="Arial" pitchFamily="34" charset="-122"/>
                <a:cs typeface="Arial" pitchFamily="34" charset="-120"/>
              </a:rPr>
              <a:t>25%</a:t>
            </a:r>
            <a:endParaRPr lang="en-US" sz="1200" dirty="0"/>
          </a:p>
        </p:txBody>
      </p:sp>
      <p:sp>
        <p:nvSpPr>
          <p:cNvPr id="15" name="Shape 13"/>
          <p:cNvSpPr/>
          <p:nvPr/>
        </p:nvSpPr>
        <p:spPr>
          <a:xfrm>
            <a:off x="7863840" y="2377440"/>
            <a:ext cx="1051560" cy="502920"/>
          </a:xfrm>
          <a:prstGeom prst="rect">
            <a:avLst/>
          </a:prstGeom>
          <a:solidFill>
            <a:srgbClr val="B7E4DC"/>
          </a:solidFill>
          <a:ln/>
        </p:spPr>
      </p:sp>
      <p:sp>
        <p:nvSpPr>
          <p:cNvPr id="16" name="Shape 14"/>
          <p:cNvSpPr/>
          <p:nvPr/>
        </p:nvSpPr>
        <p:spPr>
          <a:xfrm>
            <a:off x="7863840" y="2880360"/>
            <a:ext cx="1051560" cy="1051560"/>
          </a:xfrm>
          <a:prstGeom prst="rect">
            <a:avLst/>
          </a:prstGeom>
          <a:solidFill>
            <a:srgbClr val="1B998B"/>
          </a:solidFill>
          <a:ln/>
        </p:spPr>
      </p:sp>
      <p:sp>
        <p:nvSpPr>
          <p:cNvPr id="17" name="Text 15"/>
          <p:cNvSpPr/>
          <p:nvPr/>
        </p:nvSpPr>
        <p:spPr>
          <a:xfrm>
            <a:off x="7863840" y="4005072"/>
            <a:ext cx="1051560" cy="219456"/>
          </a:xfrm>
          <a:prstGeom prst="rect">
            <a:avLst/>
          </a:prstGeom>
          <a:noFill/>
          <a:ln/>
        </p:spPr>
        <p:txBody>
          <a:bodyPr wrap="square" lIns="0" tIns="0" rIns="0" bIns="0" rtlCol="0" anchor="ctr"/>
          <a:lstStyle/>
          <a:p>
            <a:pPr algn="ctr" indent="0" marL="0">
              <a:buNone/>
            </a:pPr>
            <a:r>
              <a:rPr lang="en-US" sz="1200" b="1" dirty="0">
                <a:solidFill>
                  <a:srgbClr val="14213D"/>
                </a:solidFill>
                <a:latin typeface="Arial" pitchFamily="34" charset="0"/>
                <a:ea typeface="Arial" pitchFamily="34" charset="-122"/>
                <a:cs typeface="Arial" pitchFamily="34" charset="-120"/>
              </a:rPr>
              <a:t>50%</a:t>
            </a:r>
            <a:endParaRPr lang="en-US" sz="1200" dirty="0"/>
          </a:p>
        </p:txBody>
      </p:sp>
      <p:sp>
        <p:nvSpPr>
          <p:cNvPr id="18" name="Shape 16"/>
          <p:cNvSpPr/>
          <p:nvPr/>
        </p:nvSpPr>
        <p:spPr>
          <a:xfrm>
            <a:off x="9189720" y="2103120"/>
            <a:ext cx="1051560" cy="777240"/>
          </a:xfrm>
          <a:prstGeom prst="rect">
            <a:avLst/>
          </a:prstGeom>
          <a:solidFill>
            <a:srgbClr val="B7E4DC"/>
          </a:solidFill>
          <a:ln/>
        </p:spPr>
      </p:sp>
      <p:sp>
        <p:nvSpPr>
          <p:cNvPr id="19" name="Shape 17"/>
          <p:cNvSpPr/>
          <p:nvPr/>
        </p:nvSpPr>
        <p:spPr>
          <a:xfrm>
            <a:off x="9189720" y="2880360"/>
            <a:ext cx="1051560" cy="1051560"/>
          </a:xfrm>
          <a:prstGeom prst="rect">
            <a:avLst/>
          </a:prstGeom>
          <a:solidFill>
            <a:srgbClr val="1B998B"/>
          </a:solidFill>
          <a:ln/>
        </p:spPr>
      </p:sp>
      <p:sp>
        <p:nvSpPr>
          <p:cNvPr id="20" name="Text 18"/>
          <p:cNvSpPr/>
          <p:nvPr/>
        </p:nvSpPr>
        <p:spPr>
          <a:xfrm>
            <a:off x="9189720" y="4005072"/>
            <a:ext cx="1051560" cy="219456"/>
          </a:xfrm>
          <a:prstGeom prst="rect">
            <a:avLst/>
          </a:prstGeom>
          <a:noFill/>
          <a:ln/>
        </p:spPr>
        <p:txBody>
          <a:bodyPr wrap="square" lIns="0" tIns="0" rIns="0" bIns="0" rtlCol="0" anchor="ctr"/>
          <a:lstStyle/>
          <a:p>
            <a:pPr algn="ctr" indent="0" marL="0">
              <a:buNone/>
            </a:pPr>
            <a:r>
              <a:rPr lang="en-US" sz="1200" b="1" dirty="0">
                <a:solidFill>
                  <a:srgbClr val="14213D"/>
                </a:solidFill>
                <a:latin typeface="Arial" pitchFamily="34" charset="0"/>
                <a:ea typeface="Arial" pitchFamily="34" charset="-122"/>
                <a:cs typeface="Arial" pitchFamily="34" charset="-120"/>
              </a:rPr>
              <a:t>75%</a:t>
            </a:r>
            <a:endParaRPr lang="en-US" sz="1200" dirty="0"/>
          </a:p>
        </p:txBody>
      </p:sp>
      <p:sp>
        <p:nvSpPr>
          <p:cNvPr id="21" name="Shape 19"/>
          <p:cNvSpPr/>
          <p:nvPr/>
        </p:nvSpPr>
        <p:spPr>
          <a:xfrm>
            <a:off x="10515600" y="1828800"/>
            <a:ext cx="1051560" cy="1051560"/>
          </a:xfrm>
          <a:prstGeom prst="rect">
            <a:avLst/>
          </a:prstGeom>
          <a:solidFill>
            <a:srgbClr val="B7E4DC"/>
          </a:solidFill>
          <a:ln/>
        </p:spPr>
      </p:sp>
      <p:sp>
        <p:nvSpPr>
          <p:cNvPr id="22" name="Shape 20"/>
          <p:cNvSpPr/>
          <p:nvPr/>
        </p:nvSpPr>
        <p:spPr>
          <a:xfrm>
            <a:off x="10515600" y="2880360"/>
            <a:ext cx="1051560" cy="1051560"/>
          </a:xfrm>
          <a:prstGeom prst="rect">
            <a:avLst/>
          </a:prstGeom>
          <a:solidFill>
            <a:srgbClr val="1B998B"/>
          </a:solidFill>
          <a:ln/>
        </p:spPr>
      </p:sp>
      <p:sp>
        <p:nvSpPr>
          <p:cNvPr id="23" name="Text 21"/>
          <p:cNvSpPr/>
          <p:nvPr/>
        </p:nvSpPr>
        <p:spPr>
          <a:xfrm>
            <a:off x="10515600" y="4005072"/>
            <a:ext cx="1051560" cy="219456"/>
          </a:xfrm>
          <a:prstGeom prst="rect">
            <a:avLst/>
          </a:prstGeom>
          <a:noFill/>
          <a:ln/>
        </p:spPr>
        <p:txBody>
          <a:bodyPr wrap="square" lIns="0" tIns="0" rIns="0" bIns="0" rtlCol="0" anchor="ctr"/>
          <a:lstStyle/>
          <a:p>
            <a:pPr algn="ctr" indent="0" marL="0">
              <a:buNone/>
            </a:pPr>
            <a:r>
              <a:rPr lang="en-US" sz="1200" b="1" dirty="0">
                <a:solidFill>
                  <a:srgbClr val="14213D"/>
                </a:solidFill>
                <a:latin typeface="Arial" pitchFamily="34" charset="0"/>
                <a:ea typeface="Arial" pitchFamily="34" charset="-122"/>
                <a:cs typeface="Arial" pitchFamily="34" charset="-120"/>
              </a:rPr>
              <a:t>100%</a:t>
            </a:r>
            <a:endParaRPr lang="en-US" sz="1200" dirty="0"/>
          </a:p>
        </p:txBody>
      </p:sp>
      <p:sp>
        <p:nvSpPr>
          <p:cNvPr id="24" name="Text 22"/>
          <p:cNvSpPr/>
          <p:nvPr/>
        </p:nvSpPr>
        <p:spPr>
          <a:xfrm>
            <a:off x="6537960" y="1051560"/>
            <a:ext cx="5120640" cy="201168"/>
          </a:xfrm>
          <a:prstGeom prst="rect">
            <a:avLst/>
          </a:prstGeom>
          <a:noFill/>
          <a:ln/>
        </p:spPr>
        <p:txBody>
          <a:bodyPr wrap="square" lIns="0" tIns="0" rIns="0" bIns="0" rtlCol="0" anchor="ctr"/>
          <a:lstStyle/>
          <a:p>
            <a:pPr indent="0" marL="0">
              <a:buNone/>
            </a:pPr>
            <a:r>
              <a:rPr lang="en-US" sz="1100" b="1" dirty="0">
                <a:solidFill>
                  <a:srgbClr val="1B998B"/>
                </a:solidFill>
                <a:latin typeface="Arial" pitchFamily="34" charset="0"/>
                <a:ea typeface="Arial" pitchFamily="34" charset="-122"/>
                <a:cs typeface="Arial" pitchFamily="34" charset="-120"/>
              </a:rPr>
              <a:t>16.4% to 27% measured floor</a:t>
            </a:r>
            <a:endParaRPr lang="en-US" sz="1100" dirty="0"/>
          </a:p>
        </p:txBody>
      </p:sp>
      <p:sp>
        <p:nvSpPr>
          <p:cNvPr id="25" name="Text 23"/>
          <p:cNvSpPr/>
          <p:nvPr/>
        </p:nvSpPr>
        <p:spPr>
          <a:xfrm>
            <a:off x="6537960" y="1261872"/>
            <a:ext cx="5120640" cy="201168"/>
          </a:xfrm>
          <a:prstGeom prst="rect">
            <a:avLst/>
          </a:prstGeom>
          <a:noFill/>
          <a:ln/>
        </p:spPr>
        <p:txBody>
          <a:bodyPr wrap="square" lIns="0" tIns="0" rIns="0" bIns="0" rtlCol="0" anchor="ctr"/>
          <a:lstStyle/>
          <a:p>
            <a:pPr indent="0" marL="0">
              <a:buNone/>
            </a:pPr>
            <a:r>
              <a:rPr lang="en-US" sz="1100" dirty="0">
                <a:solidFill>
                  <a:srgbClr val="7DCDC2"/>
                </a:solidFill>
                <a:latin typeface="Arial" pitchFamily="34" charset="0"/>
                <a:ea typeface="Arial" pitchFamily="34" charset="-122"/>
                <a:cs typeface="Arial" pitchFamily="34" charset="-120"/>
              </a:rPr>
              <a:t>deeper at scale  (no number until the PLD)</a:t>
            </a:r>
            <a:endParaRPr lang="en-US" sz="1100" dirty="0"/>
          </a:p>
        </p:txBody>
      </p:sp>
      <p:sp>
        <p:nvSpPr>
          <p:cNvPr id="26" name="Text 24"/>
          <p:cNvSpPr/>
          <p:nvPr/>
        </p:nvSpPr>
        <p:spPr>
          <a:xfrm>
            <a:off x="329184" y="3794760"/>
            <a:ext cx="5943600" cy="1143000"/>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The floor was earned on an account shipping about 15,000 parcels a month. Digital Cookie runs about 2.0M parcels a season on one baker network alone. At that size, HTL and Efficient can sharpen their own pricing well past the floor; the upper band gets a number when the PLD does, not before.</a:t>
            </a:r>
            <a:endParaRPr lang="en-US" sz="1200" dirty="0"/>
          </a:p>
        </p:txBody>
      </p:sp>
      <p:sp>
        <p:nvSpPr>
          <p:cNvPr id="27" name="Shape 25"/>
          <p:cNvSpPr/>
          <p:nvPr/>
        </p:nvSpPr>
        <p:spPr>
          <a:xfrm>
            <a:off x="329184" y="5074920"/>
            <a:ext cx="2816352" cy="868680"/>
          </a:xfrm>
          <a:prstGeom prst="rect">
            <a:avLst/>
          </a:prstGeom>
          <a:solidFill>
            <a:srgbClr val="F4F6F8"/>
          </a:solidFill>
          <a:ln/>
        </p:spPr>
      </p:sp>
      <p:sp>
        <p:nvSpPr>
          <p:cNvPr id="28" name="Text 26"/>
          <p:cNvSpPr/>
          <p:nvPr/>
        </p:nvSpPr>
        <p:spPr>
          <a:xfrm>
            <a:off x="420624" y="5120640"/>
            <a:ext cx="2633472" cy="201168"/>
          </a:xfrm>
          <a:prstGeom prst="rect">
            <a:avLst/>
          </a:prstGeom>
          <a:noFill/>
          <a:ln/>
        </p:spPr>
        <p:txBody>
          <a:bodyPr wrap="square" lIns="0" tIns="0" rIns="0" bIns="0" rtlCol="0" anchor="ctr"/>
          <a:lstStyle/>
          <a:p>
            <a:pPr indent="0" marL="0">
              <a:buNone/>
            </a:pPr>
            <a:r>
              <a:rPr lang="en-US" sz="1100" b="1" dirty="0">
                <a:solidFill>
                  <a:srgbClr val="14213D"/>
                </a:solidFill>
                <a:latin typeface="Arial" pitchFamily="34" charset="0"/>
                <a:ea typeface="Arial" pitchFamily="34" charset="-122"/>
                <a:cs typeface="Arial" pitchFamily="34" charset="-120"/>
              </a:rPr>
              <a:t>Merchandise</a:t>
            </a:r>
            <a:endParaRPr lang="en-US" sz="1100" dirty="0"/>
          </a:p>
        </p:txBody>
      </p:sp>
      <p:sp>
        <p:nvSpPr>
          <p:cNvPr id="29" name="Text 27"/>
          <p:cNvSpPr/>
          <p:nvPr/>
        </p:nvSpPr>
        <p:spPr>
          <a:xfrm>
            <a:off x="420624" y="5321808"/>
            <a:ext cx="2633472" cy="548640"/>
          </a:xfrm>
          <a:prstGeom prst="rect">
            <a:avLst/>
          </a:prstGeom>
          <a:noFill/>
          <a:ln/>
        </p:spPr>
        <p:txBody>
          <a:bodyPr wrap="square" lIns="0" tIns="0" rIns="0" bIns="0" rtlCol="0" anchor="ctr"/>
          <a:lstStyle/>
          <a:p>
            <a:pPr indent="0" marL="0">
              <a:buNone/>
            </a:pPr>
            <a:r>
              <a:rPr lang="en-US" sz="1000" dirty="0">
                <a:solidFill>
                  <a:srgbClr val="1F2A37"/>
                </a:solidFill>
                <a:latin typeface="Arial" pitchFamily="34" charset="0"/>
                <a:ea typeface="Arial" pitchFamily="34" charset="-122"/>
                <a:cs typeface="Arial" pitchFamily="34" charset="-120"/>
              </a:rPr>
              <a:t>girlscoutshop.com ships worldwide ($20.95 to $113.95). Non-food. HTL's DHL Express lane.</a:t>
            </a:r>
            <a:endParaRPr lang="en-US" sz="1000" dirty="0"/>
          </a:p>
        </p:txBody>
      </p:sp>
      <p:sp>
        <p:nvSpPr>
          <p:cNvPr id="30" name="Shape 28"/>
          <p:cNvSpPr/>
          <p:nvPr/>
        </p:nvSpPr>
        <p:spPr>
          <a:xfrm>
            <a:off x="3273552" y="5074920"/>
            <a:ext cx="2816352" cy="868680"/>
          </a:xfrm>
          <a:prstGeom prst="rect">
            <a:avLst/>
          </a:prstGeom>
          <a:solidFill>
            <a:srgbClr val="F4F6F8"/>
          </a:solidFill>
          <a:ln/>
        </p:spPr>
      </p:sp>
      <p:sp>
        <p:nvSpPr>
          <p:cNvPr id="31" name="Text 29"/>
          <p:cNvSpPr/>
          <p:nvPr/>
        </p:nvSpPr>
        <p:spPr>
          <a:xfrm>
            <a:off x="3364992" y="5120640"/>
            <a:ext cx="2633472" cy="201168"/>
          </a:xfrm>
          <a:prstGeom prst="rect">
            <a:avLst/>
          </a:prstGeom>
          <a:noFill/>
          <a:ln/>
        </p:spPr>
        <p:txBody>
          <a:bodyPr wrap="square" lIns="0" tIns="0" rIns="0" bIns="0" rtlCol="0" anchor="ctr"/>
          <a:lstStyle/>
          <a:p>
            <a:pPr indent="0" marL="0">
              <a:buNone/>
            </a:pPr>
            <a:r>
              <a:rPr lang="en-US" sz="1100" b="1" dirty="0">
                <a:solidFill>
                  <a:srgbClr val="14213D"/>
                </a:solidFill>
                <a:latin typeface="Arial" pitchFamily="34" charset="0"/>
                <a:ea typeface="Arial" pitchFamily="34" charset="-122"/>
                <a:cs typeface="Arial" pitchFamily="34" charset="-120"/>
              </a:rPr>
              <a:t>Exchange freight</a:t>
            </a:r>
            <a:endParaRPr lang="en-US" sz="1100" dirty="0"/>
          </a:p>
        </p:txBody>
      </p:sp>
      <p:sp>
        <p:nvSpPr>
          <p:cNvPr id="32" name="Text 30"/>
          <p:cNvSpPr/>
          <p:nvPr/>
        </p:nvSpPr>
        <p:spPr>
          <a:xfrm>
            <a:off x="3364992" y="5321808"/>
            <a:ext cx="2633472" cy="548640"/>
          </a:xfrm>
          <a:prstGeom prst="rect">
            <a:avLst/>
          </a:prstGeom>
          <a:noFill/>
          <a:ln/>
        </p:spPr>
        <p:txBody>
          <a:bodyPr wrap="square" lIns="0" tIns="0" rIns="0" bIns="0" rtlCol="0" anchor="ctr"/>
          <a:lstStyle/>
          <a:p>
            <a:pPr indent="0" marL="0">
              <a:buNone/>
            </a:pPr>
            <a:r>
              <a:rPr lang="en-US" sz="1000" dirty="0">
                <a:solidFill>
                  <a:srgbClr val="1F2A37"/>
                </a:solidFill>
                <a:latin typeface="Arial" pitchFamily="34" charset="0"/>
                <a:ea typeface="Arial" pitchFamily="34" charset="-122"/>
                <a:cs typeface="Arial" pitchFamily="34" charset="-120"/>
              </a:rPr>
              <a:t>200,000+ boxes a season to Germany and South Korea. Freight is where HTL started.</a:t>
            </a:r>
            <a:endParaRPr lang="en-US" sz="1000" dirty="0"/>
          </a:p>
        </p:txBody>
      </p:sp>
      <p:sp>
        <p:nvSpPr>
          <p:cNvPr id="33" name="Shape 31"/>
          <p:cNvSpPr/>
          <p:nvPr/>
        </p:nvSpPr>
        <p:spPr>
          <a:xfrm>
            <a:off x="6217920" y="5074920"/>
            <a:ext cx="2816352" cy="868680"/>
          </a:xfrm>
          <a:prstGeom prst="rect">
            <a:avLst/>
          </a:prstGeom>
          <a:solidFill>
            <a:srgbClr val="F4F6F8"/>
          </a:solidFill>
          <a:ln/>
        </p:spPr>
      </p:sp>
      <p:sp>
        <p:nvSpPr>
          <p:cNvPr id="34" name="Text 32"/>
          <p:cNvSpPr/>
          <p:nvPr/>
        </p:nvSpPr>
        <p:spPr>
          <a:xfrm>
            <a:off x="6309360" y="5120640"/>
            <a:ext cx="2633472" cy="201168"/>
          </a:xfrm>
          <a:prstGeom prst="rect">
            <a:avLst/>
          </a:prstGeom>
          <a:noFill/>
          <a:ln/>
        </p:spPr>
        <p:txBody>
          <a:bodyPr wrap="square" lIns="0" tIns="0" rIns="0" bIns="0" rtlCol="0" anchor="ctr"/>
          <a:lstStyle/>
          <a:p>
            <a:pPr indent="0" marL="0">
              <a:buNone/>
            </a:pPr>
            <a:r>
              <a:rPr lang="en-US" sz="1100" b="1" dirty="0">
                <a:solidFill>
                  <a:srgbClr val="14213D"/>
                </a:solidFill>
                <a:latin typeface="Arial" pitchFamily="34" charset="0"/>
                <a:ea typeface="Arial" pitchFamily="34" charset="-122"/>
                <a:cs typeface="Arial" pitchFamily="34" charset="-120"/>
              </a:rPr>
              <a:t>APO / FPO / DPO</a:t>
            </a:r>
            <a:endParaRPr lang="en-US" sz="1100" dirty="0"/>
          </a:p>
        </p:txBody>
      </p:sp>
      <p:sp>
        <p:nvSpPr>
          <p:cNvPr id="35" name="Text 33"/>
          <p:cNvSpPr/>
          <p:nvPr/>
        </p:nvSpPr>
        <p:spPr>
          <a:xfrm>
            <a:off x="6309360" y="5321808"/>
            <a:ext cx="2633472" cy="548640"/>
          </a:xfrm>
          <a:prstGeom prst="rect">
            <a:avLst/>
          </a:prstGeom>
          <a:noFill/>
          <a:ln/>
        </p:spPr>
        <p:txBody>
          <a:bodyPr wrap="square" lIns="0" tIns="0" rIns="0" bIns="0" rtlCol="0" anchor="ctr"/>
          <a:lstStyle/>
          <a:p>
            <a:pPr indent="0" marL="0">
              <a:buNone/>
            </a:pPr>
            <a:r>
              <a:rPr lang="en-US" sz="1000" dirty="0">
                <a:solidFill>
                  <a:srgbClr val="1F2A37"/>
                </a:solidFill>
                <a:latin typeface="Arial" pitchFamily="34" charset="0"/>
                <a:ea typeface="Arial" pitchFamily="34" charset="-122"/>
                <a:cs typeface="Arial" pitchFamily="34" charset="-120"/>
              </a:rPr>
              <a:t>Inside Digital Cookie today, with a $5 surcharge that has drawn public criticism.</a:t>
            </a:r>
            <a:endParaRPr lang="en-US" sz="1000" dirty="0"/>
          </a:p>
        </p:txBody>
      </p:sp>
      <p:sp>
        <p:nvSpPr>
          <p:cNvPr id="36" name="Shape 34"/>
          <p:cNvSpPr/>
          <p:nvPr/>
        </p:nvSpPr>
        <p:spPr>
          <a:xfrm>
            <a:off x="9162288" y="5074920"/>
            <a:ext cx="2816352" cy="868680"/>
          </a:xfrm>
          <a:prstGeom prst="rect">
            <a:avLst/>
          </a:prstGeom>
          <a:solidFill>
            <a:srgbClr val="F4F6F8"/>
          </a:solidFill>
          <a:ln/>
        </p:spPr>
      </p:sp>
      <p:sp>
        <p:nvSpPr>
          <p:cNvPr id="37" name="Text 35"/>
          <p:cNvSpPr/>
          <p:nvPr/>
        </p:nvSpPr>
        <p:spPr>
          <a:xfrm>
            <a:off x="9253728" y="5120640"/>
            <a:ext cx="2633472" cy="201168"/>
          </a:xfrm>
          <a:prstGeom prst="rect">
            <a:avLst/>
          </a:prstGeom>
          <a:noFill/>
          <a:ln/>
        </p:spPr>
        <p:txBody>
          <a:bodyPr wrap="square" lIns="0" tIns="0" rIns="0" bIns="0" rtlCol="0" anchor="ctr"/>
          <a:lstStyle/>
          <a:p>
            <a:pPr indent="0" marL="0">
              <a:buNone/>
            </a:pPr>
            <a:r>
              <a:rPr lang="en-US" sz="1100" b="1" dirty="0">
                <a:solidFill>
                  <a:srgbClr val="14213D"/>
                </a:solidFill>
                <a:latin typeface="Arial" pitchFamily="34" charset="0"/>
                <a:ea typeface="Arial" pitchFamily="34" charset="-122"/>
                <a:cs typeface="Arial" pitchFamily="34" charset="-120"/>
              </a:rPr>
              <a:t>Patch Pals abroad</a:t>
            </a:r>
            <a:endParaRPr lang="en-US" sz="1100" dirty="0"/>
          </a:p>
        </p:txBody>
      </p:sp>
      <p:sp>
        <p:nvSpPr>
          <p:cNvPr id="38" name="Text 36"/>
          <p:cNvSpPr/>
          <p:nvPr/>
        </p:nvSpPr>
        <p:spPr>
          <a:xfrm>
            <a:off x="9253728" y="5321808"/>
            <a:ext cx="2633472" cy="548640"/>
          </a:xfrm>
          <a:prstGeom prst="rect">
            <a:avLst/>
          </a:prstGeom>
          <a:noFill/>
          <a:ln/>
        </p:spPr>
        <p:txBody>
          <a:bodyPr wrap="square" lIns="0" tIns="0" rIns="0" bIns="0" rtlCol="0" anchor="ctr"/>
          <a:lstStyle/>
          <a:p>
            <a:pPr indent="0" marL="0">
              <a:buNone/>
            </a:pPr>
            <a:r>
              <a:rPr lang="en-US" sz="1000" dirty="0">
                <a:solidFill>
                  <a:srgbClr val="1F2A37"/>
                </a:solidFill>
                <a:latin typeface="Arial" pitchFamily="34" charset="0"/>
                <a:ea typeface="Arial" pitchFamily="34" charset="-122"/>
                <a:cs typeface="Arial" pitchFamily="34" charset="-120"/>
              </a:rPr>
              <a:t>Pet food moves under different rules. HTL is reviewing country-by-country feasibility via DHL Express.</a:t>
            </a:r>
            <a:endParaRPr lang="en-US" sz="1000" dirty="0"/>
          </a:p>
        </p:txBody>
      </p:sp>
      <p:sp>
        <p:nvSpPr>
          <p:cNvPr id="39" name="Text 37"/>
          <p:cNvSpPr/>
          <p:nvPr/>
        </p:nvSpPr>
        <p:spPr>
          <a:xfrm>
            <a:off x="329184" y="6016752"/>
            <a:ext cx="11521440" cy="365760"/>
          </a:xfrm>
          <a:prstGeom prst="rect">
            <a:avLst/>
          </a:prstGeom>
          <a:noFill/>
          <a:ln/>
        </p:spPr>
        <p:txBody>
          <a:bodyPr wrap="square" lIns="0" tIns="0" rIns="0" bIns="0" rtlCol="0" anchor="ctr"/>
          <a:lstStyle/>
          <a:p>
            <a:pPr indent="0" marL="0">
              <a:buNone/>
            </a:pPr>
            <a:r>
              <a:rPr lang="en-US" sz="1100" dirty="0">
                <a:solidFill>
                  <a:srgbClr val="5B6770"/>
                </a:solidFill>
                <a:latin typeface="Arial" pitchFamily="34" charset="0"/>
                <a:ea typeface="Arial" pitchFamily="34" charset="-122"/>
                <a:cs typeface="Arial" pitchFamily="34" charset="-120"/>
              </a:rPr>
              <a:t>Beyond cookies. The cookie program itself does not cross borders for food-export reasons. The four lanes above are the real international ones.</a:t>
            </a:r>
            <a:endParaRPr lang="en-US" sz="1100" dirty="0"/>
          </a:p>
        </p:txBody>
      </p:sp>
      <p:sp>
        <p:nvSpPr>
          <p:cNvPr id="40" name="Text 38"/>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One origin, fifty states, six months</a:t>
            </a:r>
            <a:endParaRPr lang="en-US" sz="2200" dirty="0"/>
          </a:p>
        </p:txBody>
      </p:sp>
      <p:sp>
        <p:nvSpPr>
          <p:cNvPr id="4" name="Shape 2"/>
          <p:cNvSpPr/>
          <p:nvPr/>
        </p:nvSpPr>
        <p:spPr>
          <a:xfrm>
            <a:off x="329184" y="530352"/>
            <a:ext cx="1645920" cy="36576"/>
          </a:xfrm>
          <a:prstGeom prst="rect">
            <a:avLst/>
          </a:prstGeom>
          <a:solidFill>
            <a:srgbClr val="1B998B"/>
          </a:solidFill>
          <a:ln/>
        </p:spPr>
      </p:sp>
      <p:pic>
        <p:nvPicPr>
          <p:cNvPr id="5" name="Image 0" descr="/workspace/artifacts/imagine_images/NzTte.jpg">    </p:cNvPr>
          <p:cNvPicPr>
            <a:picLocks noChangeAspect="1"/>
          </p:cNvPicPr>
          <p:nvPr/>
        </p:nvPicPr>
        <p:blipFill>
          <a:blip r:embed="rId1"/>
          <a:stretch>
            <a:fillRect/>
          </a:stretch>
        </p:blipFill>
        <p:spPr>
          <a:xfrm>
            <a:off x="182880" y="777240"/>
            <a:ext cx="7452360" cy="4297680"/>
          </a:xfrm>
          <a:prstGeom prst="rect">
            <a:avLst/>
          </a:prstGeom>
        </p:spPr>
      </p:pic>
      <p:sp>
        <p:nvSpPr>
          <p:cNvPr id="6" name="Shape 3"/>
          <p:cNvSpPr/>
          <p:nvPr/>
        </p:nvSpPr>
        <p:spPr>
          <a:xfrm>
            <a:off x="4617720" y="1874520"/>
            <a:ext cx="146304" cy="146304"/>
          </a:xfrm>
          <a:prstGeom prst="ellipse">
            <a:avLst/>
          </a:prstGeom>
          <a:solidFill>
            <a:srgbClr val="FFFFFF"/>
          </a:solidFill>
          <a:ln/>
        </p:spPr>
      </p:sp>
      <p:sp>
        <p:nvSpPr>
          <p:cNvPr id="7" name="Text 4"/>
          <p:cNvSpPr/>
          <p:nvPr/>
        </p:nvSpPr>
        <p:spPr>
          <a:xfrm>
            <a:off x="4800600" y="1810512"/>
            <a:ext cx="1371600" cy="201168"/>
          </a:xfrm>
          <a:prstGeom prst="rect">
            <a:avLst/>
          </a:prstGeom>
          <a:noFill/>
          <a:ln/>
        </p:spPr>
        <p:txBody>
          <a:bodyPr wrap="square" lIns="0" tIns="0" rIns="0" bIns="0" rtlCol="0" anchor="ctr"/>
          <a:lstStyle/>
          <a:p>
            <a:pPr indent="0" marL="0">
              <a:buNone/>
            </a:pPr>
            <a:r>
              <a:rPr lang="en-US" sz="1100" b="1" dirty="0">
                <a:solidFill>
                  <a:srgbClr val="14213D"/>
                </a:solidFill>
                <a:latin typeface="Arial" pitchFamily="34" charset="0"/>
                <a:ea typeface="Arial" pitchFamily="34" charset="-122"/>
                <a:cs typeface="Arial" pitchFamily="34" charset="-120"/>
              </a:rPr>
              <a:t>SE Michigan</a:t>
            </a:r>
            <a:endParaRPr lang="en-US" sz="1100" dirty="0"/>
          </a:p>
        </p:txBody>
      </p:sp>
      <p:sp>
        <p:nvSpPr>
          <p:cNvPr id="8" name="Shape 5"/>
          <p:cNvSpPr/>
          <p:nvPr/>
        </p:nvSpPr>
        <p:spPr>
          <a:xfrm>
            <a:off x="5897880" y="1691640"/>
            <a:ext cx="146304" cy="146304"/>
          </a:xfrm>
          <a:prstGeom prst="ellipse">
            <a:avLst/>
          </a:prstGeom>
          <a:solidFill>
            <a:srgbClr val="FFFFFF"/>
          </a:solidFill>
          <a:ln/>
        </p:spPr>
      </p:sp>
      <p:sp>
        <p:nvSpPr>
          <p:cNvPr id="9" name="Text 6"/>
          <p:cNvSpPr/>
          <p:nvPr/>
        </p:nvSpPr>
        <p:spPr>
          <a:xfrm>
            <a:off x="6080760" y="1627632"/>
            <a:ext cx="1188720" cy="201168"/>
          </a:xfrm>
          <a:prstGeom prst="rect">
            <a:avLst/>
          </a:prstGeom>
          <a:noFill/>
          <a:ln/>
        </p:spPr>
        <p:txBody>
          <a:bodyPr wrap="square" lIns="0" tIns="0" rIns="0" bIns="0" rtlCol="0" anchor="ctr"/>
          <a:lstStyle/>
          <a:p>
            <a:pPr indent="0" marL="0">
              <a:buNone/>
            </a:pPr>
            <a:r>
              <a:rPr lang="en-US" sz="1100" b="1" dirty="0">
                <a:solidFill>
                  <a:srgbClr val="14213D"/>
                </a:solidFill>
                <a:latin typeface="Arial" pitchFamily="34" charset="0"/>
                <a:ea typeface="Arial" pitchFamily="34" charset="-122"/>
                <a:cs typeface="Arial" pitchFamily="34" charset="-120"/>
              </a:rPr>
              <a:t>NYC HQ</a:t>
            </a:r>
            <a:endParaRPr lang="en-US" sz="1100" dirty="0"/>
          </a:p>
        </p:txBody>
      </p:sp>
      <p:sp>
        <p:nvSpPr>
          <p:cNvPr id="10" name="Shape 7"/>
          <p:cNvSpPr/>
          <p:nvPr/>
        </p:nvSpPr>
        <p:spPr>
          <a:xfrm>
            <a:off x="5212080" y="2606040"/>
            <a:ext cx="146304" cy="146304"/>
          </a:xfrm>
          <a:prstGeom prst="ellipse">
            <a:avLst/>
          </a:prstGeom>
          <a:solidFill>
            <a:srgbClr val="1B998B"/>
          </a:solidFill>
          <a:ln/>
        </p:spPr>
      </p:sp>
      <p:sp>
        <p:nvSpPr>
          <p:cNvPr id="11" name="Text 8"/>
          <p:cNvSpPr/>
          <p:nvPr/>
        </p:nvSpPr>
        <p:spPr>
          <a:xfrm>
            <a:off x="5394960" y="2542032"/>
            <a:ext cx="1280160" cy="201168"/>
          </a:xfrm>
          <a:prstGeom prst="rect">
            <a:avLst/>
          </a:prstGeom>
          <a:noFill/>
          <a:ln/>
        </p:spPr>
        <p:txBody>
          <a:bodyPr wrap="square" lIns="0" tIns="0" rIns="0" bIns="0" rtlCol="0" anchor="ctr"/>
          <a:lstStyle/>
          <a:p>
            <a:pPr indent="0" marL="0">
              <a:buNone/>
            </a:pPr>
            <a:r>
              <a:rPr lang="en-US" sz="1100" b="1" dirty="0">
                <a:solidFill>
                  <a:srgbClr val="1B998B"/>
                </a:solidFill>
                <a:latin typeface="Arial" pitchFamily="34" charset="0"/>
                <a:ea typeface="Arial" pitchFamily="34" charset="-122"/>
                <a:cs typeface="Arial" pitchFamily="34" charset="-120"/>
              </a:rPr>
              <a:t>Charlotte</a:t>
            </a:r>
            <a:endParaRPr lang="en-US" sz="1100" dirty="0"/>
          </a:p>
        </p:txBody>
      </p:sp>
      <p:sp>
        <p:nvSpPr>
          <p:cNvPr id="12" name="Shape 9"/>
          <p:cNvSpPr/>
          <p:nvPr/>
        </p:nvSpPr>
        <p:spPr>
          <a:xfrm>
            <a:off x="7772400" y="822960"/>
            <a:ext cx="4069080" cy="868680"/>
          </a:xfrm>
          <a:prstGeom prst="rect">
            <a:avLst/>
          </a:prstGeom>
          <a:solidFill>
            <a:srgbClr val="F4F6F8"/>
          </a:solidFill>
          <a:ln/>
        </p:spPr>
      </p:sp>
      <p:sp>
        <p:nvSpPr>
          <p:cNvPr id="13" name="Text 10"/>
          <p:cNvSpPr/>
          <p:nvPr/>
        </p:nvSpPr>
        <p:spPr>
          <a:xfrm>
            <a:off x="7909560" y="877824"/>
            <a:ext cx="3794760" cy="182880"/>
          </a:xfrm>
          <a:prstGeom prst="rect">
            <a:avLst/>
          </a:prstGeom>
          <a:noFill/>
          <a:ln/>
        </p:spPr>
        <p:txBody>
          <a:bodyPr wrap="square" lIns="0" tIns="0" rIns="0" bIns="0" rtlCol="0" anchor="ctr"/>
          <a:lstStyle/>
          <a:p>
            <a:pPr indent="0" marL="0">
              <a:buNone/>
            </a:pPr>
            <a:r>
              <a:rPr lang="en-US" sz="1100" b="1" dirty="0">
                <a:solidFill>
                  <a:srgbClr val="1B998B"/>
                </a:solidFill>
                <a:latin typeface="Arial" pitchFamily="34" charset="0"/>
                <a:ea typeface="Arial" pitchFamily="34" charset="-122"/>
                <a:cs typeface="Arial" pitchFamily="34" charset="-120"/>
              </a:rPr>
              <a:t>Navy</a:t>
            </a:r>
            <a:endParaRPr lang="en-US" sz="1100" dirty="0"/>
          </a:p>
        </p:txBody>
      </p:sp>
      <p:sp>
        <p:nvSpPr>
          <p:cNvPr id="14" name="Text 11"/>
          <p:cNvSpPr/>
          <p:nvPr/>
        </p:nvSpPr>
        <p:spPr>
          <a:xfrm>
            <a:off x="7909560" y="1078992"/>
            <a:ext cx="3794760" cy="54864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Digital Cookie fulfillment partner, Little Brownie network. ~2.0M parcels a season leave southeast Michigan.</a:t>
            </a:r>
            <a:endParaRPr lang="en-US" sz="1200" dirty="0"/>
          </a:p>
        </p:txBody>
      </p:sp>
      <p:sp>
        <p:nvSpPr>
          <p:cNvPr id="15" name="Shape 12"/>
          <p:cNvSpPr/>
          <p:nvPr/>
        </p:nvSpPr>
        <p:spPr>
          <a:xfrm>
            <a:off x="7772400" y="1783080"/>
            <a:ext cx="4069080" cy="868680"/>
          </a:xfrm>
          <a:prstGeom prst="rect">
            <a:avLst/>
          </a:prstGeom>
          <a:solidFill>
            <a:srgbClr val="F4F6F8"/>
          </a:solidFill>
          <a:ln/>
        </p:spPr>
      </p:sp>
      <p:sp>
        <p:nvSpPr>
          <p:cNvPr id="16" name="Text 13"/>
          <p:cNvSpPr/>
          <p:nvPr/>
        </p:nvSpPr>
        <p:spPr>
          <a:xfrm>
            <a:off x="7909560" y="1837944"/>
            <a:ext cx="3794760" cy="182880"/>
          </a:xfrm>
          <a:prstGeom prst="rect">
            <a:avLst/>
          </a:prstGeom>
          <a:noFill/>
          <a:ln/>
        </p:spPr>
        <p:txBody>
          <a:bodyPr wrap="square" lIns="0" tIns="0" rIns="0" bIns="0" rtlCol="0" anchor="ctr"/>
          <a:lstStyle/>
          <a:p>
            <a:pPr indent="0" marL="0">
              <a:buNone/>
            </a:pPr>
            <a:r>
              <a:rPr lang="en-US" sz="1100" b="1" dirty="0">
                <a:solidFill>
                  <a:srgbClr val="1B998B"/>
                </a:solidFill>
                <a:latin typeface="Arial" pitchFamily="34" charset="0"/>
                <a:ea typeface="Arial" pitchFamily="34" charset="-122"/>
                <a:cs typeface="Arial" pitchFamily="34" charset="-120"/>
              </a:rPr>
              <a:t>Navy</a:t>
            </a:r>
            <a:endParaRPr lang="en-US" sz="1100" dirty="0"/>
          </a:p>
        </p:txBody>
      </p:sp>
      <p:sp>
        <p:nvSpPr>
          <p:cNvPr id="17" name="Text 14"/>
          <p:cNvSpPr/>
          <p:nvPr/>
        </p:nvSpPr>
        <p:spPr>
          <a:xfrm>
            <a:off x="7909560" y="2039112"/>
            <a:ext cx="3794760" cy="54864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Girl Scouts of the USA, national HQ, New York.</a:t>
            </a:r>
            <a:endParaRPr lang="en-US" sz="1200" dirty="0"/>
          </a:p>
        </p:txBody>
      </p:sp>
      <p:sp>
        <p:nvSpPr>
          <p:cNvPr id="18" name="Shape 15"/>
          <p:cNvSpPr/>
          <p:nvPr/>
        </p:nvSpPr>
        <p:spPr>
          <a:xfrm>
            <a:off x="7772400" y="2743200"/>
            <a:ext cx="4069080" cy="868680"/>
          </a:xfrm>
          <a:prstGeom prst="rect">
            <a:avLst/>
          </a:prstGeom>
          <a:solidFill>
            <a:srgbClr val="F4F6F8"/>
          </a:solidFill>
          <a:ln/>
        </p:spPr>
      </p:sp>
      <p:sp>
        <p:nvSpPr>
          <p:cNvPr id="19" name="Text 16"/>
          <p:cNvSpPr/>
          <p:nvPr/>
        </p:nvSpPr>
        <p:spPr>
          <a:xfrm>
            <a:off x="7909560" y="2798064"/>
            <a:ext cx="3794760" cy="182880"/>
          </a:xfrm>
          <a:prstGeom prst="rect">
            <a:avLst/>
          </a:prstGeom>
          <a:noFill/>
          <a:ln/>
        </p:spPr>
        <p:txBody>
          <a:bodyPr wrap="square" lIns="0" tIns="0" rIns="0" bIns="0" rtlCol="0" anchor="ctr"/>
          <a:lstStyle/>
          <a:p>
            <a:pPr indent="0" marL="0">
              <a:buNone/>
            </a:pPr>
            <a:r>
              <a:rPr lang="en-US" sz="1100" b="1" dirty="0">
                <a:solidFill>
                  <a:srgbClr val="1B998B"/>
                </a:solidFill>
                <a:latin typeface="Arial" pitchFamily="34" charset="0"/>
                <a:ea typeface="Arial" pitchFamily="34" charset="-122"/>
                <a:cs typeface="Arial" pitchFamily="34" charset="-120"/>
              </a:rPr>
              <a:t>Teal</a:t>
            </a:r>
            <a:endParaRPr lang="en-US" sz="1100" dirty="0"/>
          </a:p>
        </p:txBody>
      </p:sp>
      <p:sp>
        <p:nvSpPr>
          <p:cNvPr id="20" name="Text 17"/>
          <p:cNvSpPr/>
          <p:nvPr/>
        </p:nvSpPr>
        <p:spPr>
          <a:xfrm>
            <a:off x="7909560" y="2999232"/>
            <a:ext cx="3794760" cy="54864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HTL headquarters, Charlotte. Cato Fashions ships live from here today.</a:t>
            </a:r>
            <a:endParaRPr lang="en-US" sz="1200" dirty="0"/>
          </a:p>
        </p:txBody>
      </p:sp>
      <p:sp>
        <p:nvSpPr>
          <p:cNvPr id="21" name="Shape 18"/>
          <p:cNvSpPr/>
          <p:nvPr/>
        </p:nvSpPr>
        <p:spPr>
          <a:xfrm>
            <a:off x="7772400" y="3703320"/>
            <a:ext cx="4069080" cy="868680"/>
          </a:xfrm>
          <a:prstGeom prst="rect">
            <a:avLst/>
          </a:prstGeom>
          <a:solidFill>
            <a:srgbClr val="F4F6F8"/>
          </a:solidFill>
          <a:ln/>
        </p:spPr>
      </p:sp>
      <p:sp>
        <p:nvSpPr>
          <p:cNvPr id="22" name="Text 19"/>
          <p:cNvSpPr/>
          <p:nvPr/>
        </p:nvSpPr>
        <p:spPr>
          <a:xfrm>
            <a:off x="7909560" y="3758184"/>
            <a:ext cx="3794760" cy="182880"/>
          </a:xfrm>
          <a:prstGeom prst="rect">
            <a:avLst/>
          </a:prstGeom>
          <a:noFill/>
          <a:ln/>
        </p:spPr>
        <p:txBody>
          <a:bodyPr wrap="square" lIns="0" tIns="0" rIns="0" bIns="0" rtlCol="0" anchor="ctr"/>
          <a:lstStyle/>
          <a:p>
            <a:pPr indent="0" marL="0">
              <a:buNone/>
            </a:pPr>
            <a:r>
              <a:rPr lang="en-US" sz="1100" b="1" dirty="0">
                <a:solidFill>
                  <a:srgbClr val="1B998B"/>
                </a:solidFill>
                <a:latin typeface="Arial" pitchFamily="34" charset="0"/>
                <a:ea typeface="Arial" pitchFamily="34" charset="-122"/>
                <a:cs typeface="Arial" pitchFamily="34" charset="-120"/>
              </a:rPr>
              <a:t>Zones 5-8</a:t>
            </a:r>
            <a:endParaRPr lang="en-US" sz="1100" dirty="0"/>
          </a:p>
        </p:txBody>
      </p:sp>
      <p:sp>
        <p:nvSpPr>
          <p:cNvPr id="23" name="Text 20"/>
          <p:cNvSpPr/>
          <p:nvPr/>
        </p:nvSpPr>
        <p:spPr>
          <a:xfrm>
            <a:off x="7909560" y="3959352"/>
            <a:ext cx="3794760" cy="54864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Most of the country sits in Zones 5-8 from a single Midwest origin. Long-zone residential parcels are exactly where the carrier mix matters most.</a:t>
            </a:r>
            <a:endParaRPr lang="en-US" sz="1200" dirty="0"/>
          </a:p>
        </p:txBody>
      </p:sp>
      <p:sp>
        <p:nvSpPr>
          <p:cNvPr id="24" name="Text 21"/>
          <p:cNvSpPr/>
          <p:nvPr/>
        </p:nvSpPr>
        <p:spPr>
          <a:xfrm>
            <a:off x="329184" y="5166360"/>
            <a:ext cx="7315200" cy="457200"/>
          </a:xfrm>
          <a:prstGeom prst="rect">
            <a:avLst/>
          </a:prstGeom>
          <a:noFill/>
          <a:ln/>
        </p:spPr>
        <p:txBody>
          <a:bodyPr wrap="square" lIns="0" tIns="0" rIns="0" bIns="0" rtlCol="0" anchor="ctr"/>
          <a:lstStyle/>
          <a:p>
            <a:pPr indent="0" marL="0">
              <a:buNone/>
            </a:pPr>
            <a:r>
              <a:rPr lang="en-US" sz="1100" dirty="0">
                <a:solidFill>
                  <a:srgbClr val="B23A48"/>
                </a:solidFill>
                <a:latin typeface="Arial" pitchFamily="34" charset="0"/>
                <a:ea typeface="Arial" pitchFamily="34" charset="-122"/>
                <a:cs typeface="Arial" pitchFamily="34" charset="-120"/>
              </a:rPr>
              <a:t>Oct 25 / Oct 26 surcharges begin   |   Nov 22-Dec 27 peak-of-peak   |   Jan 4 rate increase   |   Jan 12 season opens, Patch Pals   |   Apr season ends</a:t>
            </a:r>
            <a:endParaRPr lang="en-US" sz="1100" dirty="0"/>
          </a:p>
        </p:txBody>
      </p:sp>
      <p:sp>
        <p:nvSpPr>
          <p:cNvPr id="25" name="Text 22"/>
          <p:cNvSpPr/>
          <p:nvPr/>
        </p:nvSpPr>
        <p:spPr>
          <a:xfrm>
            <a:off x="329184" y="5669280"/>
            <a:ext cx="11521440" cy="36576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100% residential, one origin, a season that runs straight through the surcharge calendar. That shape is why the per-parcel gap compounds the way the season chart shows.</a:t>
            </a:r>
            <a:endParaRPr lang="en-US" sz="1300" dirty="0"/>
          </a:p>
        </p:txBody>
      </p:sp>
      <p:sp>
        <p:nvSpPr>
          <p:cNvPr id="26" name="Text 23"/>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Origin from the fulfillment partner's public Girl Scouts page; zone rings approximate carrier zone charts from a Detroit-area origin. Second baker network ships from its own origin, not shown. Pins are placed on a flat map, not a surveyed zone chart.</a:t>
            </a:r>
            <a:endParaRPr lang="en-US" sz="1000" dirty="0"/>
          </a:p>
        </p:txBody>
      </p:sp>
      <p:sp>
        <p:nvSpPr>
          <p:cNvPr id="27" name="Text 24"/>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How HTL &amp; Efficient get the price without touching the box</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Three levers, one integration. Your carriers stay. Your parcels never change hands.</a:t>
            </a:r>
            <a:endParaRPr lang="en-US" sz="1200" dirty="0"/>
          </a:p>
        </p:txBody>
      </p:sp>
      <p:sp>
        <p:nvSpPr>
          <p:cNvPr id="6" name="Shape 4"/>
          <p:cNvSpPr/>
          <p:nvPr/>
        </p:nvSpPr>
        <p:spPr>
          <a:xfrm>
            <a:off x="292608" y="1051560"/>
            <a:ext cx="2816352" cy="2148840"/>
          </a:xfrm>
          <a:prstGeom prst="roundRect">
            <a:avLst>
              <a:gd name="adj" fmla="val 3404"/>
            </a:avLst>
          </a:prstGeom>
          <a:solidFill>
            <a:srgbClr val="F4F6F8"/>
          </a:solidFill>
          <a:ln/>
        </p:spPr>
      </p:sp>
      <p:sp>
        <p:nvSpPr>
          <p:cNvPr id="7" name="Text 5"/>
          <p:cNvSpPr/>
          <p:nvPr/>
        </p:nvSpPr>
        <p:spPr>
          <a:xfrm>
            <a:off x="402336" y="1143000"/>
            <a:ext cx="2596896" cy="292608"/>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1  Pooled volume</a:t>
            </a:r>
            <a:endParaRPr lang="en-US" sz="1300" dirty="0"/>
          </a:p>
        </p:txBody>
      </p:sp>
      <p:sp>
        <p:nvSpPr>
          <p:cNvPr id="8" name="Text 6"/>
          <p:cNvSpPr/>
          <p:nvPr/>
        </p:nvSpPr>
        <p:spPr>
          <a:xfrm>
            <a:off x="402336" y="1481328"/>
            <a:ext cx="2596896" cy="1600200"/>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HTL and Efficient negotiate as one book. A single account the size of Cato earned a 16.4% to 27% floor. Digital Cookie alone is roughly 130 times Cato's monthly volume during peak.</a:t>
            </a:r>
            <a:endParaRPr lang="en-US" sz="1100" dirty="0"/>
          </a:p>
        </p:txBody>
      </p:sp>
      <p:sp>
        <p:nvSpPr>
          <p:cNvPr id="9" name="Shape 7"/>
          <p:cNvSpPr/>
          <p:nvPr/>
        </p:nvSpPr>
        <p:spPr>
          <a:xfrm>
            <a:off x="3264408" y="1051560"/>
            <a:ext cx="2816352" cy="2148840"/>
          </a:xfrm>
          <a:prstGeom prst="roundRect">
            <a:avLst>
              <a:gd name="adj" fmla="val 3404"/>
            </a:avLst>
          </a:prstGeom>
          <a:solidFill>
            <a:srgbClr val="F4F6F8"/>
          </a:solidFill>
          <a:ln/>
        </p:spPr>
      </p:sp>
      <p:sp>
        <p:nvSpPr>
          <p:cNvPr id="10" name="Text 8"/>
          <p:cNvSpPr/>
          <p:nvPr/>
        </p:nvSpPr>
        <p:spPr>
          <a:xfrm>
            <a:off x="3374136" y="1143000"/>
            <a:ext cx="2596896" cy="292608"/>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2  Rate every label</a:t>
            </a:r>
            <a:endParaRPr lang="en-US" sz="1300" dirty="0"/>
          </a:p>
        </p:txBody>
      </p:sp>
      <p:sp>
        <p:nvSpPr>
          <p:cNvPr id="11" name="Text 9"/>
          <p:cNvSpPr/>
          <p:nvPr/>
        </p:nvSpPr>
        <p:spPr>
          <a:xfrm>
            <a:off x="3374136" y="1481328"/>
            <a:ext cx="2596896" cy="1600200"/>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The integration prices each parcel across the carrier mix at label time and picks the lowest compliant service, including ground-economy with no residential fee. Cato's observed 43-49% per-label drop is this lever.</a:t>
            </a:r>
            <a:endParaRPr lang="en-US" sz="1100" dirty="0"/>
          </a:p>
        </p:txBody>
      </p:sp>
      <p:sp>
        <p:nvSpPr>
          <p:cNvPr id="12" name="Shape 10"/>
          <p:cNvSpPr/>
          <p:nvPr/>
        </p:nvSpPr>
        <p:spPr>
          <a:xfrm>
            <a:off x="6236208" y="1051560"/>
            <a:ext cx="2816352" cy="2148840"/>
          </a:xfrm>
          <a:prstGeom prst="roundRect">
            <a:avLst>
              <a:gd name="adj" fmla="val 3404"/>
            </a:avLst>
          </a:prstGeom>
          <a:solidFill>
            <a:srgbClr val="F4F6F8"/>
          </a:solidFill>
          <a:ln/>
        </p:spPr>
      </p:sp>
      <p:sp>
        <p:nvSpPr>
          <p:cNvPr id="13" name="Text 11"/>
          <p:cNvSpPr/>
          <p:nvPr/>
        </p:nvSpPr>
        <p:spPr>
          <a:xfrm>
            <a:off x="6345936" y="1143000"/>
            <a:ext cx="2596896" cy="292608"/>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3  Same experience</a:t>
            </a:r>
            <a:endParaRPr lang="en-US" sz="1300" dirty="0"/>
          </a:p>
        </p:txBody>
      </p:sp>
      <p:sp>
        <p:nvSpPr>
          <p:cNvPr id="14" name="Text 12"/>
          <p:cNvSpPr/>
          <p:nvPr/>
        </p:nvSpPr>
        <p:spPr>
          <a:xfrm>
            <a:off x="6345936" y="1481328"/>
            <a:ext cx="2596896" cy="1600200"/>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The parcel still rides a national carrier, still gets a tracking number, still lands on the doorstep. Returns, claims and tracking flow through the same integration.</a:t>
            </a:r>
            <a:endParaRPr lang="en-US" sz="1100" dirty="0"/>
          </a:p>
        </p:txBody>
      </p:sp>
      <p:sp>
        <p:nvSpPr>
          <p:cNvPr id="15" name="Shape 13"/>
          <p:cNvSpPr/>
          <p:nvPr/>
        </p:nvSpPr>
        <p:spPr>
          <a:xfrm>
            <a:off x="9208008" y="1051560"/>
            <a:ext cx="2816352" cy="2148840"/>
          </a:xfrm>
          <a:prstGeom prst="roundRect">
            <a:avLst>
              <a:gd name="adj" fmla="val 3404"/>
            </a:avLst>
          </a:prstGeom>
          <a:solidFill>
            <a:srgbClr val="1B998B"/>
          </a:solidFill>
          <a:ln/>
        </p:spPr>
      </p:sp>
      <p:sp>
        <p:nvSpPr>
          <p:cNvPr id="16" name="Text 14"/>
          <p:cNvSpPr/>
          <p:nvPr/>
        </p:nvSpPr>
        <p:spPr>
          <a:xfrm>
            <a:off x="9317736" y="1143000"/>
            <a:ext cx="2596896"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4  Margin flex</a:t>
            </a:r>
            <a:endParaRPr lang="en-US" sz="1300" dirty="0"/>
          </a:p>
        </p:txBody>
      </p:sp>
      <p:sp>
        <p:nvSpPr>
          <p:cNvPr id="17" name="Text 15"/>
          <p:cNvSpPr/>
          <p:nvPr/>
        </p:nvSpPr>
        <p:spPr>
          <a:xfrm>
            <a:off x="9317736" y="1481328"/>
            <a:ext cx="2596896" cy="160020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With more committed volume, HTL and Efficient work their own margins. That is the deeper-at-scale band. It gets a number when the PLD does.</a:t>
            </a:r>
            <a:endParaRPr lang="en-US" sz="1100" dirty="0"/>
          </a:p>
        </p:txBody>
      </p:sp>
      <p:sp>
        <p:nvSpPr>
          <p:cNvPr id="18" name="Shape 16"/>
          <p:cNvSpPr/>
          <p:nvPr/>
        </p:nvSpPr>
        <p:spPr>
          <a:xfrm>
            <a:off x="292608" y="3337560"/>
            <a:ext cx="5806440" cy="2148840"/>
          </a:xfrm>
          <a:prstGeom prst="rect">
            <a:avLst/>
          </a:prstGeom>
          <a:solidFill>
            <a:srgbClr val="E7F6F3"/>
          </a:solidFill>
          <a:ln/>
        </p:spPr>
      </p:sp>
      <p:sp>
        <p:nvSpPr>
          <p:cNvPr id="19" name="Text 17"/>
          <p:cNvSpPr/>
          <p:nvPr/>
        </p:nvSpPr>
        <p:spPr>
          <a:xfrm>
            <a:off x="438912" y="3429000"/>
            <a:ext cx="5486400" cy="219456"/>
          </a:xfrm>
          <a:prstGeom prst="rect">
            <a:avLst/>
          </a:prstGeom>
          <a:noFill/>
          <a:ln/>
        </p:spPr>
        <p:txBody>
          <a:bodyPr wrap="square" lIns="0" tIns="0" rIns="0" bIns="0" rtlCol="0" anchor="ctr"/>
          <a:lstStyle/>
          <a:p>
            <a:pPr indent="0" marL="0">
              <a:buNone/>
            </a:pPr>
            <a:r>
              <a:rPr lang="en-US" sz="1200" b="1" dirty="0">
                <a:solidFill>
                  <a:srgbClr val="1B998B"/>
                </a:solidFill>
                <a:latin typeface="Arial" pitchFamily="34" charset="0"/>
                <a:ea typeface="Arial" pitchFamily="34" charset="-122"/>
                <a:cs typeface="Arial" pitchFamily="34" charset="-120"/>
              </a:rPr>
              <a:t>WHAT WE DO</a:t>
            </a:r>
            <a:endParaRPr lang="en-US" sz="1200" dirty="0"/>
          </a:p>
        </p:txBody>
      </p:sp>
      <p:sp>
        <p:nvSpPr>
          <p:cNvPr id="20" name="Text 18"/>
          <p:cNvSpPr/>
          <p:nvPr/>
        </p:nvSpPr>
        <p:spPr>
          <a:xfrm>
            <a:off x="438912" y="3703320"/>
            <a:ext cx="5486400" cy="164592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Renegotiate the rates behind your existing relationships. Add the carrier mix only where it is better for that parcel. Reduce or remove the residential delivery fee where volume allows. Re-rate the last six months line by line. Integrate at 25% of volume first, then scale as results prove out.</a:t>
            </a:r>
            <a:endParaRPr lang="en-US" sz="1300" dirty="0"/>
          </a:p>
        </p:txBody>
      </p:sp>
      <p:sp>
        <p:nvSpPr>
          <p:cNvPr id="21" name="Shape 19"/>
          <p:cNvSpPr/>
          <p:nvPr/>
        </p:nvSpPr>
        <p:spPr>
          <a:xfrm>
            <a:off x="6236208" y="3337560"/>
            <a:ext cx="5623560" cy="2148840"/>
          </a:xfrm>
          <a:prstGeom prst="rect">
            <a:avLst/>
          </a:prstGeom>
          <a:solidFill>
            <a:srgbClr val="F4F6F8"/>
          </a:solidFill>
          <a:ln/>
        </p:spPr>
      </p:sp>
      <p:sp>
        <p:nvSpPr>
          <p:cNvPr id="22" name="Text 20"/>
          <p:cNvSpPr/>
          <p:nvPr/>
        </p:nvSpPr>
        <p:spPr>
          <a:xfrm>
            <a:off x="6382512" y="3429000"/>
            <a:ext cx="5303520" cy="219456"/>
          </a:xfrm>
          <a:prstGeom prst="rect">
            <a:avLst/>
          </a:prstGeom>
          <a:noFill/>
          <a:ln/>
        </p:spPr>
        <p:txBody>
          <a:bodyPr wrap="square" lIns="0" tIns="0" rIns="0" bIns="0" rtlCol="0" anchor="ctr"/>
          <a:lstStyle/>
          <a:p>
            <a:pPr indent="0" marL="0">
              <a:buNone/>
            </a:pPr>
            <a:r>
              <a:rPr lang="en-US" sz="1200" b="1" dirty="0">
                <a:solidFill>
                  <a:srgbClr val="B23A48"/>
                </a:solidFill>
                <a:latin typeface="Arial" pitchFamily="34" charset="0"/>
                <a:ea typeface="Arial" pitchFamily="34" charset="-122"/>
                <a:cs typeface="Arial" pitchFamily="34" charset="-120"/>
              </a:rPr>
              <a:t>WHAT WE DON'T DO</a:t>
            </a:r>
            <a:endParaRPr lang="en-US" sz="1200" dirty="0"/>
          </a:p>
        </p:txBody>
      </p:sp>
      <p:sp>
        <p:nvSpPr>
          <p:cNvPr id="23" name="Text 21"/>
          <p:cNvSpPr/>
          <p:nvPr/>
        </p:nvSpPr>
        <p:spPr>
          <a:xfrm>
            <a:off x="6382512" y="3703320"/>
            <a:ext cx="5303520" cy="164592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Replace your carriers. Re-box, relabel or physically handle the parcel. Change Digital Cookie checkout, tracking or the customer experience. Ask for a commitment before the numbers are verified. Show a rate card before we have your data.</a:t>
            </a:r>
            <a:endParaRPr lang="en-US" sz="1300" dirty="0"/>
          </a:p>
        </p:txBody>
      </p:sp>
      <p:sp>
        <p:nvSpPr>
          <p:cNvPr id="24" name="Text 22"/>
          <p:cNvSpPr/>
          <p:nvPr/>
        </p:nvSpPr>
        <p:spPr>
          <a:xfrm>
            <a:off x="329184" y="5623560"/>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Cato figures measured on 45,781 HTL-routed labels and 226 matched parcels. "130x" compares ~2.0M parcels across a six-month season to Cato's ~15,000 a month. Illustrative.</a:t>
            </a:r>
            <a:endParaRPr lang="en-US" sz="1000" dirty="0"/>
          </a:p>
        </p:txBody>
      </p:sp>
      <p:sp>
        <p:nvSpPr>
          <p:cNvPr id="25" name="Text 23"/>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The network behind the price</a:t>
            </a:r>
            <a:endParaRPr lang="en-US" sz="2200" dirty="0"/>
          </a:p>
        </p:txBody>
      </p:sp>
      <p:sp>
        <p:nvSpPr>
          <p:cNvPr id="4" name="Shape 2"/>
          <p:cNvSpPr/>
          <p:nvPr/>
        </p:nvSpPr>
        <p:spPr>
          <a:xfrm>
            <a:off x="329184" y="530352"/>
            <a:ext cx="1645920" cy="36576"/>
          </a:xfrm>
          <a:prstGeom prst="rect">
            <a:avLst/>
          </a:prstGeom>
          <a:solidFill>
            <a:srgbClr val="1B998B"/>
          </a:solidFill>
          <a:ln/>
        </p:spPr>
      </p:sp>
      <p:pic>
        <p:nvPicPr>
          <p:cNvPr id="5" name="Image 0" descr="/workspace/artifacts/imagine_images/gp0Ty.jpg">    </p:cNvPr>
          <p:cNvPicPr>
            <a:picLocks noChangeAspect="1"/>
          </p:cNvPicPr>
          <p:nvPr/>
        </p:nvPicPr>
        <p:blipFill>
          <a:blip r:embed="rId1"/>
          <a:stretch>
            <a:fillRect/>
          </a:stretch>
        </p:blipFill>
        <p:spPr>
          <a:xfrm>
            <a:off x="228600" y="822960"/>
            <a:ext cx="5943600" cy="3794760"/>
          </a:xfrm>
          <a:prstGeom prst="rect">
            <a:avLst/>
          </a:prstGeom>
        </p:spPr>
      </p:pic>
      <p:sp>
        <p:nvSpPr>
          <p:cNvPr id="6" name="Text 3"/>
          <p:cNvSpPr/>
          <p:nvPr/>
        </p:nvSpPr>
        <p:spPr>
          <a:xfrm>
            <a:off x="329184" y="4663440"/>
            <a:ext cx="5760720" cy="457200"/>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Carrier mix: national ground, ground-economy and postal-last-mile coverage, all 50 states.</a:t>
            </a:r>
            <a:endParaRPr lang="en-US" sz="1300" dirty="0"/>
          </a:p>
        </p:txBody>
      </p:sp>
      <p:sp>
        <p:nvSpPr>
          <p:cNvPr id="7" name="Text 4"/>
          <p:cNvSpPr/>
          <p:nvPr/>
        </p:nvSpPr>
        <p:spPr>
          <a:xfrm>
            <a:off x="329184" y="5166360"/>
            <a:ext cx="5760720" cy="411480"/>
          </a:xfrm>
          <a:prstGeom prst="rect">
            <a:avLst/>
          </a:prstGeom>
          <a:noFill/>
          <a:ln/>
        </p:spPr>
        <p:txBody>
          <a:bodyPr wrap="square" lIns="0" tIns="0" rIns="0" bIns="0" rtlCol="0" anchor="ctr"/>
          <a:lstStyle/>
          <a:p>
            <a:pPr indent="0" marL="0">
              <a:buNone/>
            </a:pPr>
            <a:r>
              <a:rPr lang="en-US" sz="1300" dirty="0">
                <a:solidFill>
                  <a:srgbClr val="1B998B"/>
                </a:solidFill>
                <a:latin typeface="Arial" pitchFamily="34" charset="0"/>
                <a:ea typeface="Arial" pitchFamily="34" charset="-122"/>
                <a:cs typeface="Arial" pitchFamily="34" charset="-120"/>
              </a:rPr>
              <a:t>DHL Express international (HTL account) for merchandise and Exchange lanes.</a:t>
            </a:r>
            <a:endParaRPr lang="en-US" sz="1300" dirty="0"/>
          </a:p>
        </p:txBody>
      </p:sp>
      <p:sp>
        <p:nvSpPr>
          <p:cNvPr id="8" name="Shape 5"/>
          <p:cNvSpPr/>
          <p:nvPr/>
        </p:nvSpPr>
        <p:spPr>
          <a:xfrm>
            <a:off x="6355080" y="777240"/>
            <a:ext cx="5440680" cy="914400"/>
          </a:xfrm>
          <a:prstGeom prst="rect">
            <a:avLst/>
          </a:prstGeom>
          <a:solidFill>
            <a:srgbClr val="F4F6F8"/>
          </a:solidFill>
          <a:ln/>
        </p:spPr>
      </p:sp>
      <p:sp>
        <p:nvSpPr>
          <p:cNvPr id="9" name="Shape 6"/>
          <p:cNvSpPr/>
          <p:nvPr/>
        </p:nvSpPr>
        <p:spPr>
          <a:xfrm>
            <a:off x="6355080" y="777240"/>
            <a:ext cx="73152" cy="914400"/>
          </a:xfrm>
          <a:prstGeom prst="rect">
            <a:avLst/>
          </a:prstGeom>
          <a:solidFill>
            <a:srgbClr val="1B998B"/>
          </a:solidFill>
          <a:ln/>
        </p:spPr>
      </p:sp>
      <p:sp>
        <p:nvSpPr>
          <p:cNvPr id="10" name="Text 7"/>
          <p:cNvSpPr/>
          <p:nvPr/>
        </p:nvSpPr>
        <p:spPr>
          <a:xfrm>
            <a:off x="6565392" y="868680"/>
            <a:ext cx="5074920" cy="73152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Efficient Logistics builds and runs the rating integration. HTL owns the relationship, the analysis and the results review.</a:t>
            </a:r>
            <a:endParaRPr lang="en-US" sz="1300" dirty="0"/>
          </a:p>
        </p:txBody>
      </p:sp>
      <p:sp>
        <p:nvSpPr>
          <p:cNvPr id="11" name="Shape 8"/>
          <p:cNvSpPr/>
          <p:nvPr/>
        </p:nvSpPr>
        <p:spPr>
          <a:xfrm>
            <a:off x="6355080" y="1783080"/>
            <a:ext cx="5440680" cy="914400"/>
          </a:xfrm>
          <a:prstGeom prst="rect">
            <a:avLst/>
          </a:prstGeom>
          <a:solidFill>
            <a:srgbClr val="F4F6F8"/>
          </a:solidFill>
          <a:ln/>
        </p:spPr>
      </p:sp>
      <p:sp>
        <p:nvSpPr>
          <p:cNvPr id="12" name="Shape 9"/>
          <p:cNvSpPr/>
          <p:nvPr/>
        </p:nvSpPr>
        <p:spPr>
          <a:xfrm>
            <a:off x="6355080" y="1783080"/>
            <a:ext cx="73152" cy="914400"/>
          </a:xfrm>
          <a:prstGeom prst="rect">
            <a:avLst/>
          </a:prstGeom>
          <a:solidFill>
            <a:srgbClr val="1B998B"/>
          </a:solidFill>
          <a:ln/>
        </p:spPr>
      </p:sp>
      <p:sp>
        <p:nvSpPr>
          <p:cNvPr id="13" name="Text 10"/>
          <p:cNvSpPr/>
          <p:nvPr/>
        </p:nvSpPr>
        <p:spPr>
          <a:xfrm>
            <a:off x="6565392" y="1874520"/>
            <a:ext cx="5074920" cy="73152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98% on-time, 2.5-day average transit across HTL parcel volume (2026).</a:t>
            </a:r>
            <a:endParaRPr lang="en-US" sz="1300" dirty="0"/>
          </a:p>
        </p:txBody>
      </p:sp>
      <p:sp>
        <p:nvSpPr>
          <p:cNvPr id="14" name="Shape 11"/>
          <p:cNvSpPr/>
          <p:nvPr/>
        </p:nvSpPr>
        <p:spPr>
          <a:xfrm>
            <a:off x="6355080" y="2788920"/>
            <a:ext cx="5440680" cy="914400"/>
          </a:xfrm>
          <a:prstGeom prst="rect">
            <a:avLst/>
          </a:prstGeom>
          <a:solidFill>
            <a:srgbClr val="F4F6F8"/>
          </a:solidFill>
          <a:ln/>
        </p:spPr>
      </p:sp>
      <p:sp>
        <p:nvSpPr>
          <p:cNvPr id="15" name="Shape 12"/>
          <p:cNvSpPr/>
          <p:nvPr/>
        </p:nvSpPr>
        <p:spPr>
          <a:xfrm>
            <a:off x="6355080" y="2788920"/>
            <a:ext cx="73152" cy="914400"/>
          </a:xfrm>
          <a:prstGeom prst="rect">
            <a:avLst/>
          </a:prstGeom>
          <a:solidFill>
            <a:srgbClr val="1B998B"/>
          </a:solidFill>
          <a:ln/>
        </p:spPr>
      </p:sp>
      <p:sp>
        <p:nvSpPr>
          <p:cNvPr id="16" name="Text 13"/>
          <p:cNvSpPr/>
          <p:nvPr/>
        </p:nvSpPr>
        <p:spPr>
          <a:xfrm>
            <a:off x="6565392" y="2880360"/>
            <a:ext cx="5074920" cy="73152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Pet-industry parcel and freight experience already on the books, relevant to Patch Pals.</a:t>
            </a:r>
            <a:endParaRPr lang="en-US" sz="1300" dirty="0"/>
          </a:p>
        </p:txBody>
      </p:sp>
      <p:sp>
        <p:nvSpPr>
          <p:cNvPr id="17" name="Shape 14"/>
          <p:cNvSpPr/>
          <p:nvPr/>
        </p:nvSpPr>
        <p:spPr>
          <a:xfrm>
            <a:off x="6355080" y="3794760"/>
            <a:ext cx="5440680" cy="914400"/>
          </a:xfrm>
          <a:prstGeom prst="rect">
            <a:avLst/>
          </a:prstGeom>
          <a:solidFill>
            <a:srgbClr val="F4F6F8"/>
          </a:solidFill>
          <a:ln/>
        </p:spPr>
      </p:sp>
      <p:sp>
        <p:nvSpPr>
          <p:cNvPr id="18" name="Shape 15"/>
          <p:cNvSpPr/>
          <p:nvPr/>
        </p:nvSpPr>
        <p:spPr>
          <a:xfrm>
            <a:off x="6355080" y="3794760"/>
            <a:ext cx="73152" cy="914400"/>
          </a:xfrm>
          <a:prstGeom prst="rect">
            <a:avLst/>
          </a:prstGeom>
          <a:solidFill>
            <a:srgbClr val="1B998B"/>
          </a:solidFill>
          <a:ln/>
        </p:spPr>
      </p:sp>
      <p:sp>
        <p:nvSpPr>
          <p:cNvPr id="19" name="Text 16"/>
          <p:cNvSpPr/>
          <p:nvPr/>
        </p:nvSpPr>
        <p:spPr>
          <a:xfrm>
            <a:off x="6565392" y="3886200"/>
            <a:ext cx="5074920" cy="73152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Live verified reference: Cato Fashions, Charlotte. Other large-retail estimates have been prepared. Cato is the one that has been through the full process.</a:t>
            </a:r>
            <a:endParaRPr lang="en-US" sz="1300" dirty="0"/>
          </a:p>
        </p:txBody>
      </p:sp>
      <p:sp>
        <p:nvSpPr>
          <p:cNvPr id="20" name="Shape 17"/>
          <p:cNvSpPr/>
          <p:nvPr/>
        </p:nvSpPr>
        <p:spPr>
          <a:xfrm>
            <a:off x="6355080" y="4800600"/>
            <a:ext cx="5440680" cy="914400"/>
          </a:xfrm>
          <a:prstGeom prst="rect">
            <a:avLst/>
          </a:prstGeom>
          <a:solidFill>
            <a:srgbClr val="F4F6F8"/>
          </a:solidFill>
          <a:ln/>
        </p:spPr>
      </p:sp>
      <p:sp>
        <p:nvSpPr>
          <p:cNvPr id="21" name="Shape 18"/>
          <p:cNvSpPr/>
          <p:nvPr/>
        </p:nvSpPr>
        <p:spPr>
          <a:xfrm>
            <a:off x="6355080" y="4800600"/>
            <a:ext cx="73152" cy="914400"/>
          </a:xfrm>
          <a:prstGeom prst="rect">
            <a:avLst/>
          </a:prstGeom>
          <a:solidFill>
            <a:srgbClr val="1B998B"/>
          </a:solidFill>
          <a:ln/>
        </p:spPr>
      </p:sp>
      <p:sp>
        <p:nvSpPr>
          <p:cNvPr id="22" name="Text 19"/>
          <p:cNvSpPr/>
          <p:nvPr/>
        </p:nvSpPr>
        <p:spPr>
          <a:xfrm>
            <a:off x="6565392" y="4892040"/>
            <a:ext cx="5074920" cy="73152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HTL HQ, 401 S Graham St, Charlotte. Non-asset 3PL: parcel, LTL, FTL, final mile, warehousing, cold chain. Cato ships live from here, ~15,000 parcels a month.</a:t>
            </a:r>
            <a:endParaRPr lang="en-US" sz="1300" dirty="0"/>
          </a:p>
        </p:txBody>
      </p:sp>
      <p:sp>
        <p:nvSpPr>
          <p:cNvPr id="23" name="Text 20"/>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HTL network figures, Sept 2026. Carrier mix composition is confidential by agreement with the carriers; it is disclosed under NDA during the findings review.</a:t>
            </a:r>
            <a:endParaRPr lang="en-US" sz="1000" dirty="0"/>
          </a:p>
        </p:txBody>
      </p:sp>
      <p:sp>
        <p:nvSpPr>
          <p:cNvPr id="24" name="Text 21"/>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How this would work, in your terms</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No cost to look. No carrier contract touched. Credit sits with a platform partner, not a small business. Every step at your pace.</a:t>
            </a:r>
            <a:endParaRPr lang="en-US" sz="1200" dirty="0"/>
          </a:p>
        </p:txBody>
      </p:sp>
      <p:sp>
        <p:nvSpPr>
          <p:cNvPr id="6" name="Shape 4"/>
          <p:cNvSpPr/>
          <p:nvPr/>
        </p:nvSpPr>
        <p:spPr>
          <a:xfrm>
            <a:off x="256032" y="1024128"/>
            <a:ext cx="3794760" cy="3611880"/>
          </a:xfrm>
          <a:prstGeom prst="rect">
            <a:avLst/>
          </a:prstGeom>
          <a:solidFill>
            <a:srgbClr val="F4F6F8"/>
          </a:solidFill>
          <a:ln/>
        </p:spPr>
      </p:sp>
      <p:sp>
        <p:nvSpPr>
          <p:cNvPr id="7" name="Shape 5"/>
          <p:cNvSpPr/>
          <p:nvPr/>
        </p:nvSpPr>
        <p:spPr>
          <a:xfrm>
            <a:off x="256032" y="1024128"/>
            <a:ext cx="73152" cy="3611880"/>
          </a:xfrm>
          <a:prstGeom prst="rect">
            <a:avLst/>
          </a:prstGeom>
          <a:solidFill>
            <a:srgbClr val="1B998B"/>
          </a:solidFill>
          <a:ln/>
        </p:spPr>
      </p:sp>
      <p:sp>
        <p:nvSpPr>
          <p:cNvPr id="8" name="Text 6"/>
          <p:cNvSpPr/>
          <p:nvPr/>
        </p:nvSpPr>
        <p:spPr>
          <a:xfrm>
            <a:off x="438912" y="1097280"/>
            <a:ext cx="3474720" cy="365760"/>
          </a:xfrm>
          <a:prstGeom prst="rect">
            <a:avLst/>
          </a:prstGeom>
          <a:noFill/>
          <a:ln/>
        </p:spPr>
        <p:txBody>
          <a:bodyPr wrap="square" lIns="0" tIns="0" rIns="0" bIns="0" rtlCol="0" anchor="ctr"/>
          <a:lstStyle/>
          <a:p>
            <a:pPr indent="0" marL="0">
              <a:buNone/>
            </a:pPr>
            <a:r>
              <a:rPr lang="en-US" sz="1100" b="1" dirty="0">
                <a:solidFill>
                  <a:srgbClr val="14213D"/>
                </a:solidFill>
                <a:latin typeface="Arial" pitchFamily="34" charset="0"/>
                <a:ea typeface="Arial" pitchFamily="34" charset="-122"/>
                <a:cs typeface="Arial" pitchFamily="34" charset="-120"/>
              </a:rPr>
              <a:t>WHAT THE ANALYSIS COSTS GIRL SCOUTS</a:t>
            </a:r>
            <a:endParaRPr lang="en-US" sz="1100" dirty="0"/>
          </a:p>
        </p:txBody>
      </p:sp>
      <p:sp>
        <p:nvSpPr>
          <p:cNvPr id="9" name="Text 7"/>
          <p:cNvSpPr/>
          <p:nvPr/>
        </p:nvSpPr>
        <p:spPr>
          <a:xfrm>
            <a:off x="438912" y="1417320"/>
            <a:ext cx="3474720" cy="640080"/>
          </a:xfrm>
          <a:prstGeom prst="rect">
            <a:avLst/>
          </a:prstGeom>
          <a:noFill/>
          <a:ln/>
        </p:spPr>
        <p:txBody>
          <a:bodyPr wrap="square" lIns="0" tIns="0" rIns="0" bIns="0" rtlCol="0" anchor="ctr"/>
          <a:lstStyle/>
          <a:p>
            <a:pPr indent="0" marL="0">
              <a:buNone/>
            </a:pPr>
            <a:r>
              <a:rPr lang="en-US" sz="4800" b="1" dirty="0">
                <a:solidFill>
                  <a:srgbClr val="1B998B"/>
                </a:solidFill>
                <a:latin typeface="Arial" pitchFamily="34" charset="0"/>
                <a:ea typeface="Arial" pitchFamily="34" charset="-122"/>
                <a:cs typeface="Arial" pitchFamily="34" charset="-120"/>
              </a:rPr>
              <a:t>$0</a:t>
            </a:r>
            <a:endParaRPr lang="en-US" sz="4800" dirty="0"/>
          </a:p>
        </p:txBody>
      </p:sp>
      <p:sp>
        <p:nvSpPr>
          <p:cNvPr id="10" name="Text 8"/>
          <p:cNvSpPr/>
          <p:nvPr/>
        </p:nvSpPr>
        <p:spPr>
          <a:xfrm>
            <a:off x="438912" y="2148840"/>
            <a:ext cx="3474720" cy="310896"/>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0   carrier contracts changed</a:t>
            </a:r>
            <a:endParaRPr lang="en-US" sz="1300" dirty="0"/>
          </a:p>
        </p:txBody>
      </p:sp>
      <p:sp>
        <p:nvSpPr>
          <p:cNvPr id="11" name="Text 9"/>
          <p:cNvSpPr/>
          <p:nvPr/>
        </p:nvSpPr>
        <p:spPr>
          <a:xfrm>
            <a:off x="438912" y="2496312"/>
            <a:ext cx="3474720" cy="310896"/>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0   commitments before results</a:t>
            </a:r>
            <a:endParaRPr lang="en-US" sz="1300" dirty="0"/>
          </a:p>
        </p:txBody>
      </p:sp>
      <p:sp>
        <p:nvSpPr>
          <p:cNvPr id="12" name="Text 10"/>
          <p:cNvSpPr/>
          <p:nvPr/>
        </p:nvSpPr>
        <p:spPr>
          <a:xfrm>
            <a:off x="438912" y="2843784"/>
            <a:ext cx="3474720" cy="310896"/>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30 min   of your team's time</a:t>
            </a:r>
            <a:endParaRPr lang="en-US" sz="1300" dirty="0"/>
          </a:p>
        </p:txBody>
      </p:sp>
      <p:sp>
        <p:nvSpPr>
          <p:cNvPr id="13" name="Text 11"/>
          <p:cNvSpPr/>
          <p:nvPr/>
        </p:nvSpPr>
        <p:spPr>
          <a:xfrm>
            <a:off x="438912" y="3191256"/>
            <a:ext cx="3474720" cy="310896"/>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6 mo.   of statements, under NDA</a:t>
            </a:r>
            <a:endParaRPr lang="en-US" sz="1300" dirty="0"/>
          </a:p>
        </p:txBody>
      </p:sp>
      <p:sp>
        <p:nvSpPr>
          <p:cNvPr id="14" name="Text 12"/>
          <p:cNvSpPr/>
          <p:nvPr/>
        </p:nvSpPr>
        <p:spPr>
          <a:xfrm>
            <a:off x="438912" y="3538728"/>
            <a:ext cx="3474720" cy="310896"/>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7-12 days   to measured results</a:t>
            </a:r>
            <a:endParaRPr lang="en-US" sz="1300" dirty="0"/>
          </a:p>
        </p:txBody>
      </p:sp>
      <p:sp>
        <p:nvSpPr>
          <p:cNvPr id="15" name="Text 13"/>
          <p:cNvSpPr/>
          <p:nvPr/>
        </p:nvSpPr>
        <p:spPr>
          <a:xfrm>
            <a:off x="438912" y="3977640"/>
            <a:ext cx="3474720" cy="548640"/>
          </a:xfrm>
          <a:prstGeom prst="rect">
            <a:avLst/>
          </a:prstGeom>
          <a:noFill/>
          <a:ln/>
        </p:spPr>
        <p:txBody>
          <a:bodyPr wrap="square" lIns="0" tIns="0" rIns="0" bIns="0" rtlCol="0" anchor="ctr"/>
          <a:lstStyle/>
          <a:p>
            <a:pPr indent="0" marL="0">
              <a:buNone/>
            </a:pPr>
            <a:r>
              <a:rPr lang="en-US" sz="1100" dirty="0">
                <a:solidFill>
                  <a:srgbClr val="5B6770"/>
                </a:solidFill>
                <a:latin typeface="Arial" pitchFamily="34" charset="0"/>
                <a:ea typeface="Arial" pitchFamily="34" charset="-122"/>
                <a:cs typeface="Arial" pitchFamily="34" charset="-120"/>
              </a:rPr>
              <a:t>If the numbers don't hold, we say so in writing and the file closes. Nothing was signed, nothing was spent.</a:t>
            </a:r>
            <a:endParaRPr lang="en-US" sz="1100" dirty="0"/>
          </a:p>
        </p:txBody>
      </p:sp>
      <p:sp>
        <p:nvSpPr>
          <p:cNvPr id="16" name="Shape 14"/>
          <p:cNvSpPr/>
          <p:nvPr/>
        </p:nvSpPr>
        <p:spPr>
          <a:xfrm>
            <a:off x="4160520" y="1024128"/>
            <a:ext cx="3977640" cy="1042416"/>
          </a:xfrm>
          <a:prstGeom prst="rect">
            <a:avLst/>
          </a:prstGeom>
          <a:solidFill>
            <a:srgbClr val="FFFFFF"/>
          </a:solidFill>
          <a:ln w="15875">
            <a:solidFill>
              <a:srgbClr val="14213D"/>
            </a:solidFill>
            <a:prstDash val="solid"/>
          </a:ln>
        </p:spPr>
      </p:sp>
      <p:sp>
        <p:nvSpPr>
          <p:cNvPr id="17" name="Text 15"/>
          <p:cNvSpPr/>
          <p:nvPr/>
        </p:nvSpPr>
        <p:spPr>
          <a:xfrm>
            <a:off x="4279392" y="1060704"/>
            <a:ext cx="3749040" cy="201168"/>
          </a:xfrm>
          <a:prstGeom prst="rect">
            <a:avLst/>
          </a:prstGeom>
          <a:noFill/>
          <a:ln/>
        </p:spPr>
        <p:txBody>
          <a:bodyPr wrap="square" lIns="0" tIns="0" rIns="0" bIns="0" rtlCol="0" anchor="ctr"/>
          <a:lstStyle/>
          <a:p>
            <a:pPr indent="0" marL="0">
              <a:buNone/>
            </a:pPr>
            <a:r>
              <a:rPr lang="en-US" sz="1000" b="1" dirty="0">
                <a:solidFill>
                  <a:srgbClr val="14213D"/>
                </a:solidFill>
                <a:latin typeface="Arial" pitchFamily="34" charset="0"/>
                <a:ea typeface="Arial" pitchFamily="34" charset="-122"/>
                <a:cs typeface="Arial" pitchFamily="34" charset="-120"/>
              </a:rPr>
              <a:t>GIRL SCOUTS OF THE USA</a:t>
            </a:r>
            <a:endParaRPr lang="en-US" sz="1000" dirty="0"/>
          </a:p>
        </p:txBody>
      </p:sp>
      <p:sp>
        <p:nvSpPr>
          <p:cNvPr id="18" name="Text 16"/>
          <p:cNvSpPr/>
          <p:nvPr/>
        </p:nvSpPr>
        <p:spPr>
          <a:xfrm>
            <a:off x="4279392" y="1261872"/>
            <a:ext cx="3749040" cy="749808"/>
          </a:xfrm>
          <a:prstGeom prst="rect">
            <a:avLst/>
          </a:prstGeom>
          <a:noFill/>
          <a:ln/>
        </p:spPr>
        <p:txBody>
          <a:bodyPr wrap="square" lIns="0" tIns="0" rIns="0" bIns="0" rtlCol="0" anchor="ctr"/>
          <a:lstStyle/>
          <a:p>
            <a:pPr indent="0" marL="0">
              <a:buNone/>
            </a:pPr>
            <a:r>
              <a:rPr lang="en-US" sz="1000" dirty="0">
                <a:solidFill>
                  <a:srgbClr val="1F2A37"/>
                </a:solidFill>
                <a:latin typeface="Arial" pitchFamily="34" charset="0"/>
                <a:ea typeface="Arial" pitchFamily="34" charset="-122"/>
                <a:cs typeface="Arial" pitchFamily="34" charset="-120"/>
              </a:rPr>
              <a:t>Keeps every carrier account, checkout and tracking it has today. Signs one agreement, receives one invoice, holds approval at every step.</a:t>
            </a:r>
            <a:endParaRPr lang="en-US" sz="1000" dirty="0"/>
          </a:p>
        </p:txBody>
      </p:sp>
      <p:sp>
        <p:nvSpPr>
          <p:cNvPr id="19" name="Shape 17"/>
          <p:cNvSpPr/>
          <p:nvPr/>
        </p:nvSpPr>
        <p:spPr>
          <a:xfrm>
            <a:off x="4160520" y="2139696"/>
            <a:ext cx="3977640" cy="1042416"/>
          </a:xfrm>
          <a:prstGeom prst="rect">
            <a:avLst/>
          </a:prstGeom>
          <a:solidFill>
            <a:srgbClr val="FFFFFF"/>
          </a:solidFill>
          <a:ln w="15875">
            <a:solidFill>
              <a:srgbClr val="1B998B"/>
            </a:solidFill>
            <a:prstDash val="solid"/>
          </a:ln>
        </p:spPr>
      </p:sp>
      <p:sp>
        <p:nvSpPr>
          <p:cNvPr id="20" name="Text 18"/>
          <p:cNvSpPr/>
          <p:nvPr/>
        </p:nvSpPr>
        <p:spPr>
          <a:xfrm>
            <a:off x="4279392" y="2176272"/>
            <a:ext cx="3749040" cy="201168"/>
          </a:xfrm>
          <a:prstGeom prst="rect">
            <a:avLst/>
          </a:prstGeom>
          <a:noFill/>
          <a:ln/>
        </p:spPr>
        <p:txBody>
          <a:bodyPr wrap="square" lIns="0" tIns="0" rIns="0" bIns="0" rtlCol="0" anchor="ctr"/>
          <a:lstStyle/>
          <a:p>
            <a:pPr indent="0" marL="0">
              <a:buNone/>
            </a:pPr>
            <a:r>
              <a:rPr lang="en-US" sz="1000" b="1" dirty="0">
                <a:solidFill>
                  <a:srgbClr val="1B998B"/>
                </a:solidFill>
                <a:latin typeface="Arial" pitchFamily="34" charset="0"/>
                <a:ea typeface="Arial" pitchFamily="34" charset="-122"/>
                <a:cs typeface="Arial" pitchFamily="34" charset="-120"/>
              </a:rPr>
              <a:t>EFFICIENT LOGISTICS, INC.</a:t>
            </a:r>
            <a:endParaRPr lang="en-US" sz="1000" dirty="0"/>
          </a:p>
        </p:txBody>
      </p:sp>
      <p:sp>
        <p:nvSpPr>
          <p:cNvPr id="21" name="Text 19"/>
          <p:cNvSpPr/>
          <p:nvPr/>
        </p:nvSpPr>
        <p:spPr>
          <a:xfrm>
            <a:off x="4279392" y="2377440"/>
            <a:ext cx="3749040" cy="749808"/>
          </a:xfrm>
          <a:prstGeom prst="rect">
            <a:avLst/>
          </a:prstGeom>
          <a:noFill/>
          <a:ln/>
        </p:spPr>
        <p:txBody>
          <a:bodyPr wrap="square" lIns="0" tIns="0" rIns="0" bIns="0" rtlCol="0" anchor="ctr"/>
          <a:lstStyle/>
          <a:p>
            <a:pPr indent="0" marL="0">
              <a:buNone/>
            </a:pPr>
            <a:r>
              <a:rPr lang="en-US" sz="1000" dirty="0">
                <a:solidFill>
                  <a:srgbClr val="1F2A37"/>
                </a:solidFill>
                <a:latin typeface="Arial" pitchFamily="34" charset="0"/>
                <a:ea typeface="Arial" pitchFamily="34" charset="-122"/>
                <a:cs typeface="Arial" pitchFamily="34" charset="-120"/>
              </a:rPr>
              <a:t>The contracting party. Holds the carrier contracts and the rating platform, issues the consolidated invoice, extends the credit terms. Established credit line set at onboarding; the same structure runs Cato Fashions today.</a:t>
            </a:r>
            <a:endParaRPr lang="en-US" sz="1000" dirty="0"/>
          </a:p>
        </p:txBody>
      </p:sp>
      <p:sp>
        <p:nvSpPr>
          <p:cNvPr id="22" name="Shape 20"/>
          <p:cNvSpPr/>
          <p:nvPr/>
        </p:nvSpPr>
        <p:spPr>
          <a:xfrm>
            <a:off x="4160520" y="3255264"/>
            <a:ext cx="3977640" cy="1042416"/>
          </a:xfrm>
          <a:prstGeom prst="rect">
            <a:avLst/>
          </a:prstGeom>
          <a:solidFill>
            <a:srgbClr val="FFFFFF"/>
          </a:solidFill>
          <a:ln w="15875">
            <a:solidFill>
              <a:srgbClr val="14213D"/>
            </a:solidFill>
            <a:prstDash val="solid"/>
          </a:ln>
        </p:spPr>
      </p:sp>
      <p:sp>
        <p:nvSpPr>
          <p:cNvPr id="23" name="Text 21"/>
          <p:cNvSpPr/>
          <p:nvPr/>
        </p:nvSpPr>
        <p:spPr>
          <a:xfrm>
            <a:off x="4279392" y="3291840"/>
            <a:ext cx="3749040" cy="201168"/>
          </a:xfrm>
          <a:prstGeom prst="rect">
            <a:avLst/>
          </a:prstGeom>
          <a:noFill/>
          <a:ln/>
        </p:spPr>
        <p:txBody>
          <a:bodyPr wrap="square" lIns="0" tIns="0" rIns="0" bIns="0" rtlCol="0" anchor="ctr"/>
          <a:lstStyle/>
          <a:p>
            <a:pPr indent="0" marL="0">
              <a:buNone/>
            </a:pPr>
            <a:r>
              <a:rPr lang="en-US" sz="1000" b="1" dirty="0">
                <a:solidFill>
                  <a:srgbClr val="14213D"/>
                </a:solidFill>
                <a:latin typeface="Arial" pitchFamily="34" charset="0"/>
                <a:ea typeface="Arial" pitchFamily="34" charset="-122"/>
                <a:cs typeface="Arial" pitchFamily="34" charset="-120"/>
              </a:rPr>
              <a:t>HASSAN TRANSPORTATION &amp; LOGISTICS</a:t>
            </a:r>
            <a:endParaRPr lang="en-US" sz="1000" dirty="0"/>
          </a:p>
        </p:txBody>
      </p:sp>
      <p:sp>
        <p:nvSpPr>
          <p:cNvPr id="24" name="Text 22"/>
          <p:cNvSpPr/>
          <p:nvPr/>
        </p:nvSpPr>
        <p:spPr>
          <a:xfrm>
            <a:off x="4279392" y="3493008"/>
            <a:ext cx="3749040" cy="749808"/>
          </a:xfrm>
          <a:prstGeom prst="rect">
            <a:avLst/>
          </a:prstGeom>
          <a:noFill/>
          <a:ln/>
        </p:spPr>
        <p:txBody>
          <a:bodyPr wrap="square" lIns="0" tIns="0" rIns="0" bIns="0" rtlCol="0" anchor="ctr"/>
          <a:lstStyle/>
          <a:p>
            <a:pPr indent="0" marL="0">
              <a:buNone/>
            </a:pPr>
            <a:r>
              <a:rPr lang="en-US" sz="1000" dirty="0">
                <a:solidFill>
                  <a:srgbClr val="1F2A37"/>
                </a:solidFill>
                <a:latin typeface="Arial" pitchFamily="34" charset="0"/>
                <a:ea typeface="Arial" pitchFamily="34" charset="-122"/>
                <a:cs typeface="Arial" pitchFamily="34" charset="-120"/>
              </a:rPr>
              <a:t>The relationship and the analysis. Runs the six-month re-rate, presents the findings, manages the account. Not in the payment chain: no credit exposure to a small business.</a:t>
            </a:r>
            <a:endParaRPr lang="en-US" sz="1000" dirty="0"/>
          </a:p>
        </p:txBody>
      </p:sp>
      <p:sp>
        <p:nvSpPr>
          <p:cNvPr id="25" name="Text 23"/>
          <p:cNvSpPr/>
          <p:nvPr/>
        </p:nvSpPr>
        <p:spPr>
          <a:xfrm>
            <a:off x="4160520" y="4389120"/>
            <a:ext cx="3977640" cy="256032"/>
          </a:xfrm>
          <a:prstGeom prst="rect">
            <a:avLst/>
          </a:prstGeom>
          <a:noFill/>
          <a:ln/>
        </p:spPr>
        <p:txBody>
          <a:bodyPr wrap="square" lIns="0" tIns="0" rIns="0" bIns="0" rtlCol="0" anchor="ctr"/>
          <a:lstStyle/>
          <a:p>
            <a:pPr indent="0" marL="0">
              <a:buNone/>
            </a:pPr>
            <a:r>
              <a:rPr lang="en-US" sz="1000" i="1" dirty="0">
                <a:solidFill>
                  <a:srgbClr val="5B6770"/>
                </a:solidFill>
                <a:latin typeface="Arial" pitchFamily="34" charset="0"/>
                <a:ea typeface="Arial" pitchFamily="34" charset="-122"/>
                <a:cs typeface="Arial" pitchFamily="34" charset="-120"/>
              </a:rPr>
              <a:t>UPS, FedEx, USPS still pick up and deliver every parcel. Nothing about the doorstep changes.</a:t>
            </a:r>
            <a:endParaRPr lang="en-US" sz="1000" dirty="0"/>
          </a:p>
        </p:txBody>
      </p:sp>
      <p:sp>
        <p:nvSpPr>
          <p:cNvPr id="26" name="Text 24"/>
          <p:cNvSpPr/>
          <p:nvPr/>
        </p:nvSpPr>
        <p:spPr>
          <a:xfrm>
            <a:off x="8275320" y="1024128"/>
            <a:ext cx="3611880" cy="201168"/>
          </a:xfrm>
          <a:prstGeom prst="rect">
            <a:avLst/>
          </a:prstGeom>
          <a:noFill/>
          <a:ln/>
        </p:spPr>
        <p:txBody>
          <a:bodyPr wrap="square" lIns="0" tIns="0" rIns="0" bIns="0" rtlCol="0" anchor="ctr"/>
          <a:lstStyle/>
          <a:p>
            <a:pPr indent="0" marL="0">
              <a:buNone/>
            </a:pPr>
            <a:r>
              <a:rPr lang="en-US" sz="1100" b="1" dirty="0">
                <a:solidFill>
                  <a:srgbClr val="14213D"/>
                </a:solidFill>
                <a:latin typeface="Arial" pitchFamily="34" charset="0"/>
                <a:ea typeface="Arial" pitchFamily="34" charset="-122"/>
                <a:cs typeface="Arial" pitchFamily="34" charset="-120"/>
              </a:rPr>
              <a:t>AT YOUR PACE</a:t>
            </a:r>
            <a:endParaRPr lang="en-US" sz="1100" dirty="0"/>
          </a:p>
        </p:txBody>
      </p:sp>
      <p:sp>
        <p:nvSpPr>
          <p:cNvPr id="27" name="Shape 25"/>
          <p:cNvSpPr/>
          <p:nvPr/>
        </p:nvSpPr>
        <p:spPr>
          <a:xfrm>
            <a:off x="8275320" y="1280160"/>
            <a:ext cx="292608" cy="292608"/>
          </a:xfrm>
          <a:prstGeom prst="ellipse">
            <a:avLst/>
          </a:prstGeom>
          <a:solidFill>
            <a:srgbClr val="1B998B"/>
          </a:solidFill>
          <a:ln/>
        </p:spPr>
      </p:sp>
      <p:sp>
        <p:nvSpPr>
          <p:cNvPr id="28" name="Text 26"/>
          <p:cNvSpPr/>
          <p:nvPr/>
        </p:nvSpPr>
        <p:spPr>
          <a:xfrm>
            <a:off x="8275320" y="1316736"/>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9" name="Text 27"/>
          <p:cNvSpPr/>
          <p:nvPr/>
        </p:nvSpPr>
        <p:spPr>
          <a:xfrm>
            <a:off x="8641080" y="1280160"/>
            <a:ext cx="3200400" cy="475488"/>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Data under NDA</a:t>
            </a:r>
            <a:endParaRPr lang="en-US" sz="1100" dirty="0"/>
          </a:p>
        </p:txBody>
      </p:sp>
      <p:sp>
        <p:nvSpPr>
          <p:cNvPr id="30" name="Shape 28"/>
          <p:cNvSpPr/>
          <p:nvPr/>
        </p:nvSpPr>
        <p:spPr>
          <a:xfrm>
            <a:off x="8275320" y="1810512"/>
            <a:ext cx="292608" cy="292608"/>
          </a:xfrm>
          <a:prstGeom prst="ellipse">
            <a:avLst/>
          </a:prstGeom>
          <a:solidFill>
            <a:srgbClr val="1B998B"/>
          </a:solidFill>
          <a:ln/>
        </p:spPr>
      </p:sp>
      <p:sp>
        <p:nvSpPr>
          <p:cNvPr id="31" name="Text 29"/>
          <p:cNvSpPr/>
          <p:nvPr/>
        </p:nvSpPr>
        <p:spPr>
          <a:xfrm>
            <a:off x="8275320" y="1847088"/>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2" name="Text 30"/>
          <p:cNvSpPr/>
          <p:nvPr/>
        </p:nvSpPr>
        <p:spPr>
          <a:xfrm>
            <a:off x="8641080" y="1810512"/>
            <a:ext cx="3200400" cy="475488"/>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Findings in 7 to 12 days</a:t>
            </a:r>
            <a:endParaRPr lang="en-US" sz="1100" dirty="0"/>
          </a:p>
        </p:txBody>
      </p:sp>
      <p:sp>
        <p:nvSpPr>
          <p:cNvPr id="33" name="Shape 31"/>
          <p:cNvSpPr/>
          <p:nvPr/>
        </p:nvSpPr>
        <p:spPr>
          <a:xfrm>
            <a:off x="8275320" y="2340864"/>
            <a:ext cx="292608" cy="292608"/>
          </a:xfrm>
          <a:prstGeom prst="ellipse">
            <a:avLst/>
          </a:prstGeom>
          <a:solidFill>
            <a:srgbClr val="1B998B"/>
          </a:solidFill>
          <a:ln/>
        </p:spPr>
      </p:sp>
      <p:sp>
        <p:nvSpPr>
          <p:cNvPr id="34" name="Text 32"/>
          <p:cNvSpPr/>
          <p:nvPr/>
        </p:nvSpPr>
        <p:spPr>
          <a:xfrm>
            <a:off x="8275320" y="2377440"/>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5" name="Text 33"/>
          <p:cNvSpPr/>
          <p:nvPr/>
        </p:nvSpPr>
        <p:spPr>
          <a:xfrm>
            <a:off x="8641080" y="2340864"/>
            <a:ext cx="3200400" cy="475488"/>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Your decision. Zoom or in person in New York. Shelve it, or ask for the next step.</a:t>
            </a:r>
            <a:endParaRPr lang="en-US" sz="1100" dirty="0"/>
          </a:p>
        </p:txBody>
      </p:sp>
      <p:sp>
        <p:nvSpPr>
          <p:cNvPr id="36" name="Shape 34"/>
          <p:cNvSpPr/>
          <p:nvPr/>
        </p:nvSpPr>
        <p:spPr>
          <a:xfrm>
            <a:off x="8275320" y="2871216"/>
            <a:ext cx="292608" cy="292608"/>
          </a:xfrm>
          <a:prstGeom prst="ellipse">
            <a:avLst/>
          </a:prstGeom>
          <a:solidFill>
            <a:srgbClr val="14213D"/>
          </a:solidFill>
          <a:ln/>
        </p:spPr>
      </p:sp>
      <p:sp>
        <p:nvSpPr>
          <p:cNvPr id="37" name="Text 35"/>
          <p:cNvSpPr/>
          <p:nvPr/>
        </p:nvSpPr>
        <p:spPr>
          <a:xfrm>
            <a:off x="8275320" y="2907792"/>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8" name="Text 36"/>
          <p:cNvSpPr/>
          <p:nvPr/>
        </p:nvSpPr>
        <p:spPr>
          <a:xfrm>
            <a:off x="8641080" y="2871216"/>
            <a:ext cx="3200400" cy="475488"/>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Pilot at 25% of volume. One contract with Efficient. Your carriers unchanged.</a:t>
            </a:r>
            <a:endParaRPr lang="en-US" sz="1100" dirty="0"/>
          </a:p>
        </p:txBody>
      </p:sp>
      <p:sp>
        <p:nvSpPr>
          <p:cNvPr id="39" name="Shape 37"/>
          <p:cNvSpPr/>
          <p:nvPr/>
        </p:nvSpPr>
        <p:spPr>
          <a:xfrm>
            <a:off x="8275320" y="3401568"/>
            <a:ext cx="292608" cy="292608"/>
          </a:xfrm>
          <a:prstGeom prst="ellipse">
            <a:avLst/>
          </a:prstGeom>
          <a:solidFill>
            <a:srgbClr val="14213D"/>
          </a:solidFill>
          <a:ln/>
        </p:spPr>
      </p:sp>
      <p:sp>
        <p:nvSpPr>
          <p:cNvPr id="40" name="Text 38"/>
          <p:cNvSpPr/>
          <p:nvPr/>
        </p:nvSpPr>
        <p:spPr>
          <a:xfrm>
            <a:off x="8275320" y="3438144"/>
            <a:ext cx="292608"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41" name="Text 39"/>
          <p:cNvSpPr/>
          <p:nvPr/>
        </p:nvSpPr>
        <p:spPr>
          <a:xfrm>
            <a:off x="8641080" y="3401568"/>
            <a:ext cx="3200400" cy="475488"/>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Scale on results, not promises.</a:t>
            </a:r>
            <a:endParaRPr lang="en-US" sz="1100" dirty="0"/>
          </a:p>
        </p:txBody>
      </p:sp>
      <p:sp>
        <p:nvSpPr>
          <p:cNvPr id="42" name="Text 40"/>
          <p:cNvSpPr/>
          <p:nvPr/>
        </p:nvSpPr>
        <p:spPr>
          <a:xfrm>
            <a:off x="8275320" y="4023360"/>
            <a:ext cx="3611880" cy="457200"/>
          </a:xfrm>
          <a:prstGeom prst="rect">
            <a:avLst/>
          </a:prstGeom>
          <a:noFill/>
          <a:ln/>
        </p:spPr>
        <p:txBody>
          <a:bodyPr wrap="square" lIns="0" tIns="0" rIns="0" bIns="0" rtlCol="0" anchor="ctr"/>
          <a:lstStyle/>
          <a:p>
            <a:pPr indent="0" marL="0">
              <a:buNone/>
            </a:pPr>
            <a:r>
              <a:rPr lang="en-US" sz="1300" b="1" dirty="0">
                <a:solidFill>
                  <a:srgbClr val="1B998B"/>
                </a:solidFill>
                <a:latin typeface="Arial" pitchFamily="34" charset="0"/>
                <a:ea typeface="Arial" pitchFamily="34" charset="-122"/>
                <a:cs typeface="Arial" pitchFamily="34" charset="-120"/>
              </a:rPr>
              <a:t>Steps 1-3 cost nothing. Steps 4-5 only if you ask.</a:t>
            </a:r>
            <a:endParaRPr lang="en-US" sz="1300" dirty="0"/>
          </a:p>
        </p:txBody>
      </p:sp>
      <p:sp>
        <p:nvSpPr>
          <p:cNvPr id="43" name="Shape 41"/>
          <p:cNvSpPr/>
          <p:nvPr/>
        </p:nvSpPr>
        <p:spPr>
          <a:xfrm>
            <a:off x="0" y="4773168"/>
            <a:ext cx="12191695" cy="1298448"/>
          </a:xfrm>
          <a:prstGeom prst="rect">
            <a:avLst/>
          </a:prstGeom>
          <a:solidFill>
            <a:srgbClr val="14213D"/>
          </a:solidFill>
          <a:ln/>
        </p:spPr>
      </p:sp>
      <p:sp>
        <p:nvSpPr>
          <p:cNvPr id="44" name="Text 42"/>
          <p:cNvSpPr/>
          <p:nvPr/>
        </p:nvSpPr>
        <p:spPr>
          <a:xfrm>
            <a:off x="256032" y="4846320"/>
            <a:ext cx="2834640" cy="347472"/>
          </a:xfrm>
          <a:prstGeom prst="rect">
            <a:avLst/>
          </a:prstGeom>
          <a:noFill/>
          <a:ln/>
        </p:spPr>
        <p:txBody>
          <a:bodyPr wrap="square" lIns="0" tIns="0" rIns="0" bIns="0" rtlCol="0" anchor="ctr"/>
          <a:lstStyle/>
          <a:p>
            <a:pPr indent="0" marL="0">
              <a:buNone/>
            </a:pPr>
            <a:r>
              <a:rPr lang="en-US" sz="1600" b="1" dirty="0">
                <a:solidFill>
                  <a:srgbClr val="7DCDC2"/>
                </a:solidFill>
                <a:latin typeface="Arial" pitchFamily="34" charset="0"/>
                <a:ea typeface="Arial" pitchFamily="34" charset="-122"/>
                <a:cs typeface="Arial" pitchFamily="34" charset="-120"/>
              </a:rPr>
              <a:t>$4.2M to $6.7M</a:t>
            </a:r>
            <a:endParaRPr lang="en-US" sz="1600" dirty="0"/>
          </a:p>
        </p:txBody>
      </p:sp>
      <p:sp>
        <p:nvSpPr>
          <p:cNvPr id="45" name="Text 43"/>
          <p:cNvSpPr/>
          <p:nvPr/>
        </p:nvSpPr>
        <p:spPr>
          <a:xfrm>
            <a:off x="256032" y="5212080"/>
            <a:ext cx="2834640" cy="731520"/>
          </a:xfrm>
          <a:prstGeom prst="rect">
            <a:avLst/>
          </a:prstGeom>
          <a:noFill/>
          <a:ln/>
        </p:spPr>
        <p:txBody>
          <a:bodyPr wrap="square" lIns="0" tIns="0" rIns="0" bIns="0" rtlCol="0" anchor="ctr"/>
          <a:lstStyle/>
          <a:p>
            <a:pPr indent="0" marL="0">
              <a:buNone/>
            </a:pPr>
            <a:r>
              <a:rPr lang="en-US" sz="1100" dirty="0">
                <a:solidFill>
                  <a:srgbClr val="D5DEE6"/>
                </a:solidFill>
                <a:latin typeface="Arial" pitchFamily="34" charset="0"/>
                <a:ea typeface="Arial" pitchFamily="34" charset="-122"/>
                <a:cs typeface="Arial" pitchFamily="34" charset="-120"/>
              </a:rPr>
              <a:t>estimated back to the program per season, after average carrier charges and fees</a:t>
            </a:r>
            <a:endParaRPr lang="en-US" sz="1100" dirty="0"/>
          </a:p>
        </p:txBody>
      </p:sp>
      <p:sp>
        <p:nvSpPr>
          <p:cNvPr id="46" name="Text 44"/>
          <p:cNvSpPr/>
          <p:nvPr/>
        </p:nvSpPr>
        <p:spPr>
          <a:xfrm>
            <a:off x="3227832" y="4846320"/>
            <a:ext cx="2834640" cy="347472"/>
          </a:xfrm>
          <a:prstGeom prst="rect">
            <a:avLst/>
          </a:prstGeom>
          <a:noFill/>
          <a:ln/>
        </p:spPr>
        <p:txBody>
          <a:bodyPr wrap="square" lIns="0" tIns="0" rIns="0" bIns="0" rtlCol="0" anchor="ctr"/>
          <a:lstStyle/>
          <a:p>
            <a:pPr indent="0" marL="0">
              <a:buNone/>
            </a:pPr>
            <a:r>
              <a:rPr lang="en-US" sz="1600" b="1" dirty="0">
                <a:solidFill>
                  <a:srgbClr val="7DCDC2"/>
                </a:solidFill>
                <a:latin typeface="Arial" pitchFamily="34" charset="0"/>
                <a:ea typeface="Arial" pitchFamily="34" charset="-122"/>
                <a:cs typeface="Arial" pitchFamily="34" charset="-120"/>
              </a:rPr>
              <a:t>$2.5M</a:t>
            </a:r>
            <a:endParaRPr lang="en-US" sz="1600" dirty="0"/>
          </a:p>
        </p:txBody>
      </p:sp>
      <p:sp>
        <p:nvSpPr>
          <p:cNvPr id="47" name="Text 45"/>
          <p:cNvSpPr/>
          <p:nvPr/>
        </p:nvSpPr>
        <p:spPr>
          <a:xfrm>
            <a:off x="3227832" y="5212080"/>
            <a:ext cx="2834640" cy="731520"/>
          </a:xfrm>
          <a:prstGeom prst="rect">
            <a:avLst/>
          </a:prstGeom>
          <a:noFill/>
          <a:ln/>
        </p:spPr>
        <p:txBody>
          <a:bodyPr wrap="square" lIns="0" tIns="0" rIns="0" bIns="0" rtlCol="0" anchor="ctr"/>
          <a:lstStyle/>
          <a:p>
            <a:pPr indent="0" marL="0">
              <a:buNone/>
            </a:pPr>
            <a:r>
              <a:rPr lang="en-US" sz="1100" dirty="0">
                <a:solidFill>
                  <a:srgbClr val="D5DEE6"/>
                </a:solidFill>
                <a:latin typeface="Arial" pitchFamily="34" charset="0"/>
                <a:ea typeface="Arial" pitchFamily="34" charset="-122"/>
                <a:cs typeface="Arial" pitchFamily="34" charset="-120"/>
              </a:rPr>
              <a:t>GSUSA already pays UPS directly (FY2023 Form 990), so the data exists in-house</a:t>
            </a:r>
            <a:endParaRPr lang="en-US" sz="1100" dirty="0"/>
          </a:p>
        </p:txBody>
      </p:sp>
      <p:sp>
        <p:nvSpPr>
          <p:cNvPr id="48" name="Text 46"/>
          <p:cNvSpPr/>
          <p:nvPr/>
        </p:nvSpPr>
        <p:spPr>
          <a:xfrm>
            <a:off x="6199632" y="4846320"/>
            <a:ext cx="2834640" cy="347472"/>
          </a:xfrm>
          <a:prstGeom prst="rect">
            <a:avLst/>
          </a:prstGeom>
          <a:noFill/>
          <a:ln/>
        </p:spPr>
        <p:txBody>
          <a:bodyPr wrap="square" lIns="0" tIns="0" rIns="0" bIns="0" rtlCol="0" anchor="ctr"/>
          <a:lstStyle/>
          <a:p>
            <a:pPr indent="0" marL="0">
              <a:buNone/>
            </a:pPr>
            <a:r>
              <a:rPr lang="en-US" sz="1600" b="1" dirty="0">
                <a:solidFill>
                  <a:srgbClr val="E7A0A8"/>
                </a:solidFill>
                <a:latin typeface="Arial" pitchFamily="34" charset="0"/>
                <a:ea typeface="Arial" pitchFamily="34" charset="-122"/>
                <a:cs typeface="Arial" pitchFamily="34" charset="-120"/>
              </a:rPr>
              <a:t>Nov 5</a:t>
            </a:r>
            <a:endParaRPr lang="en-US" sz="1600" dirty="0"/>
          </a:p>
        </p:txBody>
      </p:sp>
      <p:sp>
        <p:nvSpPr>
          <p:cNvPr id="49" name="Text 47"/>
          <p:cNvSpPr/>
          <p:nvPr/>
        </p:nvSpPr>
        <p:spPr>
          <a:xfrm>
            <a:off x="6199632" y="5212080"/>
            <a:ext cx="2834640" cy="731520"/>
          </a:xfrm>
          <a:prstGeom prst="rect">
            <a:avLst/>
          </a:prstGeom>
          <a:noFill/>
          <a:ln/>
        </p:spPr>
        <p:txBody>
          <a:bodyPr wrap="square" lIns="0" tIns="0" rIns="0" bIns="0" rtlCol="0" anchor="ctr"/>
          <a:lstStyle/>
          <a:p>
            <a:pPr indent="0" marL="0">
              <a:buNone/>
            </a:pPr>
            <a:r>
              <a:rPr lang="en-US" sz="1100" dirty="0">
                <a:solidFill>
                  <a:srgbClr val="D5DEE6"/>
                </a:solidFill>
                <a:latin typeface="Arial" pitchFamily="34" charset="0"/>
                <a:ea typeface="Arial" pitchFamily="34" charset="-122"/>
                <a:cs typeface="Arial" pitchFamily="34" charset="-120"/>
              </a:rPr>
              <a:t>rates must be in place to apply to the 2027 cookie season; after that it is the 2028 season</a:t>
            </a:r>
            <a:endParaRPr lang="en-US" sz="1100" dirty="0"/>
          </a:p>
        </p:txBody>
      </p:sp>
      <p:sp>
        <p:nvSpPr>
          <p:cNvPr id="50" name="Text 48"/>
          <p:cNvSpPr/>
          <p:nvPr/>
        </p:nvSpPr>
        <p:spPr>
          <a:xfrm>
            <a:off x="9171432" y="4846320"/>
            <a:ext cx="2834640" cy="347472"/>
          </a:xfrm>
          <a:prstGeom prst="rect">
            <a:avLst/>
          </a:prstGeom>
          <a:noFill/>
          <a:ln/>
        </p:spPr>
        <p:txBody>
          <a:bodyPr wrap="square" lIns="0" tIns="0" rIns="0" bIns="0" rtlCol="0" anchor="ctr"/>
          <a:lstStyle/>
          <a:p>
            <a:pPr indent="0" marL="0">
              <a:buNone/>
            </a:pPr>
            <a:r>
              <a:rPr lang="en-US" sz="1600" b="1" dirty="0">
                <a:solidFill>
                  <a:srgbClr val="7DCDC2"/>
                </a:solidFill>
                <a:latin typeface="Arial" pitchFamily="34" charset="0"/>
                <a:ea typeface="Arial" pitchFamily="34" charset="-122"/>
                <a:cs typeface="Arial" pitchFamily="34" charset="-120"/>
              </a:rPr>
              <a:t>$0 / 30 min</a:t>
            </a:r>
            <a:endParaRPr lang="en-US" sz="1600" dirty="0"/>
          </a:p>
        </p:txBody>
      </p:sp>
      <p:sp>
        <p:nvSpPr>
          <p:cNvPr id="51" name="Text 49"/>
          <p:cNvSpPr/>
          <p:nvPr/>
        </p:nvSpPr>
        <p:spPr>
          <a:xfrm>
            <a:off x="9171432" y="5212080"/>
            <a:ext cx="2834640" cy="731520"/>
          </a:xfrm>
          <a:prstGeom prst="rect">
            <a:avLst/>
          </a:prstGeom>
          <a:noFill/>
          <a:ln/>
        </p:spPr>
        <p:txBody>
          <a:bodyPr wrap="square" lIns="0" tIns="0" rIns="0" bIns="0" rtlCol="0" anchor="ctr"/>
          <a:lstStyle/>
          <a:p>
            <a:pPr indent="0" marL="0">
              <a:buNone/>
            </a:pPr>
            <a:r>
              <a:rPr lang="en-US" sz="1100" dirty="0">
                <a:solidFill>
                  <a:srgbClr val="D5DEE6"/>
                </a:solidFill>
                <a:latin typeface="Arial" pitchFamily="34" charset="0"/>
                <a:ea typeface="Arial" pitchFamily="34" charset="-122"/>
                <a:cs typeface="Arial" pitchFamily="34" charset="-120"/>
              </a:rPr>
              <a:t>the entire cost of finding out whether the number above is real</a:t>
            </a:r>
            <a:endParaRPr lang="en-US" sz="1100" dirty="0"/>
          </a:p>
        </p:txBody>
      </p:sp>
      <p:sp>
        <p:nvSpPr>
          <p:cNvPr id="52" name="Text 50"/>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Efficient Logistics, Inc. is a Delaware corporation and HTL's technology and billing partner. Credit terms are set with Efficient at onboarding. Estimates, not a quote.</a:t>
            </a:r>
            <a:endParaRPr lang="en-US" sz="1000" dirty="0"/>
          </a:p>
        </p:txBody>
      </p:sp>
      <p:sp>
        <p:nvSpPr>
          <p:cNvPr id="53" name="Text 51"/>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2.0 million parcels a season, measured, not guessed</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Shape 3"/>
          <p:cNvSpPr/>
          <p:nvPr/>
        </p:nvSpPr>
        <p:spPr>
          <a:xfrm>
            <a:off x="329184" y="960120"/>
            <a:ext cx="5669280" cy="1234440"/>
          </a:xfrm>
          <a:prstGeom prst="rect">
            <a:avLst/>
          </a:prstGeom>
          <a:solidFill>
            <a:srgbClr val="F4F6F8"/>
          </a:solidFill>
          <a:ln/>
        </p:spPr>
      </p:sp>
      <p:sp>
        <p:nvSpPr>
          <p:cNvPr id="6" name="Text 4"/>
          <p:cNvSpPr/>
          <p:nvPr/>
        </p:nvSpPr>
        <p:spPr>
          <a:xfrm>
            <a:off x="475488" y="1051560"/>
            <a:ext cx="5303520" cy="201168"/>
          </a:xfrm>
          <a:prstGeom prst="rect">
            <a:avLst/>
          </a:prstGeom>
          <a:noFill/>
          <a:ln/>
        </p:spPr>
        <p:txBody>
          <a:bodyPr wrap="square" lIns="0" tIns="0" rIns="0" bIns="0" rtlCol="0" anchor="ctr"/>
          <a:lstStyle/>
          <a:p>
            <a:pPr indent="0" marL="0">
              <a:buNone/>
            </a:pPr>
            <a:r>
              <a:rPr lang="en-US" sz="1100" b="1" dirty="0">
                <a:solidFill>
                  <a:srgbClr val="1B998B"/>
                </a:solidFill>
                <a:latin typeface="Arial" pitchFamily="34" charset="0"/>
                <a:ea typeface="Arial" pitchFamily="34" charset="-122"/>
                <a:cs typeface="Arial" pitchFamily="34" charset="-120"/>
              </a:rPr>
              <a:t>STEP 1</a:t>
            </a:r>
            <a:endParaRPr lang="en-US" sz="1100" dirty="0"/>
          </a:p>
        </p:txBody>
      </p:sp>
      <p:sp>
        <p:nvSpPr>
          <p:cNvPr id="7" name="Text 5"/>
          <p:cNvSpPr/>
          <p:nvPr/>
        </p:nvSpPr>
        <p:spPr>
          <a:xfrm>
            <a:off x="475488" y="1298448"/>
            <a:ext cx="5303520" cy="685800"/>
          </a:xfrm>
          <a:prstGeom prst="rect">
            <a:avLst/>
          </a:prstGeom>
          <a:noFill/>
          <a:ln/>
        </p:spPr>
        <p:txBody>
          <a:bodyPr wrap="square" lIns="0" tIns="0" rIns="0" bIns="0" rtlCol="0" anchor="ctr"/>
          <a:lstStyle/>
          <a:p>
            <a:pPr indent="0" marL="0">
              <a:buNone/>
            </a:pPr>
            <a:r>
              <a:rPr lang="en-US" sz="1500" dirty="0">
                <a:solidFill>
                  <a:srgbClr val="1F2A37"/>
                </a:solidFill>
                <a:latin typeface="Arial" pitchFamily="34" charset="0"/>
                <a:ea typeface="Arial" pitchFamily="34" charset="-122"/>
                <a:cs typeface="Arial" pitchFamily="34" charset="-120"/>
              </a:rPr>
              <a:t>Fulfillment partner's public counter, ~May 2024: 5,648,541 orders shipped since 2015</a:t>
            </a:r>
            <a:endParaRPr lang="en-US" sz="1500" dirty="0"/>
          </a:p>
        </p:txBody>
      </p:sp>
      <p:sp>
        <p:nvSpPr>
          <p:cNvPr id="8" name="Text 6"/>
          <p:cNvSpPr/>
          <p:nvPr/>
        </p:nvSpPr>
        <p:spPr>
          <a:xfrm>
            <a:off x="329184" y="2286000"/>
            <a:ext cx="5669280" cy="365760"/>
          </a:xfrm>
          <a:prstGeom prst="rect">
            <a:avLst/>
          </a:prstGeom>
          <a:noFill/>
          <a:ln/>
        </p:spPr>
        <p:txBody>
          <a:bodyPr wrap="square" lIns="0" tIns="0" rIns="0" bIns="0" rtlCol="0" anchor="ctr"/>
          <a:lstStyle/>
          <a:p>
            <a:pPr indent="0" marL="0">
              <a:buNone/>
            </a:pPr>
            <a:r>
              <a:rPr lang="en-US" sz="1300" b="1" dirty="0">
                <a:solidFill>
                  <a:srgbClr val="1B998B"/>
                </a:solidFill>
                <a:latin typeface="Arial" pitchFamily="34" charset="0"/>
                <a:ea typeface="Arial" pitchFamily="34" charset="-122"/>
                <a:cs typeface="Arial" pitchFamily="34" charset="-120"/>
              </a:rPr>
              <a:t>4,000,267 orders across two seasons  =  ~2.0M parcels per season</a:t>
            </a:r>
            <a:endParaRPr lang="en-US" sz="1300" dirty="0"/>
          </a:p>
        </p:txBody>
      </p:sp>
      <p:sp>
        <p:nvSpPr>
          <p:cNvPr id="9" name="Shape 7"/>
          <p:cNvSpPr/>
          <p:nvPr/>
        </p:nvSpPr>
        <p:spPr>
          <a:xfrm>
            <a:off x="329184" y="2743200"/>
            <a:ext cx="5669280" cy="1234440"/>
          </a:xfrm>
          <a:prstGeom prst="rect">
            <a:avLst/>
          </a:prstGeom>
          <a:solidFill>
            <a:srgbClr val="14213D"/>
          </a:solidFill>
          <a:ln/>
        </p:spPr>
      </p:sp>
      <p:sp>
        <p:nvSpPr>
          <p:cNvPr id="10" name="Text 8"/>
          <p:cNvSpPr/>
          <p:nvPr/>
        </p:nvSpPr>
        <p:spPr>
          <a:xfrm>
            <a:off x="475488" y="2834640"/>
            <a:ext cx="5303520" cy="201168"/>
          </a:xfrm>
          <a:prstGeom prst="rect">
            <a:avLst/>
          </a:prstGeom>
          <a:noFill/>
          <a:ln/>
        </p:spPr>
        <p:txBody>
          <a:bodyPr wrap="square" lIns="0" tIns="0" rIns="0" bIns="0" rtlCol="0" anchor="ctr"/>
          <a:lstStyle/>
          <a:p>
            <a:pPr indent="0" marL="0">
              <a:buNone/>
            </a:pPr>
            <a:r>
              <a:rPr lang="en-US" sz="1100" b="1" dirty="0">
                <a:solidFill>
                  <a:srgbClr val="7DCDC2"/>
                </a:solidFill>
                <a:latin typeface="Arial" pitchFamily="34" charset="0"/>
                <a:ea typeface="Arial" pitchFamily="34" charset="-122"/>
                <a:cs typeface="Arial" pitchFamily="34" charset="-120"/>
              </a:rPr>
              <a:t>STEP 2</a:t>
            </a:r>
            <a:endParaRPr lang="en-US" sz="1100" dirty="0"/>
          </a:p>
        </p:txBody>
      </p:sp>
      <p:sp>
        <p:nvSpPr>
          <p:cNvPr id="11" name="Text 9"/>
          <p:cNvSpPr/>
          <p:nvPr/>
        </p:nvSpPr>
        <p:spPr>
          <a:xfrm>
            <a:off x="475488" y="3090672"/>
            <a:ext cx="5303520" cy="68580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Same counter, Sept 2026: 9,648,808 orders shipped since 2015</a:t>
            </a:r>
            <a:endParaRPr lang="en-US" sz="1500" dirty="0"/>
          </a:p>
        </p:txBody>
      </p:sp>
      <p:sp>
        <p:nvSpPr>
          <p:cNvPr id="12" name="Shape 10"/>
          <p:cNvSpPr/>
          <p:nvPr/>
        </p:nvSpPr>
        <p:spPr>
          <a:xfrm>
            <a:off x="6217920" y="960120"/>
            <a:ext cx="5623560" cy="960120"/>
          </a:xfrm>
          <a:prstGeom prst="rect">
            <a:avLst/>
          </a:prstGeom>
          <a:solidFill>
            <a:srgbClr val="F4F6F8"/>
          </a:solidFill>
          <a:ln/>
        </p:spPr>
      </p:sp>
      <p:sp>
        <p:nvSpPr>
          <p:cNvPr id="13" name="Text 11"/>
          <p:cNvSpPr/>
          <p:nvPr/>
        </p:nvSpPr>
        <p:spPr>
          <a:xfrm>
            <a:off x="6400800" y="1124712"/>
            <a:ext cx="5303520" cy="640080"/>
          </a:xfrm>
          <a:prstGeom prst="rect">
            <a:avLst/>
          </a:prstGeom>
          <a:noFill/>
          <a:ln/>
        </p:spPr>
        <p:txBody>
          <a:bodyPr wrap="square" lIns="0" tIns="0" rIns="0" bIns="0" rtlCol="0" anchor="ctr"/>
          <a:lstStyle/>
          <a:p>
            <a:pPr indent="0" marL="0">
              <a:buNone/>
            </a:pPr>
            <a:r>
              <a:rPr lang="en-US" sz="1500" dirty="0">
                <a:solidFill>
                  <a:srgbClr val="1F2A37"/>
                </a:solidFill>
                <a:latin typeface="Arial" pitchFamily="34" charset="0"/>
                <a:ea typeface="Arial" pitchFamily="34" charset="-122"/>
                <a:cs typeface="Arial" pitchFamily="34" charset="-120"/>
              </a:rPr>
              <a:t>6.3 boxes per parcel on recent seasons (65.3M cookies / 9.6M orders)</a:t>
            </a:r>
            <a:endParaRPr lang="en-US" sz="1500" dirty="0"/>
          </a:p>
        </p:txBody>
      </p:sp>
      <p:sp>
        <p:nvSpPr>
          <p:cNvPr id="14" name="Shape 12"/>
          <p:cNvSpPr/>
          <p:nvPr/>
        </p:nvSpPr>
        <p:spPr>
          <a:xfrm>
            <a:off x="6217920" y="2011680"/>
            <a:ext cx="5623560" cy="960120"/>
          </a:xfrm>
          <a:prstGeom prst="rect">
            <a:avLst/>
          </a:prstGeom>
          <a:solidFill>
            <a:srgbClr val="F4F6F8"/>
          </a:solidFill>
          <a:ln/>
        </p:spPr>
      </p:sp>
      <p:sp>
        <p:nvSpPr>
          <p:cNvPr id="15" name="Text 13"/>
          <p:cNvSpPr/>
          <p:nvPr/>
        </p:nvSpPr>
        <p:spPr>
          <a:xfrm>
            <a:off x="6400800" y="2176272"/>
            <a:ext cx="5303520" cy="640080"/>
          </a:xfrm>
          <a:prstGeom prst="rect">
            <a:avLst/>
          </a:prstGeom>
          <a:noFill/>
          <a:ln/>
        </p:spPr>
        <p:txBody>
          <a:bodyPr wrap="square" lIns="0" tIns="0" rIns="0" bIns="0" rtlCol="0" anchor="ctr"/>
          <a:lstStyle/>
          <a:p>
            <a:pPr indent="0" marL="0">
              <a:buNone/>
            </a:pPr>
            <a:r>
              <a:rPr lang="en-US" sz="1500" dirty="0">
                <a:solidFill>
                  <a:srgbClr val="1F2A37"/>
                </a:solidFill>
                <a:latin typeface="Arial" pitchFamily="34" charset="0"/>
                <a:ea typeface="Arial" pitchFamily="34" charset="-122"/>
                <a:cs typeface="Arial" pitchFamily="34" charset="-120"/>
              </a:rPr>
              <a:t>This counter covers ONE of GSUSA's two baker networks (~60 of 112 councils)</a:t>
            </a:r>
            <a:endParaRPr lang="en-US" sz="1500" dirty="0"/>
          </a:p>
        </p:txBody>
      </p:sp>
      <p:sp>
        <p:nvSpPr>
          <p:cNvPr id="16" name="Shape 14"/>
          <p:cNvSpPr/>
          <p:nvPr/>
        </p:nvSpPr>
        <p:spPr>
          <a:xfrm>
            <a:off x="6217920" y="3063240"/>
            <a:ext cx="5623560" cy="960120"/>
          </a:xfrm>
          <a:prstGeom prst="rect">
            <a:avLst/>
          </a:prstGeom>
          <a:solidFill>
            <a:srgbClr val="F4F6F8"/>
          </a:solidFill>
          <a:ln/>
        </p:spPr>
      </p:sp>
      <p:sp>
        <p:nvSpPr>
          <p:cNvPr id="17" name="Text 15"/>
          <p:cNvSpPr/>
          <p:nvPr/>
        </p:nvSpPr>
        <p:spPr>
          <a:xfrm>
            <a:off x="6400800" y="3227832"/>
            <a:ext cx="5303520" cy="640080"/>
          </a:xfrm>
          <a:prstGeom prst="rect">
            <a:avLst/>
          </a:prstGeom>
          <a:noFill/>
          <a:ln/>
        </p:spPr>
        <p:txBody>
          <a:bodyPr wrap="square" lIns="0" tIns="0" rIns="0" bIns="0" rtlCol="0" anchor="ctr"/>
          <a:lstStyle/>
          <a:p>
            <a:pPr indent="0" marL="0">
              <a:buNone/>
            </a:pPr>
            <a:r>
              <a:rPr lang="en-US" sz="1500" dirty="0">
                <a:solidFill>
                  <a:srgbClr val="1F2A37"/>
                </a:solidFill>
                <a:latin typeface="Arial" pitchFamily="34" charset="0"/>
                <a:ea typeface="Arial" pitchFamily="34" charset="-122"/>
                <a:cs typeface="Arial" pitchFamily="34" charset="-120"/>
              </a:rPr>
              <a:t>The second network runs its own direct-ship program on a different rate card</a:t>
            </a:r>
            <a:endParaRPr lang="en-US" sz="1500" dirty="0"/>
          </a:p>
        </p:txBody>
      </p:sp>
      <p:sp>
        <p:nvSpPr>
          <p:cNvPr id="18" name="Text 16"/>
          <p:cNvSpPr/>
          <p:nvPr/>
        </p:nvSpPr>
        <p:spPr>
          <a:xfrm>
            <a:off x="329184" y="4160520"/>
            <a:ext cx="11521440" cy="365760"/>
          </a:xfrm>
          <a:prstGeom prst="rect">
            <a:avLst/>
          </a:prstGeom>
          <a:noFill/>
          <a:ln/>
        </p:spPr>
        <p:txBody>
          <a:bodyPr wrap="square" lIns="0" tIns="0" rIns="0" bIns="0" rtlCol="0" anchor="ctr"/>
          <a:lstStyle/>
          <a:p>
            <a:pPr indent="0" marL="0">
              <a:buNone/>
            </a:pPr>
            <a:r>
              <a:rPr lang="en-US" sz="1500" b="1" dirty="0">
                <a:solidFill>
                  <a:srgbClr val="1B998B"/>
                </a:solidFill>
                <a:latin typeface="Arial" pitchFamily="34" charset="0"/>
                <a:ea typeface="Arial" pitchFamily="34" charset="-122"/>
                <a:cs typeface="Arial" pitchFamily="34" charset="-120"/>
              </a:rPr>
              <a:t>Same cookie, two networks, two rate cards, no consolidated view. That is the case for one analysis.</a:t>
            </a:r>
            <a:endParaRPr lang="en-US" sz="1500" dirty="0"/>
          </a:p>
        </p:txBody>
      </p:sp>
      <p:sp>
        <p:nvSpPr>
          <p:cNvPr id="19" name="Text 17"/>
          <p:cNvSpPr/>
          <p:nvPr/>
        </p:nvSpPr>
        <p:spPr>
          <a:xfrm>
            <a:off x="329184" y="4663440"/>
            <a:ext cx="11521440" cy="640080"/>
          </a:xfrm>
          <a:prstGeom prst="rect">
            <a:avLst/>
          </a:prstGeom>
          <a:noFill/>
          <a:ln/>
        </p:spPr>
        <p:txBody>
          <a:bodyPr wrap="square" lIns="0" tIns="0" rIns="0" bIns="0" rtlCol="0" anchor="ctr"/>
          <a:lstStyle/>
          <a:p>
            <a:pPr indent="0" marL="0">
              <a:buNone/>
            </a:pPr>
            <a:r>
              <a:rPr lang="en-US" sz="1400" dirty="0">
                <a:solidFill>
                  <a:srgbClr val="14213D"/>
                </a:solidFill>
                <a:latin typeface="Arial" pitchFamily="34" charset="0"/>
                <a:ea typeface="Arial" pitchFamily="34" charset="-122"/>
                <a:cs typeface="Arial" pitchFamily="34" charset="-120"/>
              </a:rPr>
              <a:t>GSUSA's own FY2023 Form 990 lists $2.5M paid directly to UPS Mailing Innovations, and ABC's direct-ship program prices a cookie parcel at $11.50 next to Digital Cookie's $11.99. Two networks, one number.</a:t>
            </a:r>
            <a:endParaRPr lang="en-US" sz="1400" dirty="0"/>
          </a:p>
        </p:txBody>
      </p:sp>
      <p:sp>
        <p:nvSpPr>
          <p:cNvPr id="20" name="Text 18"/>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Public counter on the fulfillment partner's Girl Scouts page, archived May 2024 and live Sept 2026; GSUSA FY2023 Form 990 Part VII; Smart Cookies Direct Ship FAQ. Measured, not modeled.</a:t>
            </a:r>
            <a:endParaRPr lang="en-US" sz="1000" dirty="0"/>
          </a:p>
        </p:txBody>
      </p:sp>
      <p:sp>
        <p:nvSpPr>
          <p:cNvPr id="21" name="Text 19"/>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Depending on volume, the residential fee can go away</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Shape 3"/>
          <p:cNvSpPr/>
          <p:nvPr/>
        </p:nvSpPr>
        <p:spPr>
          <a:xfrm>
            <a:off x="1188720" y="1280160"/>
            <a:ext cx="4023360" cy="960120"/>
          </a:xfrm>
          <a:prstGeom prst="rect">
            <a:avLst/>
          </a:prstGeom>
          <a:solidFill>
            <a:srgbClr val="B23A48"/>
          </a:solidFill>
          <a:ln/>
        </p:spPr>
      </p:sp>
      <p:sp>
        <p:nvSpPr>
          <p:cNvPr id="6" name="Text 4"/>
          <p:cNvSpPr/>
          <p:nvPr/>
        </p:nvSpPr>
        <p:spPr>
          <a:xfrm>
            <a:off x="1325880" y="1554480"/>
            <a:ext cx="374904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Peak demand surcharge</a:t>
            </a:r>
            <a:endParaRPr lang="en-US" sz="1600" dirty="0"/>
          </a:p>
        </p:txBody>
      </p:sp>
      <p:sp>
        <p:nvSpPr>
          <p:cNvPr id="7" name="Shape 5"/>
          <p:cNvSpPr/>
          <p:nvPr/>
        </p:nvSpPr>
        <p:spPr>
          <a:xfrm>
            <a:off x="1188720" y="2331720"/>
            <a:ext cx="4023360" cy="960120"/>
          </a:xfrm>
          <a:prstGeom prst="rect">
            <a:avLst/>
          </a:prstGeom>
          <a:solidFill>
            <a:srgbClr val="C46A74"/>
          </a:solidFill>
          <a:ln/>
        </p:spPr>
      </p:sp>
      <p:sp>
        <p:nvSpPr>
          <p:cNvPr id="8" name="Text 6"/>
          <p:cNvSpPr/>
          <p:nvPr/>
        </p:nvSpPr>
        <p:spPr>
          <a:xfrm>
            <a:off x="1325880" y="2606040"/>
            <a:ext cx="374904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Residential delivery fee</a:t>
            </a:r>
            <a:endParaRPr lang="en-US" sz="1600" dirty="0"/>
          </a:p>
        </p:txBody>
      </p:sp>
      <p:sp>
        <p:nvSpPr>
          <p:cNvPr id="9" name="Shape 7"/>
          <p:cNvSpPr/>
          <p:nvPr/>
        </p:nvSpPr>
        <p:spPr>
          <a:xfrm>
            <a:off x="1188720" y="3383280"/>
            <a:ext cx="4023360" cy="960120"/>
          </a:xfrm>
          <a:prstGeom prst="rect">
            <a:avLst/>
          </a:prstGeom>
          <a:solidFill>
            <a:srgbClr val="14213D"/>
          </a:solidFill>
          <a:ln/>
        </p:spPr>
      </p:sp>
      <p:sp>
        <p:nvSpPr>
          <p:cNvPr id="10" name="Text 8"/>
          <p:cNvSpPr/>
          <p:nvPr/>
        </p:nvSpPr>
        <p:spPr>
          <a:xfrm>
            <a:off x="1325880" y="3657600"/>
            <a:ext cx="374904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Base rate</a:t>
            </a:r>
            <a:endParaRPr lang="en-US" sz="1600" dirty="0"/>
          </a:p>
        </p:txBody>
      </p:sp>
      <p:sp>
        <p:nvSpPr>
          <p:cNvPr id="11" name="Text 9"/>
          <p:cNvSpPr/>
          <p:nvPr/>
        </p:nvSpPr>
        <p:spPr>
          <a:xfrm>
            <a:off x="1188720" y="4526280"/>
            <a:ext cx="4023360" cy="320040"/>
          </a:xfrm>
          <a:prstGeom prst="rect">
            <a:avLst/>
          </a:prstGeom>
          <a:noFill/>
          <a:ln/>
        </p:spPr>
        <p:txBody>
          <a:bodyPr wrap="square" lIns="0" tIns="0" rIns="0" bIns="0" rtlCol="0" anchor="ctr"/>
          <a:lstStyle/>
          <a:p>
            <a:pPr algn="ctr" indent="0" marL="0">
              <a:buNone/>
            </a:pPr>
            <a:r>
              <a:rPr lang="en-US" sz="1600" b="1" dirty="0">
                <a:solidFill>
                  <a:srgbClr val="14213D"/>
                </a:solidFill>
                <a:latin typeface="Arial" pitchFamily="34" charset="0"/>
                <a:ea typeface="Arial" pitchFamily="34" charset="-122"/>
                <a:cs typeface="Arial" pitchFamily="34" charset="-120"/>
              </a:rPr>
              <a:t>TODAY</a:t>
            </a:r>
            <a:endParaRPr lang="en-US" sz="1600" dirty="0"/>
          </a:p>
        </p:txBody>
      </p:sp>
      <p:sp>
        <p:nvSpPr>
          <p:cNvPr id="12" name="Shape 10"/>
          <p:cNvSpPr/>
          <p:nvPr/>
        </p:nvSpPr>
        <p:spPr>
          <a:xfrm>
            <a:off x="6766560" y="3383280"/>
            <a:ext cx="4023360" cy="960120"/>
          </a:xfrm>
          <a:prstGeom prst="rect">
            <a:avLst/>
          </a:prstGeom>
          <a:solidFill>
            <a:srgbClr val="1B998B"/>
          </a:solidFill>
          <a:ln/>
        </p:spPr>
      </p:sp>
      <p:sp>
        <p:nvSpPr>
          <p:cNvPr id="13" name="Text 11"/>
          <p:cNvSpPr/>
          <p:nvPr/>
        </p:nvSpPr>
        <p:spPr>
          <a:xfrm>
            <a:off x="6903720" y="3657600"/>
            <a:ext cx="374904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Base rate</a:t>
            </a:r>
            <a:endParaRPr lang="en-US" sz="1600" dirty="0"/>
          </a:p>
        </p:txBody>
      </p:sp>
      <p:sp>
        <p:nvSpPr>
          <p:cNvPr id="14" name="Text 12"/>
          <p:cNvSpPr/>
          <p:nvPr/>
        </p:nvSpPr>
        <p:spPr>
          <a:xfrm>
            <a:off x="6766560" y="2148840"/>
            <a:ext cx="4023360" cy="365760"/>
          </a:xfrm>
          <a:prstGeom prst="rect">
            <a:avLst/>
          </a:prstGeom>
          <a:noFill/>
          <a:ln/>
        </p:spPr>
        <p:txBody>
          <a:bodyPr wrap="square" lIns="0" tIns="0" rIns="0" bIns="0" rtlCol="0" anchor="ctr"/>
          <a:lstStyle/>
          <a:p>
            <a:pPr algn="ctr" indent="0" marL="0">
              <a:buNone/>
            </a:pPr>
            <a:r>
              <a:rPr lang="en-US" sz="1600" dirty="0">
                <a:solidFill>
                  <a:srgbClr val="9AA5B1"/>
                </a:solidFill>
                <a:latin typeface="Arial" pitchFamily="34" charset="0"/>
                <a:ea typeface="Arial" pitchFamily="34" charset="-122"/>
                <a:cs typeface="Arial" pitchFamily="34" charset="-120"/>
              </a:rPr>
              <a:t>Residential fee   struck</a:t>
            </a:r>
            <a:endParaRPr lang="en-US" sz="1600" dirty="0"/>
          </a:p>
        </p:txBody>
      </p:sp>
      <p:sp>
        <p:nvSpPr>
          <p:cNvPr id="15" name="Shape 13"/>
          <p:cNvSpPr/>
          <p:nvPr/>
        </p:nvSpPr>
        <p:spPr>
          <a:xfrm>
            <a:off x="7040880" y="2304288"/>
            <a:ext cx="3474720" cy="27432"/>
          </a:xfrm>
          <a:prstGeom prst="rect">
            <a:avLst/>
          </a:prstGeom>
          <a:solidFill>
            <a:srgbClr val="9AA5B1"/>
          </a:solidFill>
          <a:ln/>
        </p:spPr>
      </p:sp>
      <p:sp>
        <p:nvSpPr>
          <p:cNvPr id="16" name="Text 14"/>
          <p:cNvSpPr/>
          <p:nvPr/>
        </p:nvSpPr>
        <p:spPr>
          <a:xfrm>
            <a:off x="6766560" y="1554480"/>
            <a:ext cx="4023360" cy="365760"/>
          </a:xfrm>
          <a:prstGeom prst="rect">
            <a:avLst/>
          </a:prstGeom>
          <a:noFill/>
          <a:ln/>
        </p:spPr>
        <p:txBody>
          <a:bodyPr wrap="square" lIns="0" tIns="0" rIns="0" bIns="0" rtlCol="0" anchor="ctr"/>
          <a:lstStyle/>
          <a:p>
            <a:pPr algn="ctr" indent="0" marL="0">
              <a:buNone/>
            </a:pPr>
            <a:r>
              <a:rPr lang="en-US" sz="1600" dirty="0">
                <a:solidFill>
                  <a:srgbClr val="9AA5B1"/>
                </a:solidFill>
                <a:latin typeface="Arial" pitchFamily="34" charset="0"/>
                <a:ea typeface="Arial" pitchFamily="34" charset="-122"/>
                <a:cs typeface="Arial" pitchFamily="34" charset="-120"/>
              </a:rPr>
              <a:t>Peak surcharge   struck</a:t>
            </a:r>
            <a:endParaRPr lang="en-US" sz="1600" dirty="0"/>
          </a:p>
        </p:txBody>
      </p:sp>
      <p:sp>
        <p:nvSpPr>
          <p:cNvPr id="17" name="Shape 15"/>
          <p:cNvSpPr/>
          <p:nvPr/>
        </p:nvSpPr>
        <p:spPr>
          <a:xfrm>
            <a:off x="7040880" y="1719072"/>
            <a:ext cx="3474720" cy="27432"/>
          </a:xfrm>
          <a:prstGeom prst="rect">
            <a:avLst/>
          </a:prstGeom>
          <a:solidFill>
            <a:srgbClr val="9AA5B1"/>
          </a:solidFill>
          <a:ln/>
        </p:spPr>
      </p:sp>
      <p:sp>
        <p:nvSpPr>
          <p:cNvPr id="18" name="Text 16"/>
          <p:cNvSpPr/>
          <p:nvPr/>
        </p:nvSpPr>
        <p:spPr>
          <a:xfrm>
            <a:off x="6766560" y="4526280"/>
            <a:ext cx="4023360" cy="320040"/>
          </a:xfrm>
          <a:prstGeom prst="rect">
            <a:avLst/>
          </a:prstGeom>
          <a:noFill/>
          <a:ln/>
        </p:spPr>
        <p:txBody>
          <a:bodyPr wrap="square" lIns="0" tIns="0" rIns="0" bIns="0" rtlCol="0" anchor="ctr"/>
          <a:lstStyle/>
          <a:p>
            <a:pPr algn="ctr" indent="0" marL="0">
              <a:buNone/>
            </a:pPr>
            <a:r>
              <a:rPr lang="en-US" sz="1600" b="1" dirty="0">
                <a:solidFill>
                  <a:srgbClr val="1B998B"/>
                </a:solidFill>
                <a:latin typeface="Arial" pitchFamily="34" charset="0"/>
                <a:ea typeface="Arial" pitchFamily="34" charset="-122"/>
                <a:cs typeface="Arial" pitchFamily="34" charset="-120"/>
              </a:rPr>
              <a:t>HTL &amp; EFFICIENT</a:t>
            </a:r>
            <a:endParaRPr lang="en-US" sz="1600" dirty="0"/>
          </a:p>
        </p:txBody>
      </p:sp>
      <p:sp>
        <p:nvSpPr>
          <p:cNvPr id="19" name="Text 17"/>
          <p:cNvSpPr/>
          <p:nvPr/>
        </p:nvSpPr>
        <p:spPr>
          <a:xfrm>
            <a:off x="329184" y="5074920"/>
            <a:ext cx="11521440" cy="548640"/>
          </a:xfrm>
          <a:prstGeom prst="rect">
            <a:avLst/>
          </a:prstGeom>
          <a:noFill/>
          <a:ln/>
        </p:spPr>
        <p:txBody>
          <a:bodyPr wrap="square" lIns="0" tIns="0" rIns="0" bIns="0" rtlCol="0" anchor="ctr"/>
          <a:lstStyle/>
          <a:p>
            <a:pPr indent="0" marL="0">
              <a:buNone/>
            </a:pPr>
            <a:r>
              <a:rPr lang="en-US" sz="1600" dirty="0">
                <a:solidFill>
                  <a:srgbClr val="1F2A37"/>
                </a:solidFill>
                <a:latin typeface="Arial" pitchFamily="34" charset="0"/>
                <a:ea typeface="Arial" pitchFamily="34" charset="-122"/>
                <a:cs typeface="Arial" pitchFamily="34" charset="-120"/>
              </a:rPr>
              <a:t>In some cases, our broader carrier mix removes the residential delivery fee entirely. On an all-residential program, that is the single largest line after the base rate.</a:t>
            </a:r>
            <a:endParaRPr lang="en-US" sz="1600" dirty="0"/>
          </a:p>
        </p:txBody>
      </p:sp>
      <p:sp>
        <p:nvSpPr>
          <p:cNvPr id="20" name="Text 18"/>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No dollar figures on the bars. Carriers' published 2026 residential delivery fees: $6.95 (UPS), $6.60 (FedEx) per package.</a:t>
            </a:r>
            <a:endParaRPr lang="en-US" sz="1000" dirty="0"/>
          </a:p>
        </p:txBody>
      </p:sp>
      <p:sp>
        <p:nvSpPr>
          <p:cNvPr id="21" name="Text 19"/>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Live today: Cato Fashions, Charlotte, NC</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Women's apparel retailer, 1,000+ stores. E-commerce parcels ship nationwide through the HTL &amp; Efficient Logistics integration.</a:t>
            </a:r>
            <a:endParaRPr lang="en-US" sz="1200" dirty="0"/>
          </a:p>
        </p:txBody>
      </p:sp>
      <p:sp>
        <p:nvSpPr>
          <p:cNvPr id="6" name="Shape 4"/>
          <p:cNvSpPr/>
          <p:nvPr/>
        </p:nvSpPr>
        <p:spPr>
          <a:xfrm>
            <a:off x="329184" y="1051560"/>
            <a:ext cx="5669280" cy="2880360"/>
          </a:xfrm>
          <a:prstGeom prst="rect">
            <a:avLst/>
          </a:prstGeom>
          <a:solidFill>
            <a:srgbClr val="F4F6F8"/>
          </a:solidFill>
          <a:ln/>
        </p:spPr>
      </p:sp>
      <p:sp>
        <p:nvSpPr>
          <p:cNvPr id="7" name="Text 5"/>
          <p:cNvSpPr/>
          <p:nvPr/>
        </p:nvSpPr>
        <p:spPr>
          <a:xfrm>
            <a:off x="502920" y="1170432"/>
            <a:ext cx="5303520" cy="256032"/>
          </a:xfrm>
          <a:prstGeom prst="rect">
            <a:avLst/>
          </a:prstGeom>
          <a:noFill/>
          <a:ln/>
        </p:spPr>
        <p:txBody>
          <a:bodyPr wrap="square" lIns="0" tIns="0" rIns="0" bIns="0" rtlCol="0" anchor="ctr"/>
          <a:lstStyle/>
          <a:p>
            <a:pPr indent="0" marL="0">
              <a:buNone/>
            </a:pPr>
            <a:r>
              <a:rPr lang="en-US" sz="1300" b="1" dirty="0">
                <a:solidFill>
                  <a:srgbClr val="B23A48"/>
                </a:solidFill>
                <a:latin typeface="Arial" pitchFamily="34" charset="0"/>
                <a:ea typeface="Arial" pitchFamily="34" charset="-122"/>
                <a:cs typeface="Arial" pitchFamily="34" charset="-120"/>
              </a:rPr>
              <a:t>BEFORE HTL</a:t>
            </a:r>
            <a:endParaRPr lang="en-US" sz="1300" dirty="0"/>
          </a:p>
        </p:txBody>
      </p:sp>
      <p:sp>
        <p:nvSpPr>
          <p:cNvPr id="8" name="Text 6"/>
          <p:cNvSpPr/>
          <p:nvPr/>
        </p:nvSpPr>
        <p:spPr>
          <a:xfrm>
            <a:off x="502920" y="1554480"/>
            <a:ext cx="5303520" cy="2011680"/>
          </a:xfrm>
          <a:prstGeom prst="rect">
            <a:avLst/>
          </a:prstGeom>
          <a:noFill/>
          <a:ln/>
        </p:spPr>
        <p:txBody>
          <a:bodyPr wrap="square" lIns="0" tIns="0" rIns="0" bIns="0" rtlCol="0" anchor="ctr"/>
          <a:lstStyle/>
          <a:p>
            <a:pPr indent="0" marL="0">
              <a:buNone/>
            </a:pPr>
            <a:r>
              <a:rPr lang="en-US" sz="1600" dirty="0">
                <a:solidFill>
                  <a:srgbClr val="1F2A37"/>
                </a:solidFill>
                <a:latin typeface="Arial" pitchFamily="34" charset="0"/>
                <a:ea typeface="Arial" pitchFamily="34" charset="-122"/>
                <a:cs typeface="Arial" pitchFamily="34" charset="-120"/>
              </a:rPr>
              <a:t>~15,000 residential e-commerce parcels a month on a single national carrier.</a:t>
            </a:r>
            <a:endParaRPr lang="en-US" sz="1600" dirty="0"/>
          </a:p>
          <a:p>
            <a:pPr indent="0" marL="0">
              <a:buNone/>
            </a:pPr>
            <a:endParaRPr lang="en-US" sz="1600" dirty="0"/>
          </a:p>
          <a:p>
            <a:pPr indent="0" marL="0">
              <a:buNone/>
            </a:pPr>
            <a:r>
              <a:rPr lang="en-US" sz="1600" dirty="0">
                <a:solidFill>
                  <a:srgbClr val="1F2A37"/>
                </a:solidFill>
                <a:latin typeface="Arial" pitchFamily="34" charset="0"/>
                <a:ea typeface="Arial" pitchFamily="34" charset="-122"/>
                <a:cs typeface="Arial" pitchFamily="34" charset="-120"/>
              </a:rPr>
              <a:t>Full residential delivery fee and every holiday demand surcharge, every parcel.</a:t>
            </a:r>
            <a:endParaRPr lang="en-US" sz="1600" dirty="0"/>
          </a:p>
        </p:txBody>
      </p:sp>
      <p:sp>
        <p:nvSpPr>
          <p:cNvPr id="9" name="Shape 7"/>
          <p:cNvSpPr/>
          <p:nvPr/>
        </p:nvSpPr>
        <p:spPr>
          <a:xfrm>
            <a:off x="6172200" y="1051560"/>
            <a:ext cx="5669280" cy="2880360"/>
          </a:xfrm>
          <a:prstGeom prst="rect">
            <a:avLst/>
          </a:prstGeom>
          <a:solidFill>
            <a:srgbClr val="E7F6F3"/>
          </a:solidFill>
          <a:ln/>
        </p:spPr>
      </p:sp>
      <p:sp>
        <p:nvSpPr>
          <p:cNvPr id="10" name="Text 8"/>
          <p:cNvSpPr/>
          <p:nvPr/>
        </p:nvSpPr>
        <p:spPr>
          <a:xfrm>
            <a:off x="6355080" y="1170432"/>
            <a:ext cx="5303520" cy="256032"/>
          </a:xfrm>
          <a:prstGeom prst="rect">
            <a:avLst/>
          </a:prstGeom>
          <a:noFill/>
          <a:ln/>
        </p:spPr>
        <p:txBody>
          <a:bodyPr wrap="square" lIns="0" tIns="0" rIns="0" bIns="0" rtlCol="0" anchor="ctr"/>
          <a:lstStyle/>
          <a:p>
            <a:pPr indent="0" marL="0">
              <a:buNone/>
            </a:pPr>
            <a:r>
              <a:rPr lang="en-US" sz="1300" b="1" dirty="0">
                <a:solidFill>
                  <a:srgbClr val="1B998B"/>
                </a:solidFill>
                <a:latin typeface="Arial" pitchFamily="34" charset="0"/>
                <a:ea typeface="Arial" pitchFamily="34" charset="-122"/>
                <a:cs typeface="Arial" pitchFamily="34" charset="-120"/>
              </a:rPr>
              <a:t>THROUGH HTL &amp; EFFICIENT</a:t>
            </a:r>
            <a:endParaRPr lang="en-US" sz="1300" dirty="0"/>
          </a:p>
        </p:txBody>
      </p:sp>
      <p:sp>
        <p:nvSpPr>
          <p:cNvPr id="11" name="Text 9"/>
          <p:cNvSpPr/>
          <p:nvPr/>
        </p:nvSpPr>
        <p:spPr>
          <a:xfrm>
            <a:off x="6355080" y="1508760"/>
            <a:ext cx="5303520" cy="224028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16.4% lower on a matched 226-parcel sample (same service, same weight).</a:t>
            </a:r>
            <a:endParaRPr lang="en-US" sz="1300" dirty="0"/>
          </a:p>
          <a:p>
            <a:pPr indent="0" marL="0">
              <a:buNone/>
            </a:pPr>
            <a:r>
              <a:rPr lang="en-US" sz="1300" dirty="0">
                <a:solidFill>
                  <a:srgbClr val="1F2A37"/>
                </a:solidFill>
                <a:latin typeface="Arial" pitchFamily="34" charset="0"/>
                <a:ea typeface="Arial" pitchFamily="34" charset="-122"/>
                <a:cs typeface="Arial" pitchFamily="34" charset="-120"/>
              </a:rPr>
              <a:t>27% lower on three full January 2025 invoices, re-rated line by line.</a:t>
            </a:r>
            <a:endParaRPr lang="en-US" sz="1300" dirty="0"/>
          </a:p>
          <a:p>
            <a:pPr indent="0" marL="0">
              <a:buNone/>
            </a:pPr>
            <a:r>
              <a:rPr lang="en-US" sz="1300" dirty="0">
                <a:solidFill>
                  <a:srgbClr val="1F2A37"/>
                </a:solidFill>
                <a:latin typeface="Arial" pitchFamily="34" charset="0"/>
                <a:ea typeface="Arial" pitchFamily="34" charset="-122"/>
                <a:cs typeface="Arial" pitchFamily="34" charset="-120"/>
              </a:rPr>
              <a:t>43-49% lower per label once the right ground service is selected.</a:t>
            </a:r>
            <a:endParaRPr lang="en-US" sz="1300" dirty="0"/>
          </a:p>
          <a:p>
            <a:pPr indent="0" marL="0">
              <a:buNone/>
            </a:pPr>
            <a:r>
              <a:rPr lang="en-US" sz="1300" dirty="0">
                <a:solidFill>
                  <a:srgbClr val="1F2A37"/>
                </a:solidFill>
                <a:latin typeface="Arial" pitchFamily="34" charset="0"/>
                <a:ea typeface="Arial" pitchFamily="34" charset="-122"/>
                <a:cs typeface="Arial" pitchFamily="34" charset="-120"/>
              </a:rPr>
              <a:t>Cost per label held flat into the 2025 holiday surcharge window.</a:t>
            </a:r>
            <a:endParaRPr lang="en-US" sz="1300" dirty="0"/>
          </a:p>
          <a:p>
            <a:pPr indent="0" marL="0">
              <a:buNone/>
            </a:pPr>
            <a:r>
              <a:rPr lang="en-US" sz="1300" dirty="0">
                <a:solidFill>
                  <a:srgbClr val="1F2A37"/>
                </a:solidFill>
                <a:latin typeface="Arial" pitchFamily="34" charset="0"/>
                <a:ea typeface="Arial" pitchFamily="34" charset="-122"/>
                <a:cs typeface="Arial" pitchFamily="34" charset="-120"/>
              </a:rPr>
              <a:t>Same order flow, same tracking, same customer experience.</a:t>
            </a:r>
            <a:endParaRPr lang="en-US" sz="1300" dirty="0"/>
          </a:p>
        </p:txBody>
      </p:sp>
      <p:sp>
        <p:nvSpPr>
          <p:cNvPr id="12" name="Shape 10"/>
          <p:cNvSpPr/>
          <p:nvPr/>
        </p:nvSpPr>
        <p:spPr>
          <a:xfrm>
            <a:off x="329184" y="4114800"/>
            <a:ext cx="3730752" cy="1417320"/>
          </a:xfrm>
          <a:prstGeom prst="rect">
            <a:avLst/>
          </a:prstGeom>
          <a:solidFill>
            <a:srgbClr val="1B998B"/>
          </a:solidFill>
          <a:ln/>
        </p:spPr>
      </p:sp>
      <p:sp>
        <p:nvSpPr>
          <p:cNvPr id="13" name="Text 11"/>
          <p:cNvSpPr/>
          <p:nvPr/>
        </p:nvSpPr>
        <p:spPr>
          <a:xfrm>
            <a:off x="493776" y="4224528"/>
            <a:ext cx="338328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16-27%</a:t>
            </a:r>
            <a:endParaRPr lang="en-US" sz="2800" dirty="0"/>
          </a:p>
        </p:txBody>
      </p:sp>
      <p:sp>
        <p:nvSpPr>
          <p:cNvPr id="14" name="Text 12"/>
          <p:cNvSpPr/>
          <p:nvPr/>
        </p:nvSpPr>
        <p:spPr>
          <a:xfrm>
            <a:off x="493776" y="4828032"/>
            <a:ext cx="3383280" cy="457200"/>
          </a:xfrm>
          <a:prstGeom prst="rect">
            <a:avLst/>
          </a:prstGeom>
          <a:noFill/>
          <a:ln/>
        </p:spPr>
        <p:txBody>
          <a:bodyPr wrap="square" lIns="0" tIns="0" rIns="0" bIns="0" rtlCol="0" anchor="ctr"/>
          <a:lstStyle/>
          <a:p>
            <a:pPr indent="0" marL="0">
              <a:buNone/>
            </a:pPr>
            <a:r>
              <a:rPr lang="en-US" sz="1400" dirty="0">
                <a:solidFill>
                  <a:srgbClr val="D5DEE6"/>
                </a:solidFill>
                <a:latin typeface="Arial" pitchFamily="34" charset="0"/>
                <a:ea typeface="Arial" pitchFamily="34" charset="-122"/>
                <a:cs typeface="Arial" pitchFamily="34" charset="-120"/>
              </a:rPr>
              <a:t>lower cost per parcel vs. prior carrier contract</a:t>
            </a:r>
            <a:endParaRPr lang="en-US" sz="1400" dirty="0"/>
          </a:p>
        </p:txBody>
      </p:sp>
      <p:sp>
        <p:nvSpPr>
          <p:cNvPr id="15" name="Shape 13"/>
          <p:cNvSpPr/>
          <p:nvPr/>
        </p:nvSpPr>
        <p:spPr>
          <a:xfrm>
            <a:off x="4215384" y="4114800"/>
            <a:ext cx="3730752" cy="1417320"/>
          </a:xfrm>
          <a:prstGeom prst="rect">
            <a:avLst/>
          </a:prstGeom>
          <a:solidFill>
            <a:srgbClr val="14213D"/>
          </a:solidFill>
          <a:ln/>
        </p:spPr>
      </p:sp>
      <p:sp>
        <p:nvSpPr>
          <p:cNvPr id="16" name="Text 14"/>
          <p:cNvSpPr/>
          <p:nvPr/>
        </p:nvSpPr>
        <p:spPr>
          <a:xfrm>
            <a:off x="4379976" y="4224528"/>
            <a:ext cx="338328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98%</a:t>
            </a:r>
            <a:endParaRPr lang="en-US" sz="2800" dirty="0"/>
          </a:p>
        </p:txBody>
      </p:sp>
      <p:sp>
        <p:nvSpPr>
          <p:cNvPr id="17" name="Text 15"/>
          <p:cNvSpPr/>
          <p:nvPr/>
        </p:nvSpPr>
        <p:spPr>
          <a:xfrm>
            <a:off x="4379976" y="4828032"/>
            <a:ext cx="3383280" cy="457200"/>
          </a:xfrm>
          <a:prstGeom prst="rect">
            <a:avLst/>
          </a:prstGeom>
          <a:noFill/>
          <a:ln/>
        </p:spPr>
        <p:txBody>
          <a:bodyPr wrap="square" lIns="0" tIns="0" rIns="0" bIns="0" rtlCol="0" anchor="ctr"/>
          <a:lstStyle/>
          <a:p>
            <a:pPr indent="0" marL="0">
              <a:buNone/>
            </a:pPr>
            <a:r>
              <a:rPr lang="en-US" sz="1400" dirty="0">
                <a:solidFill>
                  <a:srgbClr val="D5DEE6"/>
                </a:solidFill>
                <a:latin typeface="Arial" pitchFamily="34" charset="0"/>
                <a:ea typeface="Arial" pitchFamily="34" charset="-122"/>
                <a:cs typeface="Arial" pitchFamily="34" charset="-120"/>
              </a:rPr>
              <a:t>on-time delivery</a:t>
            </a:r>
            <a:endParaRPr lang="en-US" sz="1400" dirty="0"/>
          </a:p>
        </p:txBody>
      </p:sp>
      <p:sp>
        <p:nvSpPr>
          <p:cNvPr id="18" name="Shape 16"/>
          <p:cNvSpPr/>
          <p:nvPr/>
        </p:nvSpPr>
        <p:spPr>
          <a:xfrm>
            <a:off x="8101584" y="4114800"/>
            <a:ext cx="3730752" cy="1417320"/>
          </a:xfrm>
          <a:prstGeom prst="rect">
            <a:avLst/>
          </a:prstGeom>
          <a:solidFill>
            <a:srgbClr val="14213D"/>
          </a:solidFill>
          <a:ln/>
        </p:spPr>
      </p:sp>
      <p:sp>
        <p:nvSpPr>
          <p:cNvPr id="19" name="Text 17"/>
          <p:cNvSpPr/>
          <p:nvPr/>
        </p:nvSpPr>
        <p:spPr>
          <a:xfrm>
            <a:off x="8266176" y="4224528"/>
            <a:ext cx="338328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2.5 days</a:t>
            </a:r>
            <a:endParaRPr lang="en-US" sz="2800" dirty="0"/>
          </a:p>
        </p:txBody>
      </p:sp>
      <p:sp>
        <p:nvSpPr>
          <p:cNvPr id="20" name="Text 18"/>
          <p:cNvSpPr/>
          <p:nvPr/>
        </p:nvSpPr>
        <p:spPr>
          <a:xfrm>
            <a:off x="8266176" y="4828032"/>
            <a:ext cx="3383280" cy="457200"/>
          </a:xfrm>
          <a:prstGeom prst="rect">
            <a:avLst/>
          </a:prstGeom>
          <a:noFill/>
          <a:ln/>
        </p:spPr>
        <p:txBody>
          <a:bodyPr wrap="square" lIns="0" tIns="0" rIns="0" bIns="0" rtlCol="0" anchor="ctr"/>
          <a:lstStyle/>
          <a:p>
            <a:pPr indent="0" marL="0">
              <a:buNone/>
            </a:pPr>
            <a:r>
              <a:rPr lang="en-US" sz="1400" dirty="0">
                <a:solidFill>
                  <a:srgbClr val="D5DEE6"/>
                </a:solidFill>
                <a:latin typeface="Arial" pitchFamily="34" charset="0"/>
                <a:ea typeface="Arial" pitchFamily="34" charset="-122"/>
                <a:cs typeface="Arial" pitchFamily="34" charset="-120"/>
              </a:rPr>
              <a:t>average transit</a:t>
            </a:r>
            <a:endParaRPr lang="en-US" sz="1400" dirty="0"/>
          </a:p>
        </p:txBody>
      </p:sp>
      <p:sp>
        <p:nvSpPr>
          <p:cNvPr id="21" name="Text 19"/>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Percentages from Cato's own carrier invoices re-rated through HTL and from 45,781 HTL-routed labels (Jul-Nov 2025). No dollar values shown by design.</a:t>
            </a:r>
            <a:endParaRPr lang="en-US" sz="1000" dirty="0"/>
          </a:p>
        </p:txBody>
      </p:sp>
      <p:sp>
        <p:nvSpPr>
          <p:cNvPr id="22" name="Text 20"/>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Cato Fashions: cost per label, indexed</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45,781 labels measured. Indexed, no dollar values. Prior contract, Jan 2025 = 100.</a:t>
            </a:r>
            <a:endParaRPr lang="en-US" sz="1200" dirty="0"/>
          </a:p>
        </p:txBody>
      </p:sp>
      <p:graphicFrame>
        <p:nvGraphicFramePr>
          <p:cNvPr id="6" name="Chart 0" descr=""/>
          <p:cNvGraphicFramePr/>
          <p:nvPr/>
        </p:nvGraphicFramePr>
        <p:xfrm>
          <a:off x="182880" y="1051560"/>
          <a:ext cx="8046720" cy="4709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321040" y="1280160"/>
            <a:ext cx="3520440" cy="1188720"/>
          </a:xfrm>
          <a:prstGeom prst="rect">
            <a:avLst/>
          </a:prstGeom>
          <a:solidFill>
            <a:srgbClr val="F4F6F8"/>
          </a:solidFill>
          <a:ln/>
        </p:spPr>
      </p:sp>
      <p:sp>
        <p:nvSpPr>
          <p:cNvPr id="8" name="Text 5"/>
          <p:cNvSpPr/>
          <p:nvPr/>
        </p:nvSpPr>
        <p:spPr>
          <a:xfrm>
            <a:off x="8458200" y="1371600"/>
            <a:ext cx="320040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84</a:t>
            </a:r>
            <a:endParaRPr lang="en-US" sz="2200" dirty="0"/>
          </a:p>
        </p:txBody>
      </p:sp>
      <p:sp>
        <p:nvSpPr>
          <p:cNvPr id="9" name="Text 6"/>
          <p:cNvSpPr/>
          <p:nvPr/>
        </p:nvSpPr>
        <p:spPr>
          <a:xfrm>
            <a:off x="8458200" y="1783080"/>
            <a:ext cx="3200400" cy="54864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Same Jan 2025 parcels, same service and weight. -16.4%.</a:t>
            </a:r>
            <a:endParaRPr lang="en-US" sz="1200" dirty="0"/>
          </a:p>
        </p:txBody>
      </p:sp>
      <p:sp>
        <p:nvSpPr>
          <p:cNvPr id="10" name="Shape 7"/>
          <p:cNvSpPr/>
          <p:nvPr/>
        </p:nvSpPr>
        <p:spPr>
          <a:xfrm>
            <a:off x="8321040" y="2606040"/>
            <a:ext cx="3520440" cy="1188720"/>
          </a:xfrm>
          <a:prstGeom prst="rect">
            <a:avLst/>
          </a:prstGeom>
          <a:solidFill>
            <a:srgbClr val="F4F6F8"/>
          </a:solidFill>
          <a:ln/>
        </p:spPr>
      </p:sp>
      <p:sp>
        <p:nvSpPr>
          <p:cNvPr id="11" name="Text 8"/>
          <p:cNvSpPr/>
          <p:nvPr/>
        </p:nvSpPr>
        <p:spPr>
          <a:xfrm>
            <a:off x="8458200" y="2697480"/>
            <a:ext cx="320040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73</a:t>
            </a:r>
            <a:endParaRPr lang="en-US" sz="2200" dirty="0"/>
          </a:p>
        </p:txBody>
      </p:sp>
      <p:sp>
        <p:nvSpPr>
          <p:cNvPr id="12" name="Text 9"/>
          <p:cNvSpPr/>
          <p:nvPr/>
        </p:nvSpPr>
        <p:spPr>
          <a:xfrm>
            <a:off x="8458200" y="3108960"/>
            <a:ext cx="3200400" cy="54864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Three full Jan 2025 invoices re-rated line by line. -27%.</a:t>
            </a:r>
            <a:endParaRPr lang="en-US" sz="1200" dirty="0"/>
          </a:p>
        </p:txBody>
      </p:sp>
      <p:sp>
        <p:nvSpPr>
          <p:cNvPr id="13" name="Shape 10"/>
          <p:cNvSpPr/>
          <p:nvPr/>
        </p:nvSpPr>
        <p:spPr>
          <a:xfrm>
            <a:off x="8321040" y="3931920"/>
            <a:ext cx="3520440" cy="1188720"/>
          </a:xfrm>
          <a:prstGeom prst="rect">
            <a:avLst/>
          </a:prstGeom>
          <a:solidFill>
            <a:srgbClr val="1B998B"/>
          </a:solidFill>
          <a:ln/>
        </p:spPr>
      </p:sp>
      <p:sp>
        <p:nvSpPr>
          <p:cNvPr id="14" name="Text 11"/>
          <p:cNvSpPr/>
          <p:nvPr/>
        </p:nvSpPr>
        <p:spPr>
          <a:xfrm>
            <a:off x="8458200" y="4041648"/>
            <a:ext cx="320040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-43% to -49%</a:t>
            </a:r>
            <a:endParaRPr lang="en-US" sz="1800" dirty="0"/>
          </a:p>
        </p:txBody>
      </p:sp>
      <p:sp>
        <p:nvSpPr>
          <p:cNvPr id="15" name="Text 12"/>
          <p:cNvSpPr/>
          <p:nvPr/>
        </p:nvSpPr>
        <p:spPr>
          <a:xfrm>
            <a:off x="8458200" y="4462272"/>
            <a:ext cx="3200400" cy="5029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Observed per label, including service selection.</a:t>
            </a:r>
            <a:endParaRPr lang="en-US" sz="1300" dirty="0"/>
          </a:p>
        </p:txBody>
      </p:sp>
      <p:sp>
        <p:nvSpPr>
          <p:cNvPr id="16" name="Text 13"/>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The 2026 bar reflects UPS's 5.9% list increase; Cato's prior UPS incentives are discounts off UPS Daily Rates, so they move with list. Illustrative; not a quote. Jan and 2026 bars are the prior contract (100 and 106). Teal bars are HTL periods (57, 52, 51).</a:t>
            </a:r>
            <a:endParaRPr lang="en-US" sz="1000" dirty="0"/>
          </a:p>
        </p:txBody>
      </p:sp>
      <p:sp>
        <p:nvSpPr>
          <p:cNvPr id="17" name="Text 14"/>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Cato: cost per parcel through peak, prior carrier vs. HTL</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~19,000 parcels in the Oct 24-Nov 21, 2025 window, all residential. Indexed, no dollars.</a:t>
            </a:r>
            <a:endParaRPr lang="en-US" sz="1200" dirty="0"/>
          </a:p>
        </p:txBody>
      </p:sp>
      <p:graphicFrame>
        <p:nvGraphicFramePr>
          <p:cNvPr id="6" name="Chart 0" descr=""/>
          <p:cNvGraphicFramePr/>
          <p:nvPr/>
        </p:nvGraphicFramePr>
        <p:xfrm>
          <a:off x="182880" y="1051560"/>
          <a:ext cx="8595360" cy="4709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869680" y="1371600"/>
            <a:ext cx="2971800" cy="3291840"/>
          </a:xfrm>
          <a:prstGeom prst="rect">
            <a:avLst/>
          </a:prstGeom>
          <a:solidFill>
            <a:srgbClr val="F4F6F8"/>
          </a:solidFill>
          <a:ln/>
        </p:spPr>
      </p:sp>
      <p:sp>
        <p:nvSpPr>
          <p:cNvPr id="8" name="Text 5"/>
          <p:cNvSpPr/>
          <p:nvPr/>
        </p:nvSpPr>
        <p:spPr>
          <a:xfrm>
            <a:off x="9006840" y="1554480"/>
            <a:ext cx="2743200" cy="365760"/>
          </a:xfrm>
          <a:prstGeom prst="rect">
            <a:avLst/>
          </a:prstGeom>
          <a:noFill/>
          <a:ln/>
        </p:spPr>
        <p:txBody>
          <a:bodyPr wrap="square" lIns="0" tIns="0" rIns="0" bIns="0" rtlCol="0" anchor="ctr"/>
          <a:lstStyle/>
          <a:p>
            <a:pPr indent="0" marL="0">
              <a:buNone/>
            </a:pPr>
            <a:r>
              <a:rPr lang="en-US" sz="1600" b="1" dirty="0">
                <a:solidFill>
                  <a:srgbClr val="14213D"/>
                </a:solidFill>
                <a:latin typeface="Arial" pitchFamily="34" charset="0"/>
                <a:ea typeface="Arial" pitchFamily="34" charset="-122"/>
                <a:cs typeface="Arial" pitchFamily="34" charset="-120"/>
              </a:rPr>
              <a:t>Start  100 / 84</a:t>
            </a:r>
            <a:endParaRPr lang="en-US" sz="1600" dirty="0"/>
          </a:p>
        </p:txBody>
      </p:sp>
      <p:sp>
        <p:nvSpPr>
          <p:cNvPr id="9" name="Text 6"/>
          <p:cNvSpPr/>
          <p:nvPr/>
        </p:nvSpPr>
        <p:spPr>
          <a:xfrm>
            <a:off x="9006840" y="2011680"/>
            <a:ext cx="2743200" cy="365760"/>
          </a:xfrm>
          <a:prstGeom prst="rect">
            <a:avLst/>
          </a:prstGeom>
          <a:noFill/>
          <a:ln/>
        </p:spPr>
        <p:txBody>
          <a:bodyPr wrap="square" lIns="0" tIns="0" rIns="0" bIns="0" rtlCol="0" anchor="ctr"/>
          <a:lstStyle/>
          <a:p>
            <a:pPr indent="0" marL="0">
              <a:buNone/>
            </a:pPr>
            <a:r>
              <a:rPr lang="en-US" sz="1600" b="1" dirty="0">
                <a:solidFill>
                  <a:srgbClr val="B23A48"/>
                </a:solidFill>
                <a:latin typeface="Arial" pitchFamily="34" charset="0"/>
                <a:ea typeface="Arial" pitchFamily="34" charset="-122"/>
                <a:cs typeface="Arial" pitchFamily="34" charset="-120"/>
              </a:rPr>
              <a:t>Peak window  104</a:t>
            </a:r>
            <a:endParaRPr lang="en-US" sz="1600" dirty="0"/>
          </a:p>
        </p:txBody>
      </p:sp>
      <p:sp>
        <p:nvSpPr>
          <p:cNvPr id="10" name="Text 7"/>
          <p:cNvSpPr/>
          <p:nvPr/>
        </p:nvSpPr>
        <p:spPr>
          <a:xfrm>
            <a:off x="9006840" y="2468880"/>
            <a:ext cx="2743200" cy="365760"/>
          </a:xfrm>
          <a:prstGeom prst="rect">
            <a:avLst/>
          </a:prstGeom>
          <a:noFill/>
          <a:ln/>
        </p:spPr>
        <p:txBody>
          <a:bodyPr wrap="square" lIns="0" tIns="0" rIns="0" bIns="0" rtlCol="0" anchor="ctr"/>
          <a:lstStyle/>
          <a:p>
            <a:pPr indent="0" marL="0">
              <a:buNone/>
            </a:pPr>
            <a:r>
              <a:rPr lang="en-US" sz="1600" b="1" dirty="0">
                <a:solidFill>
                  <a:srgbClr val="14213D"/>
                </a:solidFill>
                <a:latin typeface="Arial" pitchFamily="34" charset="0"/>
                <a:ea typeface="Arial" pitchFamily="34" charset="-122"/>
                <a:cs typeface="Arial" pitchFamily="34" charset="-120"/>
              </a:rPr>
              <a:t>End  109 / 87</a:t>
            </a:r>
            <a:endParaRPr lang="en-US" sz="1600" dirty="0"/>
          </a:p>
        </p:txBody>
      </p:sp>
      <p:sp>
        <p:nvSpPr>
          <p:cNvPr id="11" name="Text 8"/>
          <p:cNvSpPr/>
          <p:nvPr/>
        </p:nvSpPr>
        <p:spPr>
          <a:xfrm>
            <a:off x="9006840" y="3017520"/>
            <a:ext cx="2743200" cy="411480"/>
          </a:xfrm>
          <a:prstGeom prst="rect">
            <a:avLst/>
          </a:prstGeom>
          <a:noFill/>
          <a:ln/>
        </p:spPr>
        <p:txBody>
          <a:bodyPr wrap="square" lIns="0" tIns="0" rIns="0" bIns="0" rtlCol="0" anchor="ctr"/>
          <a:lstStyle/>
          <a:p>
            <a:pPr indent="0" marL="0">
              <a:buNone/>
            </a:pPr>
            <a:r>
              <a:rPr lang="en-US" sz="2200" b="1" dirty="0">
                <a:solidFill>
                  <a:srgbClr val="1B998B"/>
                </a:solidFill>
                <a:latin typeface="Arial" pitchFamily="34" charset="0"/>
                <a:ea typeface="Arial" pitchFamily="34" charset="-122"/>
                <a:cs typeface="Arial" pitchFamily="34" charset="-120"/>
              </a:rPr>
              <a:t>22 pt gap</a:t>
            </a:r>
            <a:endParaRPr lang="en-US" sz="2200" dirty="0"/>
          </a:p>
        </p:txBody>
      </p:sp>
      <p:sp>
        <p:nvSpPr>
          <p:cNvPr id="12" name="Text 9"/>
          <p:cNvSpPr/>
          <p:nvPr/>
        </p:nvSpPr>
        <p:spPr>
          <a:xfrm>
            <a:off x="9006840" y="3566160"/>
            <a:ext cx="2697480" cy="868680"/>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Teal is solid for the first five weeks (actual labels), then held flat. Dashed in the source means a hold, not new data.</a:t>
            </a:r>
            <a:endParaRPr lang="en-US" sz="1200" dirty="0"/>
          </a:p>
        </p:txBody>
      </p:sp>
      <p:sp>
        <p:nvSpPr>
          <p:cNvPr id="13" name="Text 10"/>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Red = Cato's pre-HTL contract with UPS's published 2026 residential demand surcharge ($0.50 / $0.75) and a 5.9% rate increase Jan 4. Teal = same parcels re-rated through HTL (16.4% lower), weekly shape from actual HTL-routed labels. After Nov 21 the teal line is held, not new data. Nov 24-Dec 22 is the peak-of-peak window. Jan 4 is the 2027 rate increase.</a:t>
            </a:r>
            <a:endParaRPr lang="en-US" sz="1000" dirty="0"/>
          </a:p>
        </p:txBody>
      </p:sp>
      <p:sp>
        <p:nvSpPr>
          <p:cNvPr id="14" name="Text 11"/>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Patch Pals: the first Girl Scout product where every box is a parcel</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Online-exclusive, direct-ship only, launching January 12, 2027.</a:t>
            </a:r>
            <a:endParaRPr lang="en-US" sz="1200" dirty="0"/>
          </a:p>
        </p:txBody>
      </p:sp>
      <p:sp>
        <p:nvSpPr>
          <p:cNvPr id="6" name="Shape 4"/>
          <p:cNvSpPr/>
          <p:nvPr/>
        </p:nvSpPr>
        <p:spPr>
          <a:xfrm>
            <a:off x="292608" y="1024128"/>
            <a:ext cx="3794760" cy="1554480"/>
          </a:xfrm>
          <a:prstGeom prst="rect">
            <a:avLst/>
          </a:prstGeom>
          <a:solidFill>
            <a:srgbClr val="14213D"/>
          </a:solidFill>
          <a:ln/>
        </p:spPr>
      </p:sp>
      <p:sp>
        <p:nvSpPr>
          <p:cNvPr id="7" name="Text 5"/>
          <p:cNvSpPr/>
          <p:nvPr/>
        </p:nvSpPr>
        <p:spPr>
          <a:xfrm>
            <a:off x="429768" y="1097280"/>
            <a:ext cx="3520440" cy="3657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~950K</a:t>
            </a:r>
            <a:endParaRPr lang="en-US" sz="2200" dirty="0"/>
          </a:p>
        </p:txBody>
      </p:sp>
      <p:sp>
        <p:nvSpPr>
          <p:cNvPr id="8" name="Text 6"/>
          <p:cNvSpPr/>
          <p:nvPr/>
        </p:nvSpPr>
        <p:spPr>
          <a:xfrm>
            <a:off x="429768" y="1508760"/>
            <a:ext cx="3520440" cy="9601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Dog households sample it in January. BarkBox and Super Chewer subscribers get a sample in their January 2027 box. BARK ships ~2.8M orders a quarter.</a:t>
            </a:r>
            <a:endParaRPr lang="en-US" sz="1200" dirty="0"/>
          </a:p>
        </p:txBody>
      </p:sp>
      <p:sp>
        <p:nvSpPr>
          <p:cNvPr id="9" name="Shape 7"/>
          <p:cNvSpPr/>
          <p:nvPr/>
        </p:nvSpPr>
        <p:spPr>
          <a:xfrm>
            <a:off x="4224528" y="1024128"/>
            <a:ext cx="3794760" cy="1554480"/>
          </a:xfrm>
          <a:prstGeom prst="rect">
            <a:avLst/>
          </a:prstGeom>
          <a:solidFill>
            <a:srgbClr val="1B998B"/>
          </a:solidFill>
          <a:ln/>
        </p:spPr>
      </p:sp>
      <p:sp>
        <p:nvSpPr>
          <p:cNvPr id="10" name="Text 8"/>
          <p:cNvSpPr/>
          <p:nvPr/>
        </p:nvSpPr>
        <p:spPr>
          <a:xfrm>
            <a:off x="4361688" y="1097280"/>
            <a:ext cx="3520440" cy="3657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4-box min</a:t>
            </a:r>
            <a:endParaRPr lang="en-US" sz="2200" dirty="0"/>
          </a:p>
        </p:txBody>
      </p:sp>
      <p:sp>
        <p:nvSpPr>
          <p:cNvPr id="11" name="Text 9"/>
          <p:cNvSpPr/>
          <p:nvPr/>
        </p:nvSpPr>
        <p:spPr>
          <a:xfrm>
            <a:off x="4361688" y="1508760"/>
            <a:ext cx="3520440" cy="9601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$9 per package (Western NY council pricing). Shipped orders require at least four packages, so every order is a multi-box parcel.</a:t>
            </a:r>
            <a:endParaRPr lang="en-US" sz="1200" dirty="0"/>
          </a:p>
        </p:txBody>
      </p:sp>
      <p:sp>
        <p:nvSpPr>
          <p:cNvPr id="12" name="Shape 10"/>
          <p:cNvSpPr/>
          <p:nvPr/>
        </p:nvSpPr>
        <p:spPr>
          <a:xfrm>
            <a:off x="8156448" y="1024128"/>
            <a:ext cx="3794760" cy="1554480"/>
          </a:xfrm>
          <a:prstGeom prst="rect">
            <a:avLst/>
          </a:prstGeom>
          <a:solidFill>
            <a:srgbClr val="B23A48"/>
          </a:solidFill>
          <a:ln/>
        </p:spPr>
      </p:sp>
      <p:sp>
        <p:nvSpPr>
          <p:cNvPr id="13" name="Text 11"/>
          <p:cNvSpPr/>
          <p:nvPr/>
        </p:nvSpPr>
        <p:spPr>
          <a:xfrm>
            <a:off x="8293608" y="1097280"/>
            <a:ext cx="3520440" cy="3657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~3x</a:t>
            </a:r>
            <a:endParaRPr lang="en-US" sz="2200" dirty="0"/>
          </a:p>
        </p:txBody>
      </p:sp>
      <p:sp>
        <p:nvSpPr>
          <p:cNvPr id="14" name="Text 12"/>
          <p:cNvSpPr/>
          <p:nvPr/>
        </p:nvSpPr>
        <p:spPr>
          <a:xfrm>
            <a:off x="8293608" y="1508760"/>
            <a:ext cx="3520440" cy="9601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Public math: $11.99 to ship a four-pack vs. roughly $4 in troop proceeds. The shipping line is the whole economics of this product.</a:t>
            </a:r>
            <a:endParaRPr lang="en-US" sz="1200" dirty="0"/>
          </a:p>
        </p:txBody>
      </p:sp>
      <p:sp>
        <p:nvSpPr>
          <p:cNvPr id="15" name="Text 13"/>
          <p:cNvSpPr/>
          <p:nvPr/>
        </p:nvSpPr>
        <p:spPr>
          <a:xfrm>
            <a:off x="329184" y="2697480"/>
            <a:ext cx="11430000" cy="256032"/>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Scenario          Assumption                                              Parcels        Gap at $1.97 to $3.24</a:t>
            </a:r>
            <a:endParaRPr lang="en-US" sz="1200" dirty="0"/>
          </a:p>
        </p:txBody>
      </p:sp>
      <p:sp>
        <p:nvSpPr>
          <p:cNvPr id="16" name="Shape 14"/>
          <p:cNvSpPr/>
          <p:nvPr/>
        </p:nvSpPr>
        <p:spPr>
          <a:xfrm>
            <a:off x="292608" y="3017520"/>
            <a:ext cx="11612880" cy="457200"/>
          </a:xfrm>
          <a:prstGeom prst="rect">
            <a:avLst/>
          </a:prstGeom>
          <a:solidFill>
            <a:srgbClr val="F4F6F8"/>
          </a:solidFill>
          <a:ln/>
        </p:spPr>
      </p:sp>
      <p:sp>
        <p:nvSpPr>
          <p:cNvPr id="17" name="Text 15"/>
          <p:cNvSpPr/>
          <p:nvPr/>
        </p:nvSpPr>
        <p:spPr>
          <a:xfrm>
            <a:off x="411480" y="3108960"/>
            <a:ext cx="1005840" cy="27432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Low</a:t>
            </a:r>
            <a:endParaRPr lang="en-US" sz="1400" dirty="0"/>
          </a:p>
        </p:txBody>
      </p:sp>
      <p:sp>
        <p:nvSpPr>
          <p:cNvPr id="18" name="Text 16"/>
          <p:cNvSpPr/>
          <p:nvPr/>
        </p:nvSpPr>
        <p:spPr>
          <a:xfrm>
            <a:off x="1463040" y="3108960"/>
            <a:ext cx="6035040" cy="27432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2% of sampled BARK households order a 4-pack</a:t>
            </a:r>
            <a:endParaRPr lang="en-US" sz="1300" dirty="0"/>
          </a:p>
        </p:txBody>
      </p:sp>
      <p:sp>
        <p:nvSpPr>
          <p:cNvPr id="19" name="Text 17"/>
          <p:cNvSpPr/>
          <p:nvPr/>
        </p:nvSpPr>
        <p:spPr>
          <a:xfrm>
            <a:off x="7589520" y="3108960"/>
            <a:ext cx="1463040" cy="27432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~19,000</a:t>
            </a:r>
            <a:endParaRPr lang="en-US" sz="1400" dirty="0"/>
          </a:p>
        </p:txBody>
      </p:sp>
      <p:sp>
        <p:nvSpPr>
          <p:cNvPr id="20" name="Text 18"/>
          <p:cNvSpPr/>
          <p:nvPr/>
        </p:nvSpPr>
        <p:spPr>
          <a:xfrm>
            <a:off x="9144000" y="3108960"/>
            <a:ext cx="2560320" cy="274320"/>
          </a:xfrm>
          <a:prstGeom prst="rect">
            <a:avLst/>
          </a:prstGeom>
          <a:noFill/>
          <a:ln/>
        </p:spPr>
        <p:txBody>
          <a:bodyPr wrap="square" lIns="0" tIns="0" rIns="0" bIns="0" rtlCol="0" anchor="ctr"/>
          <a:lstStyle/>
          <a:p>
            <a:pPr indent="0" marL="0">
              <a:buNone/>
            </a:pPr>
            <a:r>
              <a:rPr lang="en-US" sz="1400" b="1" dirty="0">
                <a:solidFill>
                  <a:srgbClr val="1B998B"/>
                </a:solidFill>
                <a:latin typeface="Arial" pitchFamily="34" charset="0"/>
                <a:ea typeface="Arial" pitchFamily="34" charset="-122"/>
                <a:cs typeface="Arial" pitchFamily="34" charset="-120"/>
              </a:rPr>
              <a:t>$37K to $62K</a:t>
            </a:r>
            <a:endParaRPr lang="en-US" sz="1400" dirty="0"/>
          </a:p>
        </p:txBody>
      </p:sp>
      <p:sp>
        <p:nvSpPr>
          <p:cNvPr id="21" name="Shape 19"/>
          <p:cNvSpPr/>
          <p:nvPr/>
        </p:nvSpPr>
        <p:spPr>
          <a:xfrm>
            <a:off x="292608" y="3520440"/>
            <a:ext cx="11612880" cy="457200"/>
          </a:xfrm>
          <a:prstGeom prst="rect">
            <a:avLst/>
          </a:prstGeom>
          <a:solidFill>
            <a:srgbClr val="E7F6F3"/>
          </a:solidFill>
          <a:ln/>
        </p:spPr>
      </p:sp>
      <p:sp>
        <p:nvSpPr>
          <p:cNvPr id="22" name="Text 20"/>
          <p:cNvSpPr/>
          <p:nvPr/>
        </p:nvSpPr>
        <p:spPr>
          <a:xfrm>
            <a:off x="411480" y="3611880"/>
            <a:ext cx="1005840" cy="27432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Mid</a:t>
            </a:r>
            <a:endParaRPr lang="en-US" sz="1400" dirty="0"/>
          </a:p>
        </p:txBody>
      </p:sp>
      <p:sp>
        <p:nvSpPr>
          <p:cNvPr id="23" name="Text 21"/>
          <p:cNvSpPr/>
          <p:nvPr/>
        </p:nvSpPr>
        <p:spPr>
          <a:xfrm>
            <a:off x="1463040" y="3611880"/>
            <a:ext cx="6035040" cy="27432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5% order; cookie buyers add a box (more weight, no new parcel)</a:t>
            </a:r>
            <a:endParaRPr lang="en-US" sz="1300" dirty="0"/>
          </a:p>
        </p:txBody>
      </p:sp>
      <p:sp>
        <p:nvSpPr>
          <p:cNvPr id="24" name="Text 22"/>
          <p:cNvSpPr/>
          <p:nvPr/>
        </p:nvSpPr>
        <p:spPr>
          <a:xfrm>
            <a:off x="7589520" y="3611880"/>
            <a:ext cx="1463040" cy="27432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~48,000</a:t>
            </a:r>
            <a:endParaRPr lang="en-US" sz="1400" dirty="0"/>
          </a:p>
        </p:txBody>
      </p:sp>
      <p:sp>
        <p:nvSpPr>
          <p:cNvPr id="25" name="Text 23"/>
          <p:cNvSpPr/>
          <p:nvPr/>
        </p:nvSpPr>
        <p:spPr>
          <a:xfrm>
            <a:off x="9144000" y="3611880"/>
            <a:ext cx="2560320" cy="274320"/>
          </a:xfrm>
          <a:prstGeom prst="rect">
            <a:avLst/>
          </a:prstGeom>
          <a:noFill/>
          <a:ln/>
        </p:spPr>
        <p:txBody>
          <a:bodyPr wrap="square" lIns="0" tIns="0" rIns="0" bIns="0" rtlCol="0" anchor="ctr"/>
          <a:lstStyle/>
          <a:p>
            <a:pPr indent="0" marL="0">
              <a:buNone/>
            </a:pPr>
            <a:r>
              <a:rPr lang="en-US" sz="1400" b="1" dirty="0">
                <a:solidFill>
                  <a:srgbClr val="1B998B"/>
                </a:solidFill>
                <a:latin typeface="Arial" pitchFamily="34" charset="0"/>
                <a:ea typeface="Arial" pitchFamily="34" charset="-122"/>
                <a:cs typeface="Arial" pitchFamily="34" charset="-120"/>
              </a:rPr>
              <a:t>$95K to $156K</a:t>
            </a:r>
            <a:endParaRPr lang="en-US" sz="1400" dirty="0"/>
          </a:p>
        </p:txBody>
      </p:sp>
      <p:sp>
        <p:nvSpPr>
          <p:cNvPr id="26" name="Shape 24"/>
          <p:cNvSpPr/>
          <p:nvPr/>
        </p:nvSpPr>
        <p:spPr>
          <a:xfrm>
            <a:off x="292608" y="4023360"/>
            <a:ext cx="11612880" cy="457200"/>
          </a:xfrm>
          <a:prstGeom prst="rect">
            <a:avLst/>
          </a:prstGeom>
          <a:solidFill>
            <a:srgbClr val="F4F6F8"/>
          </a:solidFill>
          <a:ln/>
        </p:spPr>
      </p:sp>
      <p:sp>
        <p:nvSpPr>
          <p:cNvPr id="27" name="Text 25"/>
          <p:cNvSpPr/>
          <p:nvPr/>
        </p:nvSpPr>
        <p:spPr>
          <a:xfrm>
            <a:off x="411480" y="4114800"/>
            <a:ext cx="1005840" cy="27432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High</a:t>
            </a:r>
            <a:endParaRPr lang="en-US" sz="1400" dirty="0"/>
          </a:p>
        </p:txBody>
      </p:sp>
      <p:sp>
        <p:nvSpPr>
          <p:cNvPr id="28" name="Text 26"/>
          <p:cNvSpPr/>
          <p:nvPr/>
        </p:nvSpPr>
        <p:spPr>
          <a:xfrm>
            <a:off x="1463040" y="4114800"/>
            <a:ext cx="6035040" cy="27432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8% order, driven by January sampling and the press cycle</a:t>
            </a:r>
            <a:endParaRPr lang="en-US" sz="1300" dirty="0"/>
          </a:p>
        </p:txBody>
      </p:sp>
      <p:sp>
        <p:nvSpPr>
          <p:cNvPr id="29" name="Text 27"/>
          <p:cNvSpPr/>
          <p:nvPr/>
        </p:nvSpPr>
        <p:spPr>
          <a:xfrm>
            <a:off x="7589520" y="4114800"/>
            <a:ext cx="1463040" cy="27432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~76,000</a:t>
            </a:r>
            <a:endParaRPr lang="en-US" sz="1400" dirty="0"/>
          </a:p>
        </p:txBody>
      </p:sp>
      <p:sp>
        <p:nvSpPr>
          <p:cNvPr id="30" name="Text 28"/>
          <p:cNvSpPr/>
          <p:nvPr/>
        </p:nvSpPr>
        <p:spPr>
          <a:xfrm>
            <a:off x="9144000" y="4114800"/>
            <a:ext cx="2560320" cy="274320"/>
          </a:xfrm>
          <a:prstGeom prst="rect">
            <a:avLst/>
          </a:prstGeom>
          <a:noFill/>
          <a:ln/>
        </p:spPr>
        <p:txBody>
          <a:bodyPr wrap="square" lIns="0" tIns="0" rIns="0" bIns="0" rtlCol="0" anchor="ctr"/>
          <a:lstStyle/>
          <a:p>
            <a:pPr indent="0" marL="0">
              <a:buNone/>
            </a:pPr>
            <a:r>
              <a:rPr lang="en-US" sz="1400" b="1" dirty="0">
                <a:solidFill>
                  <a:srgbClr val="1B998B"/>
                </a:solidFill>
                <a:latin typeface="Arial" pitchFamily="34" charset="0"/>
                <a:ea typeface="Arial" pitchFamily="34" charset="-122"/>
                <a:cs typeface="Arial" pitchFamily="34" charset="-120"/>
              </a:rPr>
              <a:t>$150K to $246K</a:t>
            </a:r>
            <a:endParaRPr lang="en-US" sz="1400" dirty="0"/>
          </a:p>
        </p:txBody>
      </p:sp>
      <p:sp>
        <p:nvSpPr>
          <p:cNvPr id="31" name="Text 29"/>
          <p:cNvSpPr/>
          <p:nvPr/>
        </p:nvSpPr>
        <p:spPr>
          <a:xfrm>
            <a:off x="329184" y="4617720"/>
            <a:ext cx="11521440" cy="64008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Patch Pals launches eight days after the January rate increase, inside the tail of the surcharge window. No troop-delivery option, so 100% of volume carries a shipping cost. Every scenario is a floor. Who fulfills Patch Pals, and is it the same carrier account as cookies?</a:t>
            </a:r>
            <a:endParaRPr lang="en-US" sz="1300" dirty="0"/>
          </a:p>
        </p:txBody>
      </p:sp>
      <p:sp>
        <p:nvSpPr>
          <p:cNvPr id="32" name="Text 30"/>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Sources: BARK / Girl Scouts press release (Sept 2026); BARK Q1 FY2026 results; Fast Company; Money Talks News; GSUSA Digital Cookie terms.</a:t>
            </a:r>
            <a:endParaRPr lang="en-US" sz="1000" dirty="0"/>
          </a:p>
        </p:txBody>
      </p:sp>
      <p:sp>
        <p:nvSpPr>
          <p:cNvPr id="33" name="Text 31"/>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Patch Pals, year one: stay the course vs. take a look</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Standalone parcels, 2027. Status quo = $11.99 + 5.9% + January surcharge tail ($12.95). HTL = $10.62 / $9.27.</a:t>
            </a:r>
            <a:endParaRPr lang="en-US" sz="1200" dirty="0"/>
          </a:p>
        </p:txBody>
      </p:sp>
      <p:graphicFrame>
        <p:nvGraphicFramePr>
          <p:cNvPr id="6" name="Chart 0" descr=""/>
          <p:cNvGraphicFramePr/>
          <p:nvPr/>
        </p:nvGraphicFramePr>
        <p:xfrm>
          <a:off x="137160" y="1005840"/>
          <a:ext cx="7772400" cy="47548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046720" y="1143000"/>
            <a:ext cx="3794760" cy="1298448"/>
          </a:xfrm>
          <a:prstGeom prst="rect">
            <a:avLst/>
          </a:prstGeom>
          <a:solidFill>
            <a:srgbClr val="F4F6F8"/>
          </a:solidFill>
          <a:ln/>
        </p:spPr>
      </p:sp>
      <p:sp>
        <p:nvSpPr>
          <p:cNvPr id="8" name="Text 5"/>
          <p:cNvSpPr/>
          <p:nvPr/>
        </p:nvSpPr>
        <p:spPr>
          <a:xfrm>
            <a:off x="8183880" y="1216152"/>
            <a:ext cx="3520440" cy="219456"/>
          </a:xfrm>
          <a:prstGeom prst="rect">
            <a:avLst/>
          </a:prstGeom>
          <a:noFill/>
          <a:ln/>
        </p:spPr>
        <p:txBody>
          <a:bodyPr wrap="square" lIns="0" tIns="0" rIns="0" bIns="0" rtlCol="0" anchor="ctr"/>
          <a:lstStyle/>
          <a:p>
            <a:pPr indent="0" marL="0">
              <a:buNone/>
            </a:pPr>
            <a:r>
              <a:rPr lang="en-US" sz="1200" b="1" dirty="0">
                <a:solidFill>
                  <a:srgbClr val="1B998B"/>
                </a:solidFill>
                <a:latin typeface="Arial" pitchFamily="34" charset="0"/>
                <a:ea typeface="Arial" pitchFamily="34" charset="-122"/>
                <a:cs typeface="Arial" pitchFamily="34" charset="-120"/>
              </a:rPr>
              <a:t>Low</a:t>
            </a:r>
            <a:endParaRPr lang="en-US" sz="1200" dirty="0"/>
          </a:p>
        </p:txBody>
      </p:sp>
      <p:sp>
        <p:nvSpPr>
          <p:cNvPr id="9" name="Text 6"/>
          <p:cNvSpPr/>
          <p:nvPr/>
        </p:nvSpPr>
        <p:spPr>
          <a:xfrm>
            <a:off x="8183880" y="1453896"/>
            <a:ext cx="3520440" cy="329184"/>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$246K / $202K / $176K</a:t>
            </a:r>
            <a:endParaRPr lang="en-US" sz="1400" dirty="0"/>
          </a:p>
        </p:txBody>
      </p:sp>
      <p:sp>
        <p:nvSpPr>
          <p:cNvPr id="10" name="Text 7"/>
          <p:cNvSpPr/>
          <p:nvPr/>
        </p:nvSpPr>
        <p:spPr>
          <a:xfrm>
            <a:off x="8183880" y="1856232"/>
            <a:ext cx="3520440" cy="45720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Back to the mission: $44K to $70K</a:t>
            </a:r>
            <a:endParaRPr lang="en-US" sz="1300" dirty="0"/>
          </a:p>
        </p:txBody>
      </p:sp>
      <p:sp>
        <p:nvSpPr>
          <p:cNvPr id="11" name="Shape 8"/>
          <p:cNvSpPr/>
          <p:nvPr/>
        </p:nvSpPr>
        <p:spPr>
          <a:xfrm>
            <a:off x="8046720" y="2560320"/>
            <a:ext cx="3794760" cy="1298448"/>
          </a:xfrm>
          <a:prstGeom prst="rect">
            <a:avLst/>
          </a:prstGeom>
          <a:solidFill>
            <a:srgbClr val="F4F6F8"/>
          </a:solidFill>
          <a:ln/>
        </p:spPr>
      </p:sp>
      <p:sp>
        <p:nvSpPr>
          <p:cNvPr id="12" name="Text 9"/>
          <p:cNvSpPr/>
          <p:nvPr/>
        </p:nvSpPr>
        <p:spPr>
          <a:xfrm>
            <a:off x="8183880" y="2633472"/>
            <a:ext cx="3520440" cy="219456"/>
          </a:xfrm>
          <a:prstGeom prst="rect">
            <a:avLst/>
          </a:prstGeom>
          <a:noFill/>
          <a:ln/>
        </p:spPr>
        <p:txBody>
          <a:bodyPr wrap="square" lIns="0" tIns="0" rIns="0" bIns="0" rtlCol="0" anchor="ctr"/>
          <a:lstStyle/>
          <a:p>
            <a:pPr indent="0" marL="0">
              <a:buNone/>
            </a:pPr>
            <a:r>
              <a:rPr lang="en-US" sz="1200" b="1" dirty="0">
                <a:solidFill>
                  <a:srgbClr val="1B998B"/>
                </a:solidFill>
                <a:latin typeface="Arial" pitchFamily="34" charset="0"/>
                <a:ea typeface="Arial" pitchFamily="34" charset="-122"/>
                <a:cs typeface="Arial" pitchFamily="34" charset="-120"/>
              </a:rPr>
              <a:t>Mid</a:t>
            </a:r>
            <a:endParaRPr lang="en-US" sz="1200" dirty="0"/>
          </a:p>
        </p:txBody>
      </p:sp>
      <p:sp>
        <p:nvSpPr>
          <p:cNvPr id="13" name="Text 10"/>
          <p:cNvSpPr/>
          <p:nvPr/>
        </p:nvSpPr>
        <p:spPr>
          <a:xfrm>
            <a:off x="8183880" y="2871216"/>
            <a:ext cx="3520440" cy="329184"/>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$621K / $510K / $445K</a:t>
            </a:r>
            <a:endParaRPr lang="en-US" sz="1400" dirty="0"/>
          </a:p>
        </p:txBody>
      </p:sp>
      <p:sp>
        <p:nvSpPr>
          <p:cNvPr id="14" name="Text 11"/>
          <p:cNvSpPr/>
          <p:nvPr/>
        </p:nvSpPr>
        <p:spPr>
          <a:xfrm>
            <a:off x="8183880" y="3273552"/>
            <a:ext cx="3520440" cy="45720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Back to the mission: $112K to $177K</a:t>
            </a:r>
            <a:endParaRPr lang="en-US" sz="1300" dirty="0"/>
          </a:p>
        </p:txBody>
      </p:sp>
      <p:sp>
        <p:nvSpPr>
          <p:cNvPr id="15" name="Shape 12"/>
          <p:cNvSpPr/>
          <p:nvPr/>
        </p:nvSpPr>
        <p:spPr>
          <a:xfrm>
            <a:off x="8046720" y="3977640"/>
            <a:ext cx="3794760" cy="1298448"/>
          </a:xfrm>
          <a:prstGeom prst="rect">
            <a:avLst/>
          </a:prstGeom>
          <a:solidFill>
            <a:srgbClr val="1B998B"/>
          </a:solidFill>
          <a:ln/>
        </p:spPr>
      </p:sp>
      <p:sp>
        <p:nvSpPr>
          <p:cNvPr id="16" name="Text 13"/>
          <p:cNvSpPr/>
          <p:nvPr/>
        </p:nvSpPr>
        <p:spPr>
          <a:xfrm>
            <a:off x="8183880" y="4050792"/>
            <a:ext cx="3520440" cy="219456"/>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High</a:t>
            </a:r>
            <a:endParaRPr lang="en-US" sz="1200" dirty="0"/>
          </a:p>
        </p:txBody>
      </p:sp>
      <p:sp>
        <p:nvSpPr>
          <p:cNvPr id="17" name="Text 14"/>
          <p:cNvSpPr/>
          <p:nvPr/>
        </p:nvSpPr>
        <p:spPr>
          <a:xfrm>
            <a:off x="8183880" y="4288536"/>
            <a:ext cx="352044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$984K / $807K / $704K</a:t>
            </a:r>
            <a:endParaRPr lang="en-US" sz="1400" dirty="0"/>
          </a:p>
        </p:txBody>
      </p:sp>
      <p:sp>
        <p:nvSpPr>
          <p:cNvPr id="18" name="Text 15"/>
          <p:cNvSpPr/>
          <p:nvPr/>
        </p:nvSpPr>
        <p:spPr>
          <a:xfrm>
            <a:off x="8183880" y="4690872"/>
            <a:ext cx="3520440" cy="45720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Back to the mission: $177K to $280K</a:t>
            </a:r>
            <a:endParaRPr lang="en-US" sz="1300" dirty="0"/>
          </a:p>
        </p:txBody>
      </p:sp>
      <p:sp>
        <p:nvSpPr>
          <p:cNvPr id="19" name="Text 16"/>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Illustrative. Volume anchored on BARK's ~950K January sample boxes (2% / 5% / 8% ordering a 4-pack). A 100%-parcel product: every dollar here is shipping. Figures are $000s.</a:t>
            </a:r>
            <a:endParaRPr lang="en-US" sz="1000" dirty="0"/>
          </a:p>
        </p:txBody>
      </p:sp>
      <p:sp>
        <p:nvSpPr>
          <p:cNvPr id="20" name="Text 17"/>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What three seasons look like if the PLD confirms the estimate</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2.0M cookie parcels/season + Patch Pals mid-case. Carrier baseline compounds 5.9%/yr from the $11.99 fee; savings held at 16.4% / 27%.</a:t>
            </a:r>
            <a:endParaRPr lang="en-US" sz="1200" dirty="0"/>
          </a:p>
        </p:txBody>
      </p:sp>
      <p:graphicFrame>
        <p:nvGraphicFramePr>
          <p:cNvPr id="6" name="Chart 0" descr=""/>
          <p:cNvGraphicFramePr/>
          <p:nvPr/>
        </p:nvGraphicFramePr>
        <p:xfrm>
          <a:off x="91440" y="1005840"/>
          <a:ext cx="7955280" cy="4709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183880" y="1280160"/>
            <a:ext cx="3657600" cy="1554480"/>
          </a:xfrm>
          <a:prstGeom prst="rect">
            <a:avLst/>
          </a:prstGeom>
          <a:solidFill>
            <a:srgbClr val="F8F1F2"/>
          </a:solidFill>
          <a:ln/>
        </p:spPr>
      </p:sp>
      <p:sp>
        <p:nvSpPr>
          <p:cNvPr id="8" name="Text 5"/>
          <p:cNvSpPr/>
          <p:nvPr/>
        </p:nvSpPr>
        <p:spPr>
          <a:xfrm>
            <a:off x="8321040" y="1389888"/>
            <a:ext cx="3383280" cy="365760"/>
          </a:xfrm>
          <a:prstGeom prst="rect">
            <a:avLst/>
          </a:prstGeom>
          <a:noFill/>
          <a:ln/>
        </p:spPr>
        <p:txBody>
          <a:bodyPr wrap="square" lIns="0" tIns="0" rIns="0" bIns="0" rtlCol="0" anchor="ctr"/>
          <a:lstStyle/>
          <a:p>
            <a:pPr indent="0" marL="0">
              <a:buNone/>
            </a:pPr>
            <a:r>
              <a:rPr lang="en-US" sz="2400" b="1" dirty="0">
                <a:solidFill>
                  <a:srgbClr val="B23A48"/>
                </a:solidFill>
                <a:latin typeface="Arial" pitchFamily="34" charset="0"/>
                <a:ea typeface="Arial" pitchFamily="34" charset="-122"/>
                <a:cs typeface="Arial" pitchFamily="34" charset="-120"/>
              </a:rPr>
              <a:t>$5.6M</a:t>
            </a:r>
            <a:endParaRPr lang="en-US" sz="2400" dirty="0"/>
          </a:p>
        </p:txBody>
      </p:sp>
      <p:sp>
        <p:nvSpPr>
          <p:cNvPr id="9" name="Text 6"/>
          <p:cNvSpPr/>
          <p:nvPr/>
        </p:nvSpPr>
        <p:spPr>
          <a:xfrm>
            <a:off x="8321040" y="1828800"/>
            <a:ext cx="3383280" cy="777240"/>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GSUSA's projected operating loss that drove the 2024 dues vote.</a:t>
            </a:r>
            <a:endParaRPr lang="en-US" sz="1400" dirty="0"/>
          </a:p>
        </p:txBody>
      </p:sp>
      <p:sp>
        <p:nvSpPr>
          <p:cNvPr id="10" name="Shape 7"/>
          <p:cNvSpPr/>
          <p:nvPr/>
        </p:nvSpPr>
        <p:spPr>
          <a:xfrm>
            <a:off x="8183880" y="3017520"/>
            <a:ext cx="3657600" cy="1554480"/>
          </a:xfrm>
          <a:prstGeom prst="rect">
            <a:avLst/>
          </a:prstGeom>
          <a:solidFill>
            <a:srgbClr val="14213D"/>
          </a:solidFill>
          <a:ln/>
        </p:spPr>
      </p:sp>
      <p:sp>
        <p:nvSpPr>
          <p:cNvPr id="11" name="Text 8"/>
          <p:cNvSpPr/>
          <p:nvPr/>
        </p:nvSpPr>
        <p:spPr>
          <a:xfrm>
            <a:off x="8321040" y="3154680"/>
            <a:ext cx="338328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$14M and $22M</a:t>
            </a:r>
            <a:endParaRPr lang="en-US" sz="2200" dirty="0"/>
          </a:p>
        </p:txBody>
      </p:sp>
      <p:sp>
        <p:nvSpPr>
          <p:cNvPr id="12" name="Text 9"/>
          <p:cNvSpPr/>
          <p:nvPr/>
        </p:nvSpPr>
        <p:spPr>
          <a:xfrm>
            <a:off x="8321040" y="3657600"/>
            <a:ext cx="3383280" cy="685800"/>
          </a:xfrm>
          <a:prstGeom prst="rect">
            <a:avLst/>
          </a:prstGeom>
          <a:noFill/>
          <a:ln/>
        </p:spPr>
        <p:txBody>
          <a:bodyPr wrap="square" lIns="0" tIns="0" rIns="0" bIns="0" rtlCol="0" anchor="ctr"/>
          <a:lstStyle/>
          <a:p>
            <a:pPr indent="0" marL="0">
              <a:buNone/>
            </a:pPr>
            <a:r>
              <a:rPr lang="en-US" sz="1400" dirty="0">
                <a:solidFill>
                  <a:srgbClr val="D5DEE6"/>
                </a:solidFill>
                <a:latin typeface="Arial" pitchFamily="34" charset="0"/>
                <a:ea typeface="Arial" pitchFamily="34" charset="-122"/>
                <a:cs typeface="Arial" pitchFamily="34" charset="-120"/>
              </a:rPr>
              <a:t>Three-season line ends, if the PLD confirms the estimate.</a:t>
            </a:r>
            <a:endParaRPr lang="en-US" sz="1400" dirty="0"/>
          </a:p>
        </p:txBody>
      </p:sp>
      <p:sp>
        <p:nvSpPr>
          <p:cNvPr id="13" name="Text 10"/>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Illustrative. Flat cookie volume assumed (conservative). $5.6M loss: CNN Business, Oct 21, 2024. 2027 $4.3M/$6.9M, 2028 $4.5M/$7.3M, 2029 $4.8M/$7.8M. Cumulative ends $13.6M and $21.9M.</a:t>
            </a:r>
            <a:endParaRPr lang="en-US" sz="1000" dirty="0"/>
          </a:p>
        </p:txBody>
      </p:sp>
      <p:sp>
        <p:nvSpPr>
          <p:cNvPr id="14" name="Text 11"/>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What the shipping gap is worth in Girl Scout terms</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Figures on the left are HTL &amp; Efficient estimates. Every equivalence on the right uses GSUSA's own published numbers.</a:t>
            </a:r>
            <a:endParaRPr lang="en-US" sz="1200" dirty="0"/>
          </a:p>
        </p:txBody>
      </p:sp>
      <p:sp>
        <p:nvSpPr>
          <p:cNvPr id="6" name="Shape 4"/>
          <p:cNvSpPr/>
          <p:nvPr/>
        </p:nvSpPr>
        <p:spPr>
          <a:xfrm>
            <a:off x="292608" y="1051560"/>
            <a:ext cx="11612880" cy="1481328"/>
          </a:xfrm>
          <a:prstGeom prst="rect">
            <a:avLst/>
          </a:prstGeom>
          <a:solidFill>
            <a:srgbClr val="F4F6F8"/>
          </a:solidFill>
          <a:ln/>
        </p:spPr>
      </p:sp>
      <p:sp>
        <p:nvSpPr>
          <p:cNvPr id="7" name="Shape 5"/>
          <p:cNvSpPr/>
          <p:nvPr/>
        </p:nvSpPr>
        <p:spPr>
          <a:xfrm>
            <a:off x="292608" y="1051560"/>
            <a:ext cx="91440" cy="1481328"/>
          </a:xfrm>
          <a:prstGeom prst="rect">
            <a:avLst/>
          </a:prstGeom>
          <a:solidFill>
            <a:srgbClr val="1B998B"/>
          </a:solidFill>
          <a:ln/>
        </p:spPr>
      </p:sp>
      <p:sp>
        <p:nvSpPr>
          <p:cNvPr id="8" name="Text 6"/>
          <p:cNvSpPr/>
          <p:nvPr/>
        </p:nvSpPr>
        <p:spPr>
          <a:xfrm>
            <a:off x="548640" y="1216152"/>
            <a:ext cx="3383280" cy="457200"/>
          </a:xfrm>
          <a:prstGeom prst="rect">
            <a:avLst/>
          </a:prstGeom>
          <a:noFill/>
          <a:ln/>
        </p:spPr>
        <p:txBody>
          <a:bodyPr wrap="square" lIns="0" tIns="0" rIns="0" bIns="0" rtlCol="0" anchor="ctr"/>
          <a:lstStyle/>
          <a:p>
            <a:pPr indent="0" marL="0">
              <a:buNone/>
            </a:pPr>
            <a:r>
              <a:rPr lang="en-US" sz="2000" b="1" dirty="0">
                <a:solidFill>
                  <a:srgbClr val="1B998B"/>
                </a:solidFill>
                <a:latin typeface="Arial" pitchFamily="34" charset="0"/>
                <a:ea typeface="Arial" pitchFamily="34" charset="-122"/>
                <a:cs typeface="Arial" pitchFamily="34" charset="-120"/>
              </a:rPr>
              <a:t>$4.2M to $6.7M</a:t>
            </a:r>
            <a:endParaRPr lang="en-US" sz="2000" dirty="0"/>
          </a:p>
        </p:txBody>
      </p:sp>
      <p:sp>
        <p:nvSpPr>
          <p:cNvPr id="9" name="Text 7"/>
          <p:cNvSpPr/>
          <p:nvPr/>
        </p:nvSpPr>
        <p:spPr>
          <a:xfrm>
            <a:off x="548640" y="1737360"/>
            <a:ext cx="3383280" cy="548640"/>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one cookie season, 2.0M parcels</a:t>
            </a:r>
            <a:endParaRPr lang="en-US" sz="1300" dirty="0"/>
          </a:p>
        </p:txBody>
      </p:sp>
      <p:sp>
        <p:nvSpPr>
          <p:cNvPr id="10" name="Text 8"/>
          <p:cNvSpPr/>
          <p:nvPr/>
        </p:nvSpPr>
        <p:spPr>
          <a:xfrm>
            <a:off x="4114800" y="1179576"/>
            <a:ext cx="7589520" cy="384048"/>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  the 2027 membership fee ($65) for 65,000 to 103,000 girls</a:t>
            </a:r>
            <a:endParaRPr lang="en-US" sz="1400" dirty="0"/>
          </a:p>
        </p:txBody>
      </p:sp>
      <p:sp>
        <p:nvSpPr>
          <p:cNvPr id="11" name="Text 9"/>
          <p:cNvSpPr/>
          <p:nvPr/>
        </p:nvSpPr>
        <p:spPr>
          <a:xfrm>
            <a:off x="4114800" y="1600200"/>
            <a:ext cx="7589520" cy="384048"/>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  troop proceeds (~$1 a box) on 4.2M to 6.7M boxes of cookies</a:t>
            </a:r>
            <a:endParaRPr lang="en-US" sz="1400" dirty="0"/>
          </a:p>
        </p:txBody>
      </p:sp>
      <p:sp>
        <p:nvSpPr>
          <p:cNvPr id="12" name="Text 10"/>
          <p:cNvSpPr/>
          <p:nvPr/>
        </p:nvSpPr>
        <p:spPr>
          <a:xfrm>
            <a:off x="4114800" y="2020824"/>
            <a:ext cx="7589520" cy="384048"/>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  75% to 120% of the $5.6M projected operating loss behind the 2024 dues vote</a:t>
            </a:r>
            <a:endParaRPr lang="en-US" sz="1400" dirty="0"/>
          </a:p>
        </p:txBody>
      </p:sp>
      <p:sp>
        <p:nvSpPr>
          <p:cNvPr id="13" name="Shape 11"/>
          <p:cNvSpPr/>
          <p:nvPr/>
        </p:nvSpPr>
        <p:spPr>
          <a:xfrm>
            <a:off x="292608" y="2651760"/>
            <a:ext cx="11612880" cy="1481328"/>
          </a:xfrm>
          <a:prstGeom prst="rect">
            <a:avLst/>
          </a:prstGeom>
          <a:solidFill>
            <a:srgbClr val="F4F6F8"/>
          </a:solidFill>
          <a:ln/>
        </p:spPr>
      </p:sp>
      <p:sp>
        <p:nvSpPr>
          <p:cNvPr id="14" name="Shape 12"/>
          <p:cNvSpPr/>
          <p:nvPr/>
        </p:nvSpPr>
        <p:spPr>
          <a:xfrm>
            <a:off x="292608" y="2651760"/>
            <a:ext cx="91440" cy="1481328"/>
          </a:xfrm>
          <a:prstGeom prst="rect">
            <a:avLst/>
          </a:prstGeom>
          <a:solidFill>
            <a:srgbClr val="1B998B"/>
          </a:solidFill>
          <a:ln/>
        </p:spPr>
      </p:sp>
      <p:sp>
        <p:nvSpPr>
          <p:cNvPr id="15" name="Text 13"/>
          <p:cNvSpPr/>
          <p:nvPr/>
        </p:nvSpPr>
        <p:spPr>
          <a:xfrm>
            <a:off x="548640" y="2816352"/>
            <a:ext cx="3383280" cy="457200"/>
          </a:xfrm>
          <a:prstGeom prst="rect">
            <a:avLst/>
          </a:prstGeom>
          <a:noFill/>
          <a:ln/>
        </p:spPr>
        <p:txBody>
          <a:bodyPr wrap="square" lIns="0" tIns="0" rIns="0" bIns="0" rtlCol="0" anchor="ctr"/>
          <a:lstStyle/>
          <a:p>
            <a:pPr indent="0" marL="0">
              <a:buNone/>
            </a:pPr>
            <a:r>
              <a:rPr lang="en-US" sz="2000" b="1" dirty="0">
                <a:solidFill>
                  <a:srgbClr val="1B998B"/>
                </a:solidFill>
                <a:latin typeface="Arial" pitchFamily="34" charset="0"/>
                <a:ea typeface="Arial" pitchFamily="34" charset="-122"/>
                <a:cs typeface="Arial" pitchFamily="34" charset="-120"/>
              </a:rPr>
              <a:t>$14M to $22M</a:t>
            </a:r>
            <a:endParaRPr lang="en-US" sz="2000" dirty="0"/>
          </a:p>
        </p:txBody>
      </p:sp>
      <p:sp>
        <p:nvSpPr>
          <p:cNvPr id="16" name="Text 14"/>
          <p:cNvSpPr/>
          <p:nvPr/>
        </p:nvSpPr>
        <p:spPr>
          <a:xfrm>
            <a:off x="548640" y="3337560"/>
            <a:ext cx="3383280" cy="548640"/>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three seasons, if the PLD confirms the estimate</a:t>
            </a:r>
            <a:endParaRPr lang="en-US" sz="1300" dirty="0"/>
          </a:p>
        </p:txBody>
      </p:sp>
      <p:sp>
        <p:nvSpPr>
          <p:cNvPr id="17" name="Text 15"/>
          <p:cNvSpPr/>
          <p:nvPr/>
        </p:nvSpPr>
        <p:spPr>
          <a:xfrm>
            <a:off x="4114800" y="2779776"/>
            <a:ext cx="7589520" cy="384048"/>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  the 2027 membership fee for 215,000 to 338,000 girls</a:t>
            </a:r>
            <a:endParaRPr lang="en-US" sz="1400" dirty="0"/>
          </a:p>
        </p:txBody>
      </p:sp>
      <p:sp>
        <p:nvSpPr>
          <p:cNvPr id="18" name="Text 16"/>
          <p:cNvSpPr/>
          <p:nvPr/>
        </p:nvSpPr>
        <p:spPr>
          <a:xfrm>
            <a:off x="4114800" y="3200400"/>
            <a:ext cx="7589520" cy="384048"/>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  more than a third of the $38M in membership dues collected nationally in 2023</a:t>
            </a:r>
            <a:endParaRPr lang="en-US" sz="1400" dirty="0"/>
          </a:p>
        </p:txBody>
      </p:sp>
      <p:sp>
        <p:nvSpPr>
          <p:cNvPr id="19" name="Text 17"/>
          <p:cNvSpPr/>
          <p:nvPr/>
        </p:nvSpPr>
        <p:spPr>
          <a:xfrm>
            <a:off x="4114800" y="3621024"/>
            <a:ext cx="7589520" cy="384048"/>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  the $25-to-$65 dues increase absorbed for 350,000 to 550,000 girls for a year</a:t>
            </a:r>
            <a:endParaRPr lang="en-US" sz="1400" dirty="0"/>
          </a:p>
        </p:txBody>
      </p:sp>
      <p:sp>
        <p:nvSpPr>
          <p:cNvPr id="20" name="Shape 18"/>
          <p:cNvSpPr/>
          <p:nvPr/>
        </p:nvSpPr>
        <p:spPr>
          <a:xfrm>
            <a:off x="292608" y="4251960"/>
            <a:ext cx="11612880" cy="1481328"/>
          </a:xfrm>
          <a:prstGeom prst="rect">
            <a:avLst/>
          </a:prstGeom>
          <a:solidFill>
            <a:srgbClr val="F4F6F8"/>
          </a:solidFill>
          <a:ln/>
        </p:spPr>
      </p:sp>
      <p:sp>
        <p:nvSpPr>
          <p:cNvPr id="21" name="Shape 19"/>
          <p:cNvSpPr/>
          <p:nvPr/>
        </p:nvSpPr>
        <p:spPr>
          <a:xfrm>
            <a:off x="292608" y="4251960"/>
            <a:ext cx="91440" cy="1481328"/>
          </a:xfrm>
          <a:prstGeom prst="rect">
            <a:avLst/>
          </a:prstGeom>
          <a:solidFill>
            <a:srgbClr val="1B998B"/>
          </a:solidFill>
          <a:ln/>
        </p:spPr>
      </p:sp>
      <p:sp>
        <p:nvSpPr>
          <p:cNvPr id="22" name="Text 20"/>
          <p:cNvSpPr/>
          <p:nvPr/>
        </p:nvSpPr>
        <p:spPr>
          <a:xfrm>
            <a:off x="548640" y="4416552"/>
            <a:ext cx="3383280" cy="457200"/>
          </a:xfrm>
          <a:prstGeom prst="rect">
            <a:avLst/>
          </a:prstGeom>
          <a:noFill/>
          <a:ln/>
        </p:spPr>
        <p:txBody>
          <a:bodyPr wrap="square" lIns="0" tIns="0" rIns="0" bIns="0" rtlCol="0" anchor="ctr"/>
          <a:lstStyle/>
          <a:p>
            <a:pPr indent="0" marL="0">
              <a:buNone/>
            </a:pPr>
            <a:r>
              <a:rPr lang="en-US" sz="2000" b="1" dirty="0">
                <a:solidFill>
                  <a:srgbClr val="1B998B"/>
                </a:solidFill>
                <a:latin typeface="Arial" pitchFamily="34" charset="0"/>
                <a:ea typeface="Arial" pitchFamily="34" charset="-122"/>
                <a:cs typeface="Arial" pitchFamily="34" charset="-120"/>
              </a:rPr>
              <a:t>$44K to $280K</a:t>
            </a:r>
            <a:endParaRPr lang="en-US" sz="2000" dirty="0"/>
          </a:p>
        </p:txBody>
      </p:sp>
      <p:sp>
        <p:nvSpPr>
          <p:cNvPr id="23" name="Text 21"/>
          <p:cNvSpPr/>
          <p:nvPr/>
        </p:nvSpPr>
        <p:spPr>
          <a:xfrm>
            <a:off x="548640" y="4937760"/>
            <a:ext cx="3383280" cy="548640"/>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Patch Pals alone, year one</a:t>
            </a:r>
            <a:endParaRPr lang="en-US" sz="1300" dirty="0"/>
          </a:p>
        </p:txBody>
      </p:sp>
      <p:sp>
        <p:nvSpPr>
          <p:cNvPr id="24" name="Text 22"/>
          <p:cNvSpPr/>
          <p:nvPr/>
        </p:nvSpPr>
        <p:spPr>
          <a:xfrm>
            <a:off x="4114800" y="4379976"/>
            <a:ext cx="7589520" cy="384048"/>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  the 2027 membership fee for 680 to 4,300 girls</a:t>
            </a:r>
            <a:endParaRPr lang="en-US" sz="1400" dirty="0"/>
          </a:p>
        </p:txBody>
      </p:sp>
      <p:sp>
        <p:nvSpPr>
          <p:cNvPr id="25" name="Text 23"/>
          <p:cNvSpPr/>
          <p:nvPr/>
        </p:nvSpPr>
        <p:spPr>
          <a:xfrm>
            <a:off x="4114800" y="4800600"/>
            <a:ext cx="7589520" cy="384048"/>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  troop proceeds on 44,000 to 280,000 boxes</a:t>
            </a:r>
            <a:endParaRPr lang="en-US" sz="1400" dirty="0"/>
          </a:p>
        </p:txBody>
      </p:sp>
      <p:sp>
        <p:nvSpPr>
          <p:cNvPr id="26" name="Text 24"/>
          <p:cNvSpPr/>
          <p:nvPr/>
        </p:nvSpPr>
        <p:spPr>
          <a:xfrm>
            <a:off x="4114800" y="5221224"/>
            <a:ext cx="7589520" cy="384048"/>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  moving shipping from ~3x what the troop earns toward ~2x</a:t>
            </a:r>
            <a:endParaRPr lang="en-US" sz="1400" dirty="0"/>
          </a:p>
        </p:txBody>
      </p:sp>
      <p:sp>
        <p:nvSpPr>
          <p:cNvPr id="27" name="Text 25"/>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Sources: CNN Business Oct 21 2024 (dues vote, $5.6M, $38M); council cookie guides (~$1/box proceeds); Money Talks News Sept 2026. Savings figures are estimates; illustrative.</a:t>
            </a:r>
            <a:endParaRPr lang="en-US" sz="1000" dirty="0"/>
          </a:p>
        </p:txBody>
      </p:sp>
      <p:sp>
        <p:nvSpPr>
          <p:cNvPr id="28" name="Text 26"/>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Patch Pals ships like a pet treat, and HTL already moves pet treats</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Text 3"/>
          <p:cNvSpPr/>
          <p:nvPr/>
        </p:nvSpPr>
        <p:spPr>
          <a:xfrm>
            <a:off x="329184" y="603504"/>
            <a:ext cx="11521440" cy="329184"/>
          </a:xfrm>
          <a:prstGeom prst="rect">
            <a:avLst/>
          </a:prstGeom>
          <a:noFill/>
          <a:ln/>
        </p:spPr>
        <p:txBody>
          <a:bodyPr wrap="square" lIns="0" tIns="0" rIns="0" bIns="0" rtlCol="0" anchor="ctr"/>
          <a:lstStyle/>
          <a:p>
            <a:pPr indent="0" marL="0">
              <a:buNone/>
            </a:pPr>
            <a:r>
              <a:rPr lang="en-US" sz="1200" dirty="0">
                <a:solidFill>
                  <a:srgbClr val="5B6770"/>
                </a:solidFill>
                <a:latin typeface="Arial" pitchFamily="34" charset="0"/>
                <a:ea typeface="Arial" pitchFamily="34" charset="-122"/>
                <a:cs typeface="Arial" pitchFamily="34" charset="-120"/>
              </a:rPr>
              <a:t>From the manufacturer's dock to the doorstep, HTL works every link a Patch Pals order will travel.</a:t>
            </a:r>
            <a:endParaRPr lang="en-US" sz="1200" dirty="0"/>
          </a:p>
        </p:txBody>
      </p:sp>
      <p:sp>
        <p:nvSpPr>
          <p:cNvPr id="6" name="Shape 4"/>
          <p:cNvSpPr/>
          <p:nvPr/>
        </p:nvSpPr>
        <p:spPr>
          <a:xfrm>
            <a:off x="256032" y="1024128"/>
            <a:ext cx="3840480" cy="1298448"/>
          </a:xfrm>
          <a:prstGeom prst="roundRect">
            <a:avLst>
              <a:gd name="adj" fmla="val 4225"/>
            </a:avLst>
          </a:prstGeom>
          <a:solidFill>
            <a:srgbClr val="F4F6F8"/>
          </a:solidFill>
          <a:ln/>
        </p:spPr>
      </p:sp>
      <p:sp>
        <p:nvSpPr>
          <p:cNvPr id="7" name="Text 5"/>
          <p:cNvSpPr/>
          <p:nvPr/>
        </p:nvSpPr>
        <p:spPr>
          <a:xfrm>
            <a:off x="365760" y="1097280"/>
            <a:ext cx="3611880" cy="237744"/>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1  Manufacturer</a:t>
            </a:r>
            <a:endParaRPr lang="en-US" sz="1300" dirty="0"/>
          </a:p>
        </p:txBody>
      </p:sp>
      <p:sp>
        <p:nvSpPr>
          <p:cNvPr id="8" name="Text 6"/>
          <p:cNvSpPr/>
          <p:nvPr/>
        </p:nvSpPr>
        <p:spPr>
          <a:xfrm>
            <a:off x="365760" y="1371600"/>
            <a:ext cx="3611880" cy="868680"/>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Pet food and treat plants in the Upper Midwest. HTL dispatches truckload and LTL off these docks today.</a:t>
            </a:r>
            <a:endParaRPr lang="en-US" sz="1100" dirty="0"/>
          </a:p>
        </p:txBody>
      </p:sp>
      <p:sp>
        <p:nvSpPr>
          <p:cNvPr id="9" name="Shape 7"/>
          <p:cNvSpPr/>
          <p:nvPr/>
        </p:nvSpPr>
        <p:spPr>
          <a:xfrm>
            <a:off x="4233672" y="1024128"/>
            <a:ext cx="3840480" cy="1298448"/>
          </a:xfrm>
          <a:prstGeom prst="roundRect">
            <a:avLst>
              <a:gd name="adj" fmla="val 4225"/>
            </a:avLst>
          </a:prstGeom>
          <a:solidFill>
            <a:srgbClr val="F4F6F8"/>
          </a:solidFill>
          <a:ln/>
        </p:spPr>
      </p:sp>
      <p:sp>
        <p:nvSpPr>
          <p:cNvPr id="10" name="Text 8"/>
          <p:cNvSpPr/>
          <p:nvPr/>
        </p:nvSpPr>
        <p:spPr>
          <a:xfrm>
            <a:off x="4343400" y="1097280"/>
            <a:ext cx="3611880" cy="237744"/>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2  Brand distribution</a:t>
            </a:r>
            <a:endParaRPr lang="en-US" sz="1300" dirty="0"/>
          </a:p>
        </p:txBody>
      </p:sp>
      <p:sp>
        <p:nvSpPr>
          <p:cNvPr id="11" name="Text 9"/>
          <p:cNvSpPr/>
          <p:nvPr/>
        </p:nvSpPr>
        <p:spPr>
          <a:xfrm>
            <a:off x="4343400" y="1371600"/>
            <a:ext cx="3611880" cy="868680"/>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Pyramid Pet Products, Sacramento area. HTL is Pyramid's primary freight provider: inbound from manufacturers, outbound to distribution, six straight quarters of growth.</a:t>
            </a:r>
            <a:endParaRPr lang="en-US" sz="1100" dirty="0"/>
          </a:p>
        </p:txBody>
      </p:sp>
      <p:sp>
        <p:nvSpPr>
          <p:cNvPr id="12" name="Shape 10"/>
          <p:cNvSpPr/>
          <p:nvPr/>
        </p:nvSpPr>
        <p:spPr>
          <a:xfrm>
            <a:off x="256032" y="2441448"/>
            <a:ext cx="3840480" cy="1298448"/>
          </a:xfrm>
          <a:prstGeom prst="roundRect">
            <a:avLst>
              <a:gd name="adj" fmla="val 4225"/>
            </a:avLst>
          </a:prstGeom>
          <a:solidFill>
            <a:srgbClr val="F4F6F8"/>
          </a:solidFill>
          <a:ln/>
        </p:spPr>
      </p:sp>
      <p:sp>
        <p:nvSpPr>
          <p:cNvPr id="13" name="Text 11"/>
          <p:cNvSpPr/>
          <p:nvPr/>
        </p:nvSpPr>
        <p:spPr>
          <a:xfrm>
            <a:off x="365760" y="2514600"/>
            <a:ext cx="3611880" cy="237744"/>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3  Retail replenishment</a:t>
            </a:r>
            <a:endParaRPr lang="en-US" sz="1300" dirty="0"/>
          </a:p>
        </p:txBody>
      </p:sp>
      <p:sp>
        <p:nvSpPr>
          <p:cNvPr id="14" name="Text 12"/>
          <p:cNvSpPr/>
          <p:nvPr/>
        </p:nvSpPr>
        <p:spPr>
          <a:xfrm>
            <a:off x="365760" y="2788920"/>
            <a:ext cx="3611880" cy="868680"/>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Case and pallet freight into pet retail and online marketplaces. HTL ran this brand's online-retailer replenishment lanes in 2021 and is re-opening them.</a:t>
            </a:r>
            <a:endParaRPr lang="en-US" sz="1100" dirty="0"/>
          </a:p>
        </p:txBody>
      </p:sp>
      <p:sp>
        <p:nvSpPr>
          <p:cNvPr id="15" name="Shape 13"/>
          <p:cNvSpPr/>
          <p:nvPr/>
        </p:nvSpPr>
        <p:spPr>
          <a:xfrm>
            <a:off x="4233672" y="2441448"/>
            <a:ext cx="3840480" cy="1298448"/>
          </a:xfrm>
          <a:prstGeom prst="roundRect">
            <a:avLst>
              <a:gd name="adj" fmla="val 4225"/>
            </a:avLst>
          </a:prstGeom>
          <a:solidFill>
            <a:srgbClr val="1B998B"/>
          </a:solidFill>
          <a:ln/>
        </p:spPr>
      </p:sp>
      <p:sp>
        <p:nvSpPr>
          <p:cNvPr id="16" name="Text 14"/>
          <p:cNvSpPr/>
          <p:nvPr/>
        </p:nvSpPr>
        <p:spPr>
          <a:xfrm>
            <a:off x="4343400" y="2514600"/>
            <a:ext cx="3611880"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4  Doorstep</a:t>
            </a:r>
            <a:endParaRPr lang="en-US" sz="1300" dirty="0"/>
          </a:p>
        </p:txBody>
      </p:sp>
      <p:sp>
        <p:nvSpPr>
          <p:cNvPr id="17" name="Text 15"/>
          <p:cNvSpPr/>
          <p:nvPr/>
        </p:nvSpPr>
        <p:spPr>
          <a:xfrm>
            <a:off x="4343400" y="2788920"/>
            <a:ext cx="3611880" cy="86868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Dense, heavy multi-pack parcels, almost all residential. The shape of a Patch Pals order, and the shape of BARK's own treat shipments.</a:t>
            </a:r>
            <a:endParaRPr lang="en-US" sz="1100" dirty="0"/>
          </a:p>
        </p:txBody>
      </p:sp>
      <p:sp>
        <p:nvSpPr>
          <p:cNvPr id="18" name="Shape 16"/>
          <p:cNvSpPr/>
          <p:nvPr/>
        </p:nvSpPr>
        <p:spPr>
          <a:xfrm>
            <a:off x="8275320" y="1024128"/>
            <a:ext cx="3611880" cy="1143000"/>
          </a:xfrm>
          <a:prstGeom prst="rect">
            <a:avLst/>
          </a:prstGeom>
          <a:solidFill>
            <a:srgbClr val="F4F6F8"/>
          </a:solidFill>
          <a:ln/>
        </p:spPr>
      </p:sp>
      <p:sp>
        <p:nvSpPr>
          <p:cNvPr id="19" name="Text 17"/>
          <p:cNvSpPr/>
          <p:nvPr/>
        </p:nvSpPr>
        <p:spPr>
          <a:xfrm>
            <a:off x="8394192" y="1078992"/>
            <a:ext cx="3383280" cy="219456"/>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Pyramid Pet Products</a:t>
            </a:r>
            <a:endParaRPr lang="en-US" sz="1200" dirty="0"/>
          </a:p>
        </p:txBody>
      </p:sp>
      <p:sp>
        <p:nvSpPr>
          <p:cNvPr id="20" name="Text 18"/>
          <p:cNvSpPr/>
          <p:nvPr/>
        </p:nvSpPr>
        <p:spPr>
          <a:xfrm>
            <a:off x="8394192" y="1316736"/>
            <a:ext cx="3383280" cy="457200"/>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Primary freight provider, FTL and LTL, pet food and treats.</a:t>
            </a:r>
            <a:endParaRPr lang="en-US" sz="1100" dirty="0"/>
          </a:p>
        </p:txBody>
      </p:sp>
      <p:sp>
        <p:nvSpPr>
          <p:cNvPr id="21" name="Shape 19"/>
          <p:cNvSpPr/>
          <p:nvPr/>
        </p:nvSpPr>
        <p:spPr>
          <a:xfrm>
            <a:off x="8394192" y="1810512"/>
            <a:ext cx="1965960" cy="256032"/>
          </a:xfrm>
          <a:prstGeom prst="roundRect">
            <a:avLst>
              <a:gd name="adj" fmla="val 14286"/>
            </a:avLst>
          </a:prstGeom>
          <a:solidFill>
            <a:srgbClr val="1B998B"/>
          </a:solidFill>
          <a:ln/>
        </p:spPr>
      </p:sp>
      <p:sp>
        <p:nvSpPr>
          <p:cNvPr id="22" name="Text 20"/>
          <p:cNvSpPr/>
          <p:nvPr/>
        </p:nvSpPr>
        <p:spPr>
          <a:xfrm>
            <a:off x="8394192" y="1828800"/>
            <a:ext cx="19659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LIVE CUSTOMER</a:t>
            </a:r>
            <a:endParaRPr lang="en-US" sz="900" dirty="0"/>
          </a:p>
        </p:txBody>
      </p:sp>
      <p:sp>
        <p:nvSpPr>
          <p:cNvPr id="23" name="Shape 21"/>
          <p:cNvSpPr/>
          <p:nvPr/>
        </p:nvSpPr>
        <p:spPr>
          <a:xfrm>
            <a:off x="8275320" y="2258568"/>
            <a:ext cx="3611880" cy="1143000"/>
          </a:xfrm>
          <a:prstGeom prst="rect">
            <a:avLst/>
          </a:prstGeom>
          <a:solidFill>
            <a:srgbClr val="F4F6F8"/>
          </a:solidFill>
          <a:ln/>
        </p:spPr>
      </p:sp>
      <p:sp>
        <p:nvSpPr>
          <p:cNvPr id="24" name="Text 22"/>
          <p:cNvSpPr/>
          <p:nvPr/>
        </p:nvSpPr>
        <p:spPr>
          <a:xfrm>
            <a:off x="8394192" y="2313432"/>
            <a:ext cx="3383280" cy="219456"/>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Tuscan Natural</a:t>
            </a:r>
            <a:endParaRPr lang="en-US" sz="1200" dirty="0"/>
          </a:p>
        </p:txBody>
      </p:sp>
      <p:sp>
        <p:nvSpPr>
          <p:cNvPr id="25" name="Text 23"/>
          <p:cNvSpPr/>
          <p:nvPr/>
        </p:nvSpPr>
        <p:spPr>
          <a:xfrm>
            <a:off x="8394192" y="2551176"/>
            <a:ext cx="3383280" cy="457200"/>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Pyramid's brand. Online-retailer replenishment lanes HTL ran in 2021; re-opening them now.</a:t>
            </a:r>
            <a:endParaRPr lang="en-US" sz="1100" dirty="0"/>
          </a:p>
        </p:txBody>
      </p:sp>
      <p:sp>
        <p:nvSpPr>
          <p:cNvPr id="26" name="Shape 24"/>
          <p:cNvSpPr/>
          <p:nvPr/>
        </p:nvSpPr>
        <p:spPr>
          <a:xfrm>
            <a:off x="8394192" y="3044952"/>
            <a:ext cx="1965960" cy="256032"/>
          </a:xfrm>
          <a:prstGeom prst="roundRect">
            <a:avLst>
              <a:gd name="adj" fmla="val 14286"/>
            </a:avLst>
          </a:prstGeom>
          <a:solidFill>
            <a:srgbClr val="14213D"/>
          </a:solidFill>
          <a:ln/>
        </p:spPr>
      </p:sp>
      <p:sp>
        <p:nvSpPr>
          <p:cNvPr id="27" name="Text 25"/>
          <p:cNvSpPr/>
          <p:nvPr/>
        </p:nvSpPr>
        <p:spPr>
          <a:xfrm>
            <a:off x="8394192" y="3063240"/>
            <a:ext cx="19659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IN CONVERSATION</a:t>
            </a:r>
            <a:endParaRPr lang="en-US" sz="900" dirty="0"/>
          </a:p>
        </p:txBody>
      </p:sp>
      <p:sp>
        <p:nvSpPr>
          <p:cNvPr id="28" name="Shape 26"/>
          <p:cNvSpPr/>
          <p:nvPr/>
        </p:nvSpPr>
        <p:spPr>
          <a:xfrm>
            <a:off x="8275320" y="3493008"/>
            <a:ext cx="3611880" cy="1143000"/>
          </a:xfrm>
          <a:prstGeom prst="rect">
            <a:avLst/>
          </a:prstGeom>
          <a:solidFill>
            <a:srgbClr val="F4F6F8"/>
          </a:solidFill>
          <a:ln/>
        </p:spPr>
      </p:sp>
      <p:sp>
        <p:nvSpPr>
          <p:cNvPr id="29" name="Text 27"/>
          <p:cNvSpPr/>
          <p:nvPr/>
        </p:nvSpPr>
        <p:spPr>
          <a:xfrm>
            <a:off x="8394192" y="3547872"/>
            <a:ext cx="3383280" cy="219456"/>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Tuffy's Pet Foods</a:t>
            </a:r>
            <a:endParaRPr lang="en-US" sz="1200" dirty="0"/>
          </a:p>
        </p:txBody>
      </p:sp>
      <p:sp>
        <p:nvSpPr>
          <p:cNvPr id="30" name="Text 28"/>
          <p:cNvSpPr/>
          <p:nvPr/>
        </p:nvSpPr>
        <p:spPr>
          <a:xfrm>
            <a:off x="8394192" y="3785616"/>
            <a:ext cx="3383280" cy="457200"/>
          </a:xfrm>
          <a:prstGeom prst="rect">
            <a:avLst/>
          </a:prstGeom>
          <a:noFill/>
          <a:ln/>
        </p:spPr>
        <p:txBody>
          <a:bodyPr wrap="square" lIns="0" tIns="0" rIns="0" bIns="0" rtlCol="0" anchor="ctr"/>
          <a:lstStyle/>
          <a:p>
            <a:pPr indent="0" marL="0">
              <a:buNone/>
            </a:pPr>
            <a:r>
              <a:rPr lang="en-US" sz="1100" dirty="0">
                <a:solidFill>
                  <a:srgbClr val="1F2A37"/>
                </a:solidFill>
                <a:latin typeface="Arial" pitchFamily="34" charset="0"/>
                <a:ea typeface="Arial" pitchFamily="34" charset="-122"/>
                <a:cs typeface="Arial" pitchFamily="34" charset="-120"/>
              </a:rPr>
              <a:t>KLN Family Brands. Manufacturer-side freight, Perham and Delano MN.</a:t>
            </a:r>
            <a:endParaRPr lang="en-US" sz="1100" dirty="0"/>
          </a:p>
        </p:txBody>
      </p:sp>
      <p:sp>
        <p:nvSpPr>
          <p:cNvPr id="31" name="Shape 29"/>
          <p:cNvSpPr/>
          <p:nvPr/>
        </p:nvSpPr>
        <p:spPr>
          <a:xfrm>
            <a:off x="8394192" y="4279392"/>
            <a:ext cx="1965960" cy="256032"/>
          </a:xfrm>
          <a:prstGeom prst="roundRect">
            <a:avLst>
              <a:gd name="adj" fmla="val 14286"/>
            </a:avLst>
          </a:prstGeom>
          <a:solidFill>
            <a:srgbClr val="14213D"/>
          </a:solidFill>
          <a:ln/>
        </p:spPr>
      </p:sp>
      <p:sp>
        <p:nvSpPr>
          <p:cNvPr id="32" name="Text 30"/>
          <p:cNvSpPr/>
          <p:nvPr/>
        </p:nvSpPr>
        <p:spPr>
          <a:xfrm>
            <a:off x="8394192" y="4297680"/>
            <a:ext cx="19659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IN CONVERSATION</a:t>
            </a:r>
            <a:endParaRPr lang="en-US" sz="900" dirty="0"/>
          </a:p>
        </p:txBody>
      </p:sp>
      <p:sp>
        <p:nvSpPr>
          <p:cNvPr id="33" name="Text 31"/>
          <p:cNvSpPr/>
          <p:nvPr/>
        </p:nvSpPr>
        <p:spPr>
          <a:xfrm>
            <a:off x="292608" y="3977640"/>
            <a:ext cx="7863840" cy="777240"/>
          </a:xfrm>
          <a:prstGeom prst="rect">
            <a:avLst/>
          </a:prstGeom>
          <a:noFill/>
          <a:ln/>
        </p:spPr>
        <p:txBody>
          <a:bodyPr wrap="square" lIns="0" tIns="0" rIns="0" bIns="0" rtlCol="0" anchor="ctr"/>
          <a:lstStyle/>
          <a:p>
            <a:pPr indent="0" marL="0">
              <a:buNone/>
            </a:pPr>
            <a:r>
              <a:rPr lang="en-US" sz="1300" dirty="0">
                <a:solidFill>
                  <a:srgbClr val="1B998B"/>
                </a:solidFill>
                <a:latin typeface="Arial" pitchFamily="34" charset="0"/>
                <a:ea typeface="Arial" pitchFamily="34" charset="-122"/>
                <a:cs typeface="Arial" pitchFamily="34" charset="-120"/>
              </a:rPr>
              <a:t>The treat moves as a pallet before it moves as a parcel. HTL already lives on the pallet side; Efficient's platform handles the parcel side. The BARK sample box in January is the first time the two halves meet on a Girl Scout product.</a:t>
            </a:r>
            <a:endParaRPr lang="en-US" sz="1300" dirty="0"/>
          </a:p>
        </p:txBody>
      </p:sp>
      <p:sp>
        <p:nvSpPr>
          <p:cNvPr id="34" name="Text 32"/>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Customer and conversation status as of October 2026. No customer volumes or rates shown. Tuscan Natural and Tuffy's are in conversation, not customers.</a:t>
            </a:r>
            <a:endParaRPr lang="en-US" sz="1000" dirty="0"/>
          </a:p>
        </p:txBody>
      </p:sp>
      <p:sp>
        <p:nvSpPr>
          <p:cNvPr id="35" name="Text 33"/>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The whole picture in six numbers</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Shape 3"/>
          <p:cNvSpPr/>
          <p:nvPr/>
        </p:nvSpPr>
        <p:spPr>
          <a:xfrm>
            <a:off x="292608" y="960120"/>
            <a:ext cx="3767328" cy="2267712"/>
          </a:xfrm>
          <a:prstGeom prst="rect">
            <a:avLst/>
          </a:prstGeom>
          <a:solidFill>
            <a:srgbClr val="F4F6F8"/>
          </a:solidFill>
          <a:ln/>
        </p:spPr>
      </p:sp>
      <p:sp>
        <p:nvSpPr>
          <p:cNvPr id="6" name="Shape 4"/>
          <p:cNvSpPr/>
          <p:nvPr/>
        </p:nvSpPr>
        <p:spPr>
          <a:xfrm>
            <a:off x="292608" y="960120"/>
            <a:ext cx="73152" cy="2267712"/>
          </a:xfrm>
          <a:prstGeom prst="rect">
            <a:avLst/>
          </a:prstGeom>
          <a:solidFill>
            <a:srgbClr val="14213D"/>
          </a:solidFill>
          <a:ln/>
        </p:spPr>
      </p:sp>
      <p:sp>
        <p:nvSpPr>
          <p:cNvPr id="7" name="Text 5"/>
          <p:cNvSpPr/>
          <p:nvPr/>
        </p:nvSpPr>
        <p:spPr>
          <a:xfrm>
            <a:off x="493776" y="1106424"/>
            <a:ext cx="3429000" cy="45720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2.0M</a:t>
            </a:r>
            <a:endParaRPr lang="en-US" sz="2200" dirty="0"/>
          </a:p>
        </p:txBody>
      </p:sp>
      <p:sp>
        <p:nvSpPr>
          <p:cNvPr id="8" name="Text 6"/>
          <p:cNvSpPr/>
          <p:nvPr/>
        </p:nvSpPr>
        <p:spPr>
          <a:xfrm>
            <a:off x="493776" y="1618488"/>
            <a:ext cx="3429000" cy="365760"/>
          </a:xfrm>
          <a:prstGeom prst="rect">
            <a:avLst/>
          </a:prstGeom>
          <a:noFill/>
          <a:ln/>
        </p:spPr>
        <p:txBody>
          <a:bodyPr wrap="square" lIns="0" tIns="0" rIns="0" bIns="0" rtlCol="0" anchor="ctr"/>
          <a:lstStyle/>
          <a:p>
            <a:pPr indent="0" marL="0">
              <a:buNone/>
            </a:pPr>
            <a:r>
              <a:rPr lang="en-US" sz="1400" b="1" dirty="0">
                <a:solidFill>
                  <a:srgbClr val="1B998B"/>
                </a:solidFill>
                <a:latin typeface="Arial" pitchFamily="34" charset="0"/>
                <a:ea typeface="Arial" pitchFamily="34" charset="-122"/>
                <a:cs typeface="Arial" pitchFamily="34" charset="-120"/>
              </a:rPr>
              <a:t>parcels per cookie season</a:t>
            </a:r>
            <a:endParaRPr lang="en-US" sz="1400" dirty="0"/>
          </a:p>
        </p:txBody>
      </p:sp>
      <p:sp>
        <p:nvSpPr>
          <p:cNvPr id="9" name="Text 7"/>
          <p:cNvSpPr/>
          <p:nvPr/>
        </p:nvSpPr>
        <p:spPr>
          <a:xfrm>
            <a:off x="493776" y="2039112"/>
            <a:ext cx="3429000" cy="1005840"/>
          </a:xfrm>
          <a:prstGeom prst="rect">
            <a:avLst/>
          </a:prstGeom>
          <a:noFill/>
          <a:ln/>
        </p:spPr>
        <p:txBody>
          <a:bodyPr wrap="square" lIns="0" tIns="0" rIns="0" bIns="0" rtlCol="0" anchor="ctr"/>
          <a:lstStyle/>
          <a:p>
            <a:pPr indent="0" marL="0">
              <a:buNone/>
            </a:pPr>
            <a:r>
              <a:rPr lang="en-US" sz="1300" dirty="0">
                <a:solidFill>
                  <a:srgbClr val="5B6770"/>
                </a:solidFill>
                <a:latin typeface="Arial" pitchFamily="34" charset="0"/>
                <a:ea typeface="Arial" pitchFamily="34" charset="-122"/>
                <a:cs typeface="Arial" pitchFamily="34" charset="-120"/>
              </a:rPr>
              <a:t>Measured from the fulfillment counter; one baker network only. National direct-ship likely 3-4M.</a:t>
            </a:r>
            <a:endParaRPr lang="en-US" sz="1300" dirty="0"/>
          </a:p>
        </p:txBody>
      </p:sp>
      <p:sp>
        <p:nvSpPr>
          <p:cNvPr id="10" name="Shape 8"/>
          <p:cNvSpPr/>
          <p:nvPr/>
        </p:nvSpPr>
        <p:spPr>
          <a:xfrm>
            <a:off x="4224528" y="960120"/>
            <a:ext cx="3767328" cy="2267712"/>
          </a:xfrm>
          <a:prstGeom prst="rect">
            <a:avLst/>
          </a:prstGeom>
          <a:solidFill>
            <a:srgbClr val="F4F6F8"/>
          </a:solidFill>
          <a:ln/>
        </p:spPr>
      </p:sp>
      <p:sp>
        <p:nvSpPr>
          <p:cNvPr id="11" name="Shape 9"/>
          <p:cNvSpPr/>
          <p:nvPr/>
        </p:nvSpPr>
        <p:spPr>
          <a:xfrm>
            <a:off x="4224528" y="960120"/>
            <a:ext cx="73152" cy="2267712"/>
          </a:xfrm>
          <a:prstGeom prst="rect">
            <a:avLst/>
          </a:prstGeom>
          <a:solidFill>
            <a:srgbClr val="1B998B"/>
          </a:solidFill>
          <a:ln/>
        </p:spPr>
      </p:sp>
      <p:sp>
        <p:nvSpPr>
          <p:cNvPr id="12" name="Text 10"/>
          <p:cNvSpPr/>
          <p:nvPr/>
        </p:nvSpPr>
        <p:spPr>
          <a:xfrm>
            <a:off x="4425696" y="1106424"/>
            <a:ext cx="3429000" cy="45720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$1.97 to $3.24</a:t>
            </a:r>
            <a:endParaRPr lang="en-US" sz="2200" dirty="0"/>
          </a:p>
        </p:txBody>
      </p:sp>
      <p:sp>
        <p:nvSpPr>
          <p:cNvPr id="13" name="Text 11"/>
          <p:cNvSpPr/>
          <p:nvPr/>
        </p:nvSpPr>
        <p:spPr>
          <a:xfrm>
            <a:off x="4425696" y="1618488"/>
            <a:ext cx="3429000" cy="365760"/>
          </a:xfrm>
          <a:prstGeom prst="rect">
            <a:avLst/>
          </a:prstGeom>
          <a:noFill/>
          <a:ln/>
        </p:spPr>
        <p:txBody>
          <a:bodyPr wrap="square" lIns="0" tIns="0" rIns="0" bIns="0" rtlCol="0" anchor="ctr"/>
          <a:lstStyle/>
          <a:p>
            <a:pPr indent="0" marL="0">
              <a:buNone/>
            </a:pPr>
            <a:r>
              <a:rPr lang="en-US" sz="1400" b="1" dirty="0">
                <a:solidFill>
                  <a:srgbClr val="1B998B"/>
                </a:solidFill>
                <a:latin typeface="Arial" pitchFamily="34" charset="0"/>
                <a:ea typeface="Arial" pitchFamily="34" charset="-122"/>
                <a:cs typeface="Arial" pitchFamily="34" charset="-120"/>
              </a:rPr>
              <a:t>less per parcel</a:t>
            </a:r>
            <a:endParaRPr lang="en-US" sz="1400" dirty="0"/>
          </a:p>
        </p:txBody>
      </p:sp>
      <p:sp>
        <p:nvSpPr>
          <p:cNvPr id="14" name="Text 12"/>
          <p:cNvSpPr/>
          <p:nvPr/>
        </p:nvSpPr>
        <p:spPr>
          <a:xfrm>
            <a:off x="4425696" y="2039112"/>
            <a:ext cx="3429000" cy="1005840"/>
          </a:xfrm>
          <a:prstGeom prst="rect">
            <a:avLst/>
          </a:prstGeom>
          <a:noFill/>
          <a:ln/>
        </p:spPr>
        <p:txBody>
          <a:bodyPr wrap="square" lIns="0" tIns="0" rIns="0" bIns="0" rtlCol="0" anchor="ctr"/>
          <a:lstStyle/>
          <a:p>
            <a:pPr indent="0" marL="0">
              <a:buNone/>
            </a:pPr>
            <a:r>
              <a:rPr lang="en-US" sz="1300" dirty="0">
                <a:solidFill>
                  <a:srgbClr val="5B6770"/>
                </a:solidFill>
                <a:latin typeface="Arial" pitchFamily="34" charset="0"/>
                <a:ea typeface="Arial" pitchFamily="34" charset="-122"/>
                <a:cs typeface="Arial" pitchFamily="34" charset="-120"/>
              </a:rPr>
              <a:t>Cato's measured 16.4% and 27% savings rates applied to GSUSA's published $11.99 shipping fee.</a:t>
            </a:r>
            <a:endParaRPr lang="en-US" sz="1300" dirty="0"/>
          </a:p>
        </p:txBody>
      </p:sp>
      <p:sp>
        <p:nvSpPr>
          <p:cNvPr id="15" name="Shape 13"/>
          <p:cNvSpPr/>
          <p:nvPr/>
        </p:nvSpPr>
        <p:spPr>
          <a:xfrm>
            <a:off x="8156448" y="960120"/>
            <a:ext cx="3767328" cy="2267712"/>
          </a:xfrm>
          <a:prstGeom prst="rect">
            <a:avLst/>
          </a:prstGeom>
          <a:solidFill>
            <a:srgbClr val="F4F6F8"/>
          </a:solidFill>
          <a:ln/>
        </p:spPr>
      </p:sp>
      <p:sp>
        <p:nvSpPr>
          <p:cNvPr id="16" name="Shape 14"/>
          <p:cNvSpPr/>
          <p:nvPr/>
        </p:nvSpPr>
        <p:spPr>
          <a:xfrm>
            <a:off x="8156448" y="960120"/>
            <a:ext cx="73152" cy="2267712"/>
          </a:xfrm>
          <a:prstGeom prst="rect">
            <a:avLst/>
          </a:prstGeom>
          <a:solidFill>
            <a:srgbClr val="1B998B"/>
          </a:solidFill>
          <a:ln/>
        </p:spPr>
      </p:sp>
      <p:sp>
        <p:nvSpPr>
          <p:cNvPr id="17" name="Text 15"/>
          <p:cNvSpPr/>
          <p:nvPr/>
        </p:nvSpPr>
        <p:spPr>
          <a:xfrm>
            <a:off x="8357616" y="1106424"/>
            <a:ext cx="3429000" cy="45720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$4.2M to $6.7M</a:t>
            </a:r>
            <a:endParaRPr lang="en-US" sz="2200" dirty="0"/>
          </a:p>
        </p:txBody>
      </p:sp>
      <p:sp>
        <p:nvSpPr>
          <p:cNvPr id="18" name="Text 16"/>
          <p:cNvSpPr/>
          <p:nvPr/>
        </p:nvSpPr>
        <p:spPr>
          <a:xfrm>
            <a:off x="8357616" y="1618488"/>
            <a:ext cx="3429000" cy="365760"/>
          </a:xfrm>
          <a:prstGeom prst="rect">
            <a:avLst/>
          </a:prstGeom>
          <a:noFill/>
          <a:ln/>
        </p:spPr>
        <p:txBody>
          <a:bodyPr wrap="square" lIns="0" tIns="0" rIns="0" bIns="0" rtlCol="0" anchor="ctr"/>
          <a:lstStyle/>
          <a:p>
            <a:pPr indent="0" marL="0">
              <a:buNone/>
            </a:pPr>
            <a:r>
              <a:rPr lang="en-US" sz="1400" b="1" dirty="0">
                <a:solidFill>
                  <a:srgbClr val="1B998B"/>
                </a:solidFill>
                <a:latin typeface="Arial" pitchFamily="34" charset="0"/>
                <a:ea typeface="Arial" pitchFamily="34" charset="-122"/>
                <a:cs typeface="Arial" pitchFamily="34" charset="-120"/>
              </a:rPr>
              <a:t>over the six-month season</a:t>
            </a:r>
            <a:endParaRPr lang="en-US" sz="1400" dirty="0"/>
          </a:p>
        </p:txBody>
      </p:sp>
      <p:sp>
        <p:nvSpPr>
          <p:cNvPr id="19" name="Text 17"/>
          <p:cNvSpPr/>
          <p:nvPr/>
        </p:nvSpPr>
        <p:spPr>
          <a:xfrm>
            <a:off x="8357616" y="2039112"/>
            <a:ext cx="3429000" cy="1005840"/>
          </a:xfrm>
          <a:prstGeom prst="rect">
            <a:avLst/>
          </a:prstGeom>
          <a:noFill/>
          <a:ln/>
        </p:spPr>
        <p:txBody>
          <a:bodyPr wrap="square" lIns="0" tIns="0" rIns="0" bIns="0" rtlCol="0" anchor="ctr"/>
          <a:lstStyle/>
          <a:p>
            <a:pPr indent="0" marL="0">
              <a:buNone/>
            </a:pPr>
            <a:r>
              <a:rPr lang="en-US" sz="1300" dirty="0">
                <a:solidFill>
                  <a:srgbClr val="5B6770"/>
                </a:solidFill>
                <a:latin typeface="Arial" pitchFamily="34" charset="0"/>
                <a:ea typeface="Arial" pitchFamily="34" charset="-122"/>
                <a:cs typeface="Arial" pitchFamily="34" charset="-120"/>
              </a:rPr>
              <a:t>At 2.0M parcels, including UPS's 2026 peak surcharge Nov-Jan. Every input is public or measured.</a:t>
            </a:r>
            <a:endParaRPr lang="en-US" sz="1300" dirty="0"/>
          </a:p>
        </p:txBody>
      </p:sp>
      <p:sp>
        <p:nvSpPr>
          <p:cNvPr id="20" name="Shape 18"/>
          <p:cNvSpPr/>
          <p:nvPr/>
        </p:nvSpPr>
        <p:spPr>
          <a:xfrm>
            <a:off x="292608" y="3383280"/>
            <a:ext cx="3767328" cy="2267712"/>
          </a:xfrm>
          <a:prstGeom prst="rect">
            <a:avLst/>
          </a:prstGeom>
          <a:solidFill>
            <a:srgbClr val="F4F6F8"/>
          </a:solidFill>
          <a:ln/>
        </p:spPr>
      </p:sp>
      <p:sp>
        <p:nvSpPr>
          <p:cNvPr id="21" name="Shape 19"/>
          <p:cNvSpPr/>
          <p:nvPr/>
        </p:nvSpPr>
        <p:spPr>
          <a:xfrm>
            <a:off x="292608" y="3383280"/>
            <a:ext cx="73152" cy="2267712"/>
          </a:xfrm>
          <a:prstGeom prst="rect">
            <a:avLst/>
          </a:prstGeom>
          <a:solidFill>
            <a:srgbClr val="B23A48"/>
          </a:solidFill>
          <a:ln/>
        </p:spPr>
      </p:sp>
      <p:sp>
        <p:nvSpPr>
          <p:cNvPr id="22" name="Text 20"/>
          <p:cNvSpPr/>
          <p:nvPr/>
        </p:nvSpPr>
        <p:spPr>
          <a:xfrm>
            <a:off x="493776" y="3529584"/>
            <a:ext cx="3429000" cy="45720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16% to 27%</a:t>
            </a:r>
            <a:endParaRPr lang="en-US" sz="2200" dirty="0"/>
          </a:p>
        </p:txBody>
      </p:sp>
      <p:sp>
        <p:nvSpPr>
          <p:cNvPr id="23" name="Text 21"/>
          <p:cNvSpPr/>
          <p:nvPr/>
        </p:nvSpPr>
        <p:spPr>
          <a:xfrm>
            <a:off x="493776" y="4041648"/>
            <a:ext cx="3429000" cy="365760"/>
          </a:xfrm>
          <a:prstGeom prst="rect">
            <a:avLst/>
          </a:prstGeom>
          <a:noFill/>
          <a:ln/>
        </p:spPr>
        <p:txBody>
          <a:bodyPr wrap="square" lIns="0" tIns="0" rIns="0" bIns="0" rtlCol="0" anchor="ctr"/>
          <a:lstStyle/>
          <a:p>
            <a:pPr indent="0" marL="0">
              <a:buNone/>
            </a:pPr>
            <a:r>
              <a:rPr lang="en-US" sz="1400" b="1" dirty="0">
                <a:solidFill>
                  <a:srgbClr val="1B998B"/>
                </a:solidFill>
                <a:latin typeface="Arial" pitchFamily="34" charset="0"/>
                <a:ea typeface="Arial" pitchFamily="34" charset="-122"/>
                <a:cs typeface="Arial" pitchFamily="34" charset="-120"/>
              </a:rPr>
              <a:t>lower cost per parcel at Cato</a:t>
            </a:r>
            <a:endParaRPr lang="en-US" sz="1400" dirty="0"/>
          </a:p>
        </p:txBody>
      </p:sp>
      <p:sp>
        <p:nvSpPr>
          <p:cNvPr id="24" name="Text 22"/>
          <p:cNvSpPr/>
          <p:nvPr/>
        </p:nvSpPr>
        <p:spPr>
          <a:xfrm>
            <a:off x="493776" y="4462272"/>
            <a:ext cx="3429000" cy="1005840"/>
          </a:xfrm>
          <a:prstGeom prst="rect">
            <a:avLst/>
          </a:prstGeom>
          <a:noFill/>
          <a:ln/>
        </p:spPr>
        <p:txBody>
          <a:bodyPr wrap="square" lIns="0" tIns="0" rIns="0" bIns="0" rtlCol="0" anchor="ctr"/>
          <a:lstStyle/>
          <a:p>
            <a:pPr indent="0" marL="0">
              <a:buNone/>
            </a:pPr>
            <a:r>
              <a:rPr lang="en-US" sz="1300" dirty="0">
                <a:solidFill>
                  <a:srgbClr val="5B6770"/>
                </a:solidFill>
                <a:latin typeface="Arial" pitchFamily="34" charset="0"/>
                <a:ea typeface="Arial" pitchFamily="34" charset="-122"/>
                <a:cs typeface="Arial" pitchFamily="34" charset="-120"/>
              </a:rPr>
              <a:t>Real: Cato's Jan 2025 carrier invoices re-rated through HTL. Observed per-label drop 43-49% including service selection.</a:t>
            </a:r>
            <a:endParaRPr lang="en-US" sz="1300" dirty="0"/>
          </a:p>
        </p:txBody>
      </p:sp>
      <p:sp>
        <p:nvSpPr>
          <p:cNvPr id="25" name="Shape 23"/>
          <p:cNvSpPr/>
          <p:nvPr/>
        </p:nvSpPr>
        <p:spPr>
          <a:xfrm>
            <a:off x="4224528" y="3383280"/>
            <a:ext cx="3767328" cy="2267712"/>
          </a:xfrm>
          <a:prstGeom prst="rect">
            <a:avLst/>
          </a:prstGeom>
          <a:solidFill>
            <a:srgbClr val="F4F6F8"/>
          </a:solidFill>
          <a:ln/>
        </p:spPr>
      </p:sp>
      <p:sp>
        <p:nvSpPr>
          <p:cNvPr id="26" name="Shape 24"/>
          <p:cNvSpPr/>
          <p:nvPr/>
        </p:nvSpPr>
        <p:spPr>
          <a:xfrm>
            <a:off x="4224528" y="3383280"/>
            <a:ext cx="73152" cy="2267712"/>
          </a:xfrm>
          <a:prstGeom prst="rect">
            <a:avLst/>
          </a:prstGeom>
          <a:solidFill>
            <a:srgbClr val="14213D"/>
          </a:solidFill>
          <a:ln/>
        </p:spPr>
      </p:sp>
      <p:sp>
        <p:nvSpPr>
          <p:cNvPr id="27" name="Text 25"/>
          <p:cNvSpPr/>
          <p:nvPr/>
        </p:nvSpPr>
        <p:spPr>
          <a:xfrm>
            <a:off x="4425696" y="3529584"/>
            <a:ext cx="3429000" cy="45720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98%  /  2.5 days</a:t>
            </a:r>
            <a:endParaRPr lang="en-US" sz="2200" dirty="0"/>
          </a:p>
        </p:txBody>
      </p:sp>
      <p:sp>
        <p:nvSpPr>
          <p:cNvPr id="28" name="Text 26"/>
          <p:cNvSpPr/>
          <p:nvPr/>
        </p:nvSpPr>
        <p:spPr>
          <a:xfrm>
            <a:off x="4425696" y="4041648"/>
            <a:ext cx="3429000" cy="365760"/>
          </a:xfrm>
          <a:prstGeom prst="rect">
            <a:avLst/>
          </a:prstGeom>
          <a:noFill/>
          <a:ln/>
        </p:spPr>
        <p:txBody>
          <a:bodyPr wrap="square" lIns="0" tIns="0" rIns="0" bIns="0" rtlCol="0" anchor="ctr"/>
          <a:lstStyle/>
          <a:p>
            <a:pPr indent="0" marL="0">
              <a:buNone/>
            </a:pPr>
            <a:r>
              <a:rPr lang="en-US" sz="1400" b="1" dirty="0">
                <a:solidFill>
                  <a:srgbClr val="1B998B"/>
                </a:solidFill>
                <a:latin typeface="Arial" pitchFamily="34" charset="0"/>
                <a:ea typeface="Arial" pitchFamily="34" charset="-122"/>
                <a:cs typeface="Arial" pitchFamily="34" charset="-120"/>
              </a:rPr>
              <a:t>on-time / average transit</a:t>
            </a:r>
            <a:endParaRPr lang="en-US" sz="1400" dirty="0"/>
          </a:p>
        </p:txBody>
      </p:sp>
      <p:sp>
        <p:nvSpPr>
          <p:cNvPr id="29" name="Text 27"/>
          <p:cNvSpPr/>
          <p:nvPr/>
        </p:nvSpPr>
        <p:spPr>
          <a:xfrm>
            <a:off x="4425696" y="4462272"/>
            <a:ext cx="3429000" cy="1005840"/>
          </a:xfrm>
          <a:prstGeom prst="rect">
            <a:avLst/>
          </a:prstGeom>
          <a:noFill/>
          <a:ln/>
        </p:spPr>
        <p:txBody>
          <a:bodyPr wrap="square" lIns="0" tIns="0" rIns="0" bIns="0" rtlCol="0" anchor="ctr"/>
          <a:lstStyle/>
          <a:p>
            <a:pPr indent="0" marL="0">
              <a:buNone/>
            </a:pPr>
            <a:r>
              <a:rPr lang="en-US" sz="1300" dirty="0">
                <a:solidFill>
                  <a:srgbClr val="5B6770"/>
                </a:solidFill>
                <a:latin typeface="Arial" pitchFamily="34" charset="0"/>
                <a:ea typeface="Arial" pitchFamily="34" charset="-122"/>
                <a:cs typeface="Arial" pitchFamily="34" charset="-120"/>
              </a:rPr>
              <a:t>HTL parcel network performance, 2026.</a:t>
            </a:r>
            <a:endParaRPr lang="en-US" sz="1300" dirty="0"/>
          </a:p>
        </p:txBody>
      </p:sp>
      <p:sp>
        <p:nvSpPr>
          <p:cNvPr id="30" name="Shape 28"/>
          <p:cNvSpPr/>
          <p:nvPr/>
        </p:nvSpPr>
        <p:spPr>
          <a:xfrm>
            <a:off x="8156448" y="3383280"/>
            <a:ext cx="3767328" cy="2267712"/>
          </a:xfrm>
          <a:prstGeom prst="rect">
            <a:avLst/>
          </a:prstGeom>
          <a:solidFill>
            <a:srgbClr val="F4F6F8"/>
          </a:solidFill>
          <a:ln/>
        </p:spPr>
      </p:sp>
      <p:sp>
        <p:nvSpPr>
          <p:cNvPr id="31" name="Shape 29"/>
          <p:cNvSpPr/>
          <p:nvPr/>
        </p:nvSpPr>
        <p:spPr>
          <a:xfrm>
            <a:off x="8156448" y="3383280"/>
            <a:ext cx="73152" cy="2267712"/>
          </a:xfrm>
          <a:prstGeom prst="rect">
            <a:avLst/>
          </a:prstGeom>
          <a:solidFill>
            <a:srgbClr val="14213D"/>
          </a:solidFill>
          <a:ln/>
        </p:spPr>
      </p:sp>
      <p:sp>
        <p:nvSpPr>
          <p:cNvPr id="32" name="Text 30"/>
          <p:cNvSpPr/>
          <p:nvPr/>
        </p:nvSpPr>
        <p:spPr>
          <a:xfrm>
            <a:off x="8357616" y="3529584"/>
            <a:ext cx="3429000" cy="45720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30 min  /  7-12 days</a:t>
            </a:r>
            <a:endParaRPr lang="en-US" sz="2200" dirty="0"/>
          </a:p>
        </p:txBody>
      </p:sp>
      <p:sp>
        <p:nvSpPr>
          <p:cNvPr id="33" name="Text 31"/>
          <p:cNvSpPr/>
          <p:nvPr/>
        </p:nvSpPr>
        <p:spPr>
          <a:xfrm>
            <a:off x="8357616" y="4041648"/>
            <a:ext cx="3429000" cy="365760"/>
          </a:xfrm>
          <a:prstGeom prst="rect">
            <a:avLst/>
          </a:prstGeom>
          <a:noFill/>
          <a:ln/>
        </p:spPr>
        <p:txBody>
          <a:bodyPr wrap="square" lIns="0" tIns="0" rIns="0" bIns="0" rtlCol="0" anchor="ctr"/>
          <a:lstStyle/>
          <a:p>
            <a:pPr indent="0" marL="0">
              <a:buNone/>
            </a:pPr>
            <a:r>
              <a:rPr lang="en-US" sz="1400" b="1" dirty="0">
                <a:solidFill>
                  <a:srgbClr val="1B998B"/>
                </a:solidFill>
                <a:latin typeface="Arial" pitchFamily="34" charset="0"/>
                <a:ea typeface="Arial" pitchFamily="34" charset="-122"/>
                <a:cs typeface="Arial" pitchFamily="34" charset="-120"/>
              </a:rPr>
              <a:t>of your team's time / to results</a:t>
            </a:r>
            <a:endParaRPr lang="en-US" sz="1400" dirty="0"/>
          </a:p>
        </p:txBody>
      </p:sp>
      <p:sp>
        <p:nvSpPr>
          <p:cNvPr id="34" name="Text 32"/>
          <p:cNvSpPr/>
          <p:nvPr/>
        </p:nvSpPr>
        <p:spPr>
          <a:xfrm>
            <a:off x="8357616" y="4462272"/>
            <a:ext cx="3429000" cy="1005840"/>
          </a:xfrm>
          <a:prstGeom prst="rect">
            <a:avLst/>
          </a:prstGeom>
          <a:noFill/>
          <a:ln/>
        </p:spPr>
        <p:txBody>
          <a:bodyPr wrap="square" lIns="0" tIns="0" rIns="0" bIns="0" rtlCol="0" anchor="ctr"/>
          <a:lstStyle/>
          <a:p>
            <a:pPr indent="0" marL="0">
              <a:buNone/>
            </a:pPr>
            <a:r>
              <a:rPr lang="en-US" sz="1300" dirty="0">
                <a:solidFill>
                  <a:srgbClr val="5B6770"/>
                </a:solidFill>
                <a:latin typeface="Arial" pitchFamily="34" charset="0"/>
                <a:ea typeface="Arial" pitchFamily="34" charset="-122"/>
                <a:cs typeface="Arial" pitchFamily="34" charset="-120"/>
              </a:rPr>
              <a:t>Last 6 months of statements or a PLD, plus last year's cookie trend, under a mutual NDA.</a:t>
            </a:r>
            <a:endParaRPr lang="en-US" sz="1300" dirty="0"/>
          </a:p>
        </p:txBody>
      </p:sp>
      <p:sp>
        <p:nvSpPr>
          <p:cNvPr id="35" name="Text 33"/>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GSUSA figures use GSUSA's published fee and Cato's measured savings rates until GSUSA's shipment data is available; Cato figures are actual. Illustrative, not a quote.</a:t>
            </a:r>
            <a:endParaRPr lang="en-US" sz="1000" dirty="0"/>
          </a:p>
        </p:txBody>
      </p:sp>
      <p:sp>
        <p:nvSpPr>
          <p:cNvPr id="36" name="Text 34"/>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4213D"/>
          </a:solidFill>
          <a:ln/>
        </p:spPr>
      </p:sp>
      <p:sp>
        <p:nvSpPr>
          <p:cNvPr id="3" name="Text 1"/>
          <p:cNvSpPr/>
          <p:nvPr/>
        </p:nvSpPr>
        <p:spPr>
          <a:xfrm>
            <a:off x="329184" y="146304"/>
            <a:ext cx="11521440" cy="36576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To turn this estimate into real numbers</a:t>
            </a:r>
            <a:endParaRPr lang="en-US" sz="2200" dirty="0"/>
          </a:p>
        </p:txBody>
      </p:sp>
      <p:sp>
        <p:nvSpPr>
          <p:cNvPr id="4" name="Shape 2"/>
          <p:cNvSpPr/>
          <p:nvPr/>
        </p:nvSpPr>
        <p:spPr>
          <a:xfrm>
            <a:off x="329184" y="530352"/>
            <a:ext cx="1645920" cy="36576"/>
          </a:xfrm>
          <a:prstGeom prst="rect">
            <a:avLst/>
          </a:prstGeom>
          <a:solidFill>
            <a:srgbClr val="1B998B"/>
          </a:solidFill>
          <a:ln/>
        </p:spPr>
      </p:sp>
      <p:sp>
        <p:nvSpPr>
          <p:cNvPr id="5" name="Shape 3"/>
          <p:cNvSpPr/>
          <p:nvPr/>
        </p:nvSpPr>
        <p:spPr>
          <a:xfrm>
            <a:off x="329184" y="777240"/>
            <a:ext cx="256032" cy="256032"/>
          </a:xfrm>
          <a:prstGeom prst="ellipse">
            <a:avLst/>
          </a:prstGeom>
          <a:solidFill>
            <a:srgbClr val="1B998B"/>
          </a:solidFill>
          <a:ln/>
        </p:spPr>
      </p:sp>
      <p:sp>
        <p:nvSpPr>
          <p:cNvPr id="6" name="Text 4"/>
          <p:cNvSpPr/>
          <p:nvPr/>
        </p:nvSpPr>
        <p:spPr>
          <a:xfrm>
            <a:off x="329184" y="795528"/>
            <a:ext cx="256032"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694944" y="777240"/>
            <a:ext cx="11064240" cy="274320"/>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The last 6 months of shipping statements, or a PLD, whichever is easier to pull.</a:t>
            </a:r>
            <a:endParaRPr lang="en-US" sz="1400" dirty="0"/>
          </a:p>
        </p:txBody>
      </p:sp>
      <p:sp>
        <p:nvSpPr>
          <p:cNvPr id="8" name="Shape 6"/>
          <p:cNvSpPr/>
          <p:nvPr/>
        </p:nvSpPr>
        <p:spPr>
          <a:xfrm>
            <a:off x="329184" y="1161288"/>
            <a:ext cx="256032" cy="256032"/>
          </a:xfrm>
          <a:prstGeom prst="ellipse">
            <a:avLst/>
          </a:prstGeom>
          <a:solidFill>
            <a:srgbClr val="1B998B"/>
          </a:solidFill>
          <a:ln/>
        </p:spPr>
      </p:sp>
      <p:sp>
        <p:nvSpPr>
          <p:cNvPr id="9" name="Text 7"/>
          <p:cNvSpPr/>
          <p:nvPr/>
        </p:nvSpPr>
        <p:spPr>
          <a:xfrm>
            <a:off x="329184" y="1179576"/>
            <a:ext cx="256032"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694944" y="1161288"/>
            <a:ext cx="11064240" cy="274320"/>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Last year's cookie-season trend, so the busy months are sized properly.</a:t>
            </a:r>
            <a:endParaRPr lang="en-US" sz="1400" dirty="0"/>
          </a:p>
        </p:txBody>
      </p:sp>
      <p:sp>
        <p:nvSpPr>
          <p:cNvPr id="11" name="Shape 9"/>
          <p:cNvSpPr/>
          <p:nvPr/>
        </p:nvSpPr>
        <p:spPr>
          <a:xfrm>
            <a:off x="329184" y="1545336"/>
            <a:ext cx="256032" cy="256032"/>
          </a:xfrm>
          <a:prstGeom prst="ellipse">
            <a:avLst/>
          </a:prstGeom>
          <a:solidFill>
            <a:srgbClr val="1B998B"/>
          </a:solidFill>
          <a:ln/>
        </p:spPr>
      </p:sp>
      <p:sp>
        <p:nvSpPr>
          <p:cNvPr id="12" name="Text 10"/>
          <p:cNvSpPr/>
          <p:nvPr/>
        </p:nvSpPr>
        <p:spPr>
          <a:xfrm>
            <a:off x="329184" y="1563624"/>
            <a:ext cx="256032"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3" name="Text 11"/>
          <p:cNvSpPr/>
          <p:nvPr/>
        </p:nvSpPr>
        <p:spPr>
          <a:xfrm>
            <a:off x="694944" y="1545336"/>
            <a:ext cx="11064240" cy="274320"/>
          </a:xfrm>
          <a:prstGeom prst="rect">
            <a:avLst/>
          </a:prstGeom>
          <a:noFill/>
          <a:ln/>
        </p:spPr>
        <p:txBody>
          <a:bodyPr wrap="square" lIns="0" tIns="0" rIns="0" bIns="0" rtlCol="0" anchor="ctr"/>
          <a:lstStyle/>
          <a:p>
            <a:pPr indent="0" marL="0">
              <a:buNone/>
            </a:pPr>
            <a:r>
              <a:rPr lang="en-US" sz="1400" dirty="0">
                <a:solidFill>
                  <a:srgbClr val="1F2A37"/>
                </a:solidFill>
                <a:latin typeface="Arial" pitchFamily="34" charset="0"/>
                <a:ea typeface="Arial" pitchFamily="34" charset="-122"/>
                <a:cs typeface="Arial" pitchFamily="34" charset="-120"/>
              </a:rPr>
              <a:t>About 30 minutes of your team's time, under a mutual NDA. Results in 7 to 12 days.</a:t>
            </a:r>
            <a:endParaRPr lang="en-US" sz="1400" dirty="0"/>
          </a:p>
        </p:txBody>
      </p:sp>
      <p:sp>
        <p:nvSpPr>
          <p:cNvPr id="14" name="Shape 12"/>
          <p:cNvSpPr/>
          <p:nvPr/>
        </p:nvSpPr>
        <p:spPr>
          <a:xfrm>
            <a:off x="292608" y="2011680"/>
            <a:ext cx="5760720" cy="2148840"/>
          </a:xfrm>
          <a:prstGeom prst="rect">
            <a:avLst/>
          </a:prstGeom>
          <a:solidFill>
            <a:srgbClr val="E7F6F3"/>
          </a:solidFill>
          <a:ln/>
        </p:spPr>
      </p:sp>
      <p:sp>
        <p:nvSpPr>
          <p:cNvPr id="15" name="Text 13"/>
          <p:cNvSpPr/>
          <p:nvPr/>
        </p:nvSpPr>
        <p:spPr>
          <a:xfrm>
            <a:off x="438912" y="2103120"/>
            <a:ext cx="5486400" cy="365760"/>
          </a:xfrm>
          <a:prstGeom prst="rect">
            <a:avLst/>
          </a:prstGeom>
          <a:noFill/>
          <a:ln/>
        </p:spPr>
        <p:txBody>
          <a:bodyPr wrap="square" lIns="0" tIns="0" rIns="0" bIns="0" rtlCol="0" anchor="ctr"/>
          <a:lstStyle/>
          <a:p>
            <a:pPr indent="0" marL="0">
              <a:buNone/>
            </a:pPr>
            <a:r>
              <a:rPr lang="en-US" sz="1200" b="1" dirty="0">
                <a:solidFill>
                  <a:srgbClr val="1B998B"/>
                </a:solidFill>
                <a:latin typeface="Arial" pitchFamily="34" charset="0"/>
                <a:ea typeface="Arial" pitchFamily="34" charset="-122"/>
                <a:cs typeface="Arial" pitchFamily="34" charset="-120"/>
              </a:rPr>
              <a:t>PATH A  —  GSUSA or the baker holds the account</a:t>
            </a:r>
            <a:endParaRPr lang="en-US" sz="1200" dirty="0"/>
          </a:p>
        </p:txBody>
      </p:sp>
      <p:sp>
        <p:nvSpPr>
          <p:cNvPr id="16" name="Text 14"/>
          <p:cNvSpPr/>
          <p:nvPr/>
        </p:nvSpPr>
        <p:spPr>
          <a:xfrm>
            <a:off x="438912" y="2514600"/>
            <a:ext cx="5440680" cy="146304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UPS Billing Center, My Invoices, CSV Full (250 columns). FedEx Billing Online, Reports, Shipment Detail. USPS: export the postage-platform history. Strip names and street addresses. Destination ZIP is enough.</a:t>
            </a:r>
            <a:endParaRPr lang="en-US" sz="1300" dirty="0"/>
          </a:p>
        </p:txBody>
      </p:sp>
      <p:sp>
        <p:nvSpPr>
          <p:cNvPr id="17" name="Shape 15"/>
          <p:cNvSpPr/>
          <p:nvPr/>
        </p:nvSpPr>
        <p:spPr>
          <a:xfrm>
            <a:off x="6172200" y="2011680"/>
            <a:ext cx="5669280" cy="2148840"/>
          </a:xfrm>
          <a:prstGeom prst="rect">
            <a:avLst/>
          </a:prstGeom>
          <a:solidFill>
            <a:srgbClr val="F4F6F8"/>
          </a:solidFill>
          <a:ln/>
        </p:spPr>
      </p:sp>
      <p:sp>
        <p:nvSpPr>
          <p:cNvPr id="18" name="Text 16"/>
          <p:cNvSpPr/>
          <p:nvPr/>
        </p:nvSpPr>
        <p:spPr>
          <a:xfrm>
            <a:off x="6309360" y="2103120"/>
            <a:ext cx="5394960" cy="365760"/>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PATH B  —  the fulfillment partner holds the account</a:t>
            </a:r>
            <a:endParaRPr lang="en-US" sz="1200" dirty="0"/>
          </a:p>
        </p:txBody>
      </p:sp>
      <p:sp>
        <p:nvSpPr>
          <p:cNvPr id="19" name="Text 17"/>
          <p:cNvSpPr/>
          <p:nvPr/>
        </p:nvSpPr>
        <p:spPr>
          <a:xfrm>
            <a:off x="6309360" y="2514600"/>
            <a:ext cx="5349240" cy="146304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Ask for the shipment-level export: ship date, tracking, origin and destination ZIP, weight, dimensions, service, residential flag, and the carrier charge including surcharges. Then last year's shipped-order counts by week from eBudde / Smart Cookies.</a:t>
            </a:r>
            <a:endParaRPr lang="en-US" sz="1300" dirty="0"/>
          </a:p>
        </p:txBody>
      </p:sp>
      <p:sp>
        <p:nvSpPr>
          <p:cNvPr id="20" name="Shape 18"/>
          <p:cNvSpPr/>
          <p:nvPr/>
        </p:nvSpPr>
        <p:spPr>
          <a:xfrm>
            <a:off x="292608" y="4297680"/>
            <a:ext cx="2816352" cy="777240"/>
          </a:xfrm>
          <a:prstGeom prst="rect">
            <a:avLst/>
          </a:prstGeom>
          <a:solidFill>
            <a:srgbClr val="14213D"/>
          </a:solidFill>
          <a:ln/>
        </p:spPr>
      </p:sp>
      <p:sp>
        <p:nvSpPr>
          <p:cNvPr id="21" name="Text 19"/>
          <p:cNvSpPr/>
          <p:nvPr/>
        </p:nvSpPr>
        <p:spPr>
          <a:xfrm>
            <a:off x="402336" y="4389120"/>
            <a:ext cx="2596896" cy="5943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Data in</a:t>
            </a:r>
            <a:endParaRPr lang="en-US" sz="1400" dirty="0"/>
          </a:p>
        </p:txBody>
      </p:sp>
      <p:sp>
        <p:nvSpPr>
          <p:cNvPr id="22" name="Shape 20"/>
          <p:cNvSpPr/>
          <p:nvPr/>
        </p:nvSpPr>
        <p:spPr>
          <a:xfrm>
            <a:off x="3236976" y="4297680"/>
            <a:ext cx="2816352" cy="777240"/>
          </a:xfrm>
          <a:prstGeom prst="rect">
            <a:avLst/>
          </a:prstGeom>
          <a:solidFill>
            <a:srgbClr val="14213D"/>
          </a:solidFill>
          <a:ln/>
        </p:spPr>
      </p:sp>
      <p:sp>
        <p:nvSpPr>
          <p:cNvPr id="23" name="Text 21"/>
          <p:cNvSpPr/>
          <p:nvPr/>
        </p:nvSpPr>
        <p:spPr>
          <a:xfrm>
            <a:off x="3346704" y="4389120"/>
            <a:ext cx="2596896" cy="5943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7 to 12 days</a:t>
            </a:r>
            <a:endParaRPr lang="en-US" sz="1400" dirty="0"/>
          </a:p>
        </p:txBody>
      </p:sp>
      <p:sp>
        <p:nvSpPr>
          <p:cNvPr id="24" name="Shape 22"/>
          <p:cNvSpPr/>
          <p:nvPr/>
        </p:nvSpPr>
        <p:spPr>
          <a:xfrm>
            <a:off x="6181344" y="4297680"/>
            <a:ext cx="2816352" cy="777240"/>
          </a:xfrm>
          <a:prstGeom prst="rect">
            <a:avLst/>
          </a:prstGeom>
          <a:solidFill>
            <a:srgbClr val="14213D"/>
          </a:solidFill>
          <a:ln/>
        </p:spPr>
      </p:sp>
      <p:sp>
        <p:nvSpPr>
          <p:cNvPr id="25" name="Text 23"/>
          <p:cNvSpPr/>
          <p:nvPr/>
        </p:nvSpPr>
        <p:spPr>
          <a:xfrm>
            <a:off x="6291072" y="4389120"/>
            <a:ext cx="2596896" cy="5943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Findings review</a:t>
            </a:r>
            <a:endParaRPr lang="en-US" sz="1400" dirty="0"/>
          </a:p>
          <a:p>
            <a:pPr indent="0" marL="0">
              <a:buNone/>
            </a:pPr>
            <a:r>
              <a:rPr lang="en-US" sz="1400" b="1" dirty="0">
                <a:solidFill>
                  <a:srgbClr val="FFFFFF"/>
                </a:solidFill>
                <a:latin typeface="Arial" pitchFamily="34" charset="0"/>
                <a:ea typeface="Arial" pitchFamily="34" charset="-122"/>
                <a:cs typeface="Arial" pitchFamily="34" charset="-120"/>
              </a:rPr>
              <a:t>Zoom or NYC</a:t>
            </a:r>
            <a:endParaRPr lang="en-US" sz="1400" dirty="0"/>
          </a:p>
        </p:txBody>
      </p:sp>
      <p:sp>
        <p:nvSpPr>
          <p:cNvPr id="26" name="Shape 24"/>
          <p:cNvSpPr/>
          <p:nvPr/>
        </p:nvSpPr>
        <p:spPr>
          <a:xfrm>
            <a:off x="9125712" y="4297680"/>
            <a:ext cx="2816352" cy="777240"/>
          </a:xfrm>
          <a:prstGeom prst="rect">
            <a:avLst/>
          </a:prstGeom>
          <a:solidFill>
            <a:srgbClr val="1B998B"/>
          </a:solidFill>
          <a:ln/>
        </p:spPr>
      </p:sp>
      <p:sp>
        <p:nvSpPr>
          <p:cNvPr id="27" name="Text 25"/>
          <p:cNvSpPr/>
          <p:nvPr/>
        </p:nvSpPr>
        <p:spPr>
          <a:xfrm>
            <a:off x="9235440" y="4389120"/>
            <a:ext cx="2596896" cy="5943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25% of volume,</a:t>
            </a:r>
            <a:endParaRPr lang="en-US" sz="1400" dirty="0"/>
          </a:p>
          <a:p>
            <a:pPr indent="0" marL="0">
              <a:buNone/>
            </a:pPr>
            <a:r>
              <a:rPr lang="en-US" sz="1400" b="1" dirty="0">
                <a:solidFill>
                  <a:srgbClr val="FFFFFF"/>
                </a:solidFill>
                <a:latin typeface="Arial" pitchFamily="34" charset="0"/>
                <a:ea typeface="Arial" pitchFamily="34" charset="-122"/>
                <a:cs typeface="Arial" pitchFamily="34" charset="-120"/>
              </a:rPr>
              <a:t>then scale</a:t>
            </a:r>
            <a:endParaRPr lang="en-US" sz="1400" dirty="0"/>
          </a:p>
        </p:txBody>
      </p:sp>
      <p:sp>
        <p:nvSpPr>
          <p:cNvPr id="28" name="Text 26"/>
          <p:cNvSpPr/>
          <p:nvPr/>
        </p:nvSpPr>
        <p:spPr>
          <a:xfrm>
            <a:off x="329184" y="5212080"/>
            <a:ext cx="11521440" cy="292608"/>
          </a:xfrm>
          <a:prstGeom prst="rect">
            <a:avLst/>
          </a:prstGeom>
          <a:noFill/>
          <a:ln/>
        </p:spPr>
        <p:txBody>
          <a:bodyPr wrap="square" lIns="0" tIns="0" rIns="0" bIns="0" rtlCol="0" anchor="ctr"/>
          <a:lstStyle/>
          <a:p>
            <a:pPr indent="0" marL="0">
              <a:buNone/>
            </a:pPr>
            <a:r>
              <a:rPr lang="en-US" sz="1500" b="1" dirty="0">
                <a:solidFill>
                  <a:srgbClr val="1B998B"/>
                </a:solidFill>
                <a:latin typeface="Arial" pitchFamily="34" charset="0"/>
                <a:ea typeface="Arial" pitchFamily="34" charset="-122"/>
                <a:cs typeface="Arial" pitchFamily="34" charset="-120"/>
              </a:rPr>
              <a:t>If it doesn't make sense after a look, we shelve it. If it does, you'll know before the 2027 season.</a:t>
            </a:r>
            <a:endParaRPr lang="en-US" sz="1500" dirty="0"/>
          </a:p>
        </p:txBody>
      </p:sp>
      <p:sp>
        <p:nvSpPr>
          <p:cNvPr id="29" name="Text 27"/>
          <p:cNvSpPr/>
          <p:nvPr/>
        </p:nvSpPr>
        <p:spPr>
          <a:xfrm>
            <a:off x="329184" y="5559552"/>
            <a:ext cx="11521440" cy="256032"/>
          </a:xfrm>
          <a:prstGeom prst="rect">
            <a:avLst/>
          </a:prstGeom>
          <a:noFill/>
          <a:ln/>
        </p:spPr>
        <p:txBody>
          <a:bodyPr wrap="square" lIns="0" tIns="0" rIns="0" bIns="0" rtlCol="0" anchor="ctr"/>
          <a:lstStyle/>
          <a:p>
            <a:pPr indent="0" marL="0">
              <a:buNone/>
            </a:pPr>
            <a:r>
              <a:rPr lang="en-US" sz="1400" dirty="0">
                <a:solidFill>
                  <a:srgbClr val="14213D"/>
                </a:solidFill>
                <a:latin typeface="Arial" pitchFamily="34" charset="0"/>
                <a:ea typeface="Arial" pitchFamily="34" charset="-122"/>
                <a:cs typeface="Arial" pitchFamily="34" charset="-120"/>
              </a:rPr>
              <a:t>Xander Hassan   |   610-731-3506   |   Xander@hassantranspo.com</a:t>
            </a:r>
            <a:endParaRPr lang="en-US" sz="1400" dirty="0"/>
          </a:p>
        </p:txBody>
      </p:sp>
      <p:sp>
        <p:nvSpPr>
          <p:cNvPr id="30" name="Text 28"/>
          <p:cNvSpPr/>
          <p:nvPr/>
        </p:nvSpPr>
        <p:spPr>
          <a:xfrm>
            <a:off x="329184" y="6144768"/>
            <a:ext cx="11521440" cy="384048"/>
          </a:xfrm>
          <a:prstGeom prst="rect">
            <a:avLst/>
          </a:prstGeom>
          <a:noFill/>
          <a:ln/>
        </p:spPr>
        <p:txBody>
          <a:bodyPr wrap="square" lIns="0" tIns="0" rIns="0" bIns="0" rtlCol="0" anchor="ctr"/>
          <a:lstStyle/>
          <a:p>
            <a:pPr indent="0" marL="0">
              <a:buNone/>
            </a:pPr>
            <a:r>
              <a:rPr lang="en-US" sz="1000" dirty="0">
                <a:solidFill>
                  <a:srgbClr val="5B6770"/>
                </a:solidFill>
                <a:latin typeface="Arial" pitchFamily="34" charset="0"/>
                <a:ea typeface="Arial" pitchFamily="34" charset="-122"/>
                <a:cs typeface="Arial" pitchFamily="34" charset="-120"/>
              </a:rPr>
              <a:t>Send under a mutual NDA. Not needed: names, street addresses, email, payment details.</a:t>
            </a:r>
            <a:endParaRPr lang="en-US" sz="1000" dirty="0"/>
          </a:p>
        </p:txBody>
      </p:sp>
      <p:sp>
        <p:nvSpPr>
          <p:cNvPr id="31" name="Text 29"/>
          <p:cNvSpPr/>
          <p:nvPr/>
        </p:nvSpPr>
        <p:spPr>
          <a:xfrm>
            <a:off x="329184" y="6583680"/>
            <a:ext cx="11521440" cy="164592"/>
          </a:xfrm>
          <a:prstGeom prst="rect">
            <a:avLst/>
          </a:prstGeom>
          <a:noFill/>
          <a:ln/>
        </p:spPr>
        <p:txBody>
          <a:bodyPr wrap="square" lIns="0" tIns="0" rIns="0" bIns="0" rtlCol="0" anchor="ctr"/>
          <a:lstStyle/>
          <a:p>
            <a:pPr indent="0" marL="0">
              <a:buNone/>
            </a:pPr>
            <a:r>
              <a:rPr lang="en-US" sz="900" dirty="0">
                <a:solidFill>
                  <a:srgbClr val="5B6770"/>
                </a:solidFill>
                <a:latin typeface="Arial" pitchFamily="34" charset="0"/>
                <a:ea typeface="Arial" pitchFamily="34" charset="-122"/>
                <a:cs typeface="Arial" pitchFamily="34" charset="-120"/>
              </a:rPr>
              <a:t>Hassan Transportation &amp; Logistics  |  in partnership with Efficient Logistics  |  610-731-3506  |  hassantranspo.net</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a:effectLst/>
      </p:bgPr>
    </p:bg>
    <p:spTree>
      <p:nvGrpSpPr>
        <p:cNvPr id="1" name=""/>
        <p:cNvGrpSpPr/>
        <p:nvPr/>
      </p:nvGrpSpPr>
      <p:grpSpPr>
        <a:xfrm>
          <a:off x="0" y="0"/>
          <a:ext cx="0" cy="0"/>
          <a:chOff x="0" y="0"/>
          <a:chExt cx="0" cy="0"/>
        </a:xfrm>
      </p:grpSpPr>
      <p:sp>
        <p:nvSpPr>
          <p:cNvPr id="2" name="TextBox 1"/>
          <p:cNvSpPr txBox="1"/>
          <p:nvPr/>
        </p:nvSpPr>
        <p:spPr>
          <a:xfrm>
            <a:off x="1828754" y="201168"/>
            <a:ext cx="8534186" cy="292608"/>
          </a:xfrm>
          <a:prstGeom prst="rect">
            <a:avLst/>
          </a:prstGeom>
          <a:noFill/>
        </p:spPr>
        <p:txBody>
          <a:bodyPr wrap="square"/>
          <a:lstStyle/>
          <a:p>
            <a:pPr algn="ctr">
              <a:spcAft>
                <a:spcPts val="0"/>
              </a:spcAft>
            </a:pPr>
            <a:r>
              <a:rPr sz="1300" b="1">
                <a:solidFill>
                  <a:srgbClr val="7FD3C7"/>
                </a:solidFill>
                <a:latin typeface="Calibri"/>
              </a:rPr>
              <a:t>A NOTE FROM XANDER</a:t>
            </a:r>
          </a:p>
        </p:txBody>
      </p:sp>
      <p:pic>
        <p:nvPicPr>
          <p:cNvPr id="3" name="Picture 2" descr="xander_photo.png"/>
          <p:cNvPicPr>
            <a:picLocks noChangeAspect="1"/>
          </p:cNvPicPr>
          <p:nvPr/>
        </p:nvPicPr>
        <p:blipFill>
          <a:blip r:embed="rId4"/>
          <a:stretch>
            <a:fillRect/>
          </a:stretch>
        </p:blipFill>
        <p:spPr>
          <a:xfrm>
            <a:off x="5570067" y="475488"/>
            <a:ext cx="1051560" cy="1051560"/>
          </a:xfrm>
          <a:prstGeom prst="rect">
            <a:avLst/>
          </a:prstGeom>
        </p:spPr>
      </p:pic>
      <p:sp>
        <p:nvSpPr>
          <p:cNvPr id="4" name="TextBox 3"/>
          <p:cNvSpPr txBox="1"/>
          <p:nvPr/>
        </p:nvSpPr>
        <p:spPr>
          <a:xfrm>
            <a:off x="1828754" y="1664208"/>
            <a:ext cx="8534186" cy="4709160"/>
          </a:xfrm>
          <a:prstGeom prst="rect">
            <a:avLst/>
          </a:prstGeom>
          <a:noFill/>
        </p:spPr>
        <p:txBody>
          <a:bodyPr wrap="square"/>
          <a:lstStyle/>
          <a:p>
            <a:pPr algn="ctr">
              <a:spcAft>
                <a:spcPts val="1000"/>
              </a:spcAft>
            </a:pPr>
            <a:r>
              <a:rPr sz="1500" b="0">
                <a:solidFill>
                  <a:srgbClr val="FFFFFF"/>
                </a:solidFill>
                <a:latin typeface="Calibri"/>
              </a:rPr>
              <a:t>I grew up in a Girl Scout house. My mother has given years to this organization, and Girl Scout Cookies have been part of my life for as long as I can remember. Samoas, for the record. I always wondered how they got there.</a:t>
            </a:r>
          </a:p>
          <a:p>
            <a:pPr algn="ctr">
              <a:spcAft>
                <a:spcPts val="1000"/>
              </a:spcAft>
            </a:pPr>
            <a:r>
              <a:rPr sz="1500" b="0">
                <a:solidFill>
                  <a:srgbClr val="FFFFFF"/>
                </a:solidFill>
                <a:latin typeface="Calibri"/>
              </a:rPr>
              <a:t>Before I ran a logistics company, I worked the front desk at a Marriott in Fort Lauderdale. One afternoon I stopped at a cookie stand downtown for lunch. The stand was busy, with a real line, and what stayed with me wasn't the cookies. It was the scouts running the table: how they greeted people, kept the line moving, and explained the product and the price clearly, at their age. I was in the middle of a hotel company's customer service training at the time. They were already doing the job.</a:t>
            </a:r>
          </a:p>
          <a:p>
            <a:pPr algn="ctr">
              <a:spcAft>
                <a:spcPts val="1000"/>
              </a:spcAft>
            </a:pPr>
            <a:r>
              <a:rPr sz="1500" b="0">
                <a:solidFill>
                  <a:srgbClr val="FFFFFF"/>
                </a:solidFill>
                <a:latin typeface="Calibri"/>
              </a:rPr>
              <a:t>The mission hasn't changed: build confident, capable young people. I understand that culture because I was raised inside it, and I've watched what my mother's years of work have meant to the people around her. If this analysis holds, helping the program keep more of what the girls earn would be my way of contributing to the same thing she has.</a:t>
            </a:r>
          </a:p>
        </p:txBody>
      </p:sp>
      <p:sp>
        <p:nvSpPr>
          <p:cNvPr id="5" name="TextBox 4"/>
          <p:cNvSpPr txBox="1"/>
          <p:nvPr/>
        </p:nvSpPr>
        <p:spPr>
          <a:xfrm>
            <a:off x="365760" y="6565392"/>
            <a:ext cx="11460175" cy="256032"/>
          </a:xfrm>
          <a:prstGeom prst="rect">
            <a:avLst/>
          </a:prstGeom>
          <a:noFill/>
        </p:spPr>
        <p:txBody>
          <a:bodyPr wrap="square"/>
          <a:lstStyle/>
          <a:p>
            <a:pPr algn="ctr">
              <a:spcAft>
                <a:spcPts val="0"/>
              </a:spcAft>
            </a:pPr>
            <a:r>
              <a:rPr sz="1000" b="0">
                <a:solidFill>
                  <a:srgbClr val="8FA0B0"/>
                </a:solidFill>
                <a:latin typeface="Calibri"/>
              </a:rPr>
              <a:t>Hassan Transportation &amp; Logistics  |  in partnership with Efficient Logistics  |  610-731-3506  |  hassantranspo.net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a:effectLst/>
      </p:bgPr>
    </p:bg>
    <p:spTree>
      <p:nvGrpSpPr>
        <p:cNvPr id="1" name=""/>
        <p:cNvGrpSpPr/>
        <p:nvPr/>
      </p:nvGrpSpPr>
      <p:grpSpPr>
        <a:xfrm>
          <a:off x="0" y="0"/>
          <a:ext cx="0" cy="0"/>
          <a:chOff x="0" y="0"/>
          <a:chExt cx="0" cy="0"/>
        </a:xfrm>
      </p:grpSpPr>
      <p:sp>
        <p:nvSpPr>
          <p:cNvPr id="2" name="TextBox 1"/>
          <p:cNvSpPr txBox="1"/>
          <p:nvPr/>
        </p:nvSpPr>
        <p:spPr>
          <a:xfrm>
            <a:off x="1828754" y="256032"/>
            <a:ext cx="8534186" cy="4160520"/>
          </a:xfrm>
          <a:prstGeom prst="rect">
            <a:avLst/>
          </a:prstGeom>
          <a:noFill/>
        </p:spPr>
        <p:txBody>
          <a:bodyPr wrap="square"/>
          <a:lstStyle/>
          <a:p>
            <a:pPr algn="ctr">
              <a:spcAft>
                <a:spcPts val="800"/>
              </a:spcAft>
            </a:pPr>
            <a:r>
              <a:rPr sz="1500" b="0">
                <a:solidFill>
                  <a:srgbClr val="FFFFFF"/>
                </a:solidFill>
                <a:latin typeface="Calibri"/>
              </a:rPr>
              <a:t>When this came across my desk, I did what I'd do for any shipper: pulled the public rate cards, read the carrier announcements, modeled the parcels. I also asked who the money is for. Here, it's a girl in a troop somewhere, and the troop keeps about a dollar a box.</a:t>
            </a:r>
          </a:p>
          <a:p>
            <a:pPr algn="ctr">
              <a:spcAft>
                <a:spcPts val="800"/>
              </a:spcAft>
            </a:pPr>
            <a:r>
              <a:rPr sz="1500" b="0">
                <a:solidFill>
                  <a:srgbClr val="FFFFFF"/>
                </a:solidFill>
                <a:latin typeface="Calibri"/>
              </a:rPr>
              <a:t>Here is what I found. The carriers have already published their 2027 increases. Girl Scouts passes its $11.99 shipping fee through at cost, so the fee is a window into what the program actually pays. A live customer of ours runs 16 to 27 percent below its old carrier contract on the same kind of parcels. Across a two-million-parcel season, that gap is four to nearly seven million dollars, more than the operating loss that led the national board to raise dues. And Patch Pals, the first product where every box is a parcel, launches eight days after the rate increase.</a:t>
            </a:r>
          </a:p>
          <a:p>
            <a:pPr algn="ctr">
              <a:spcAft>
                <a:spcPts val="800"/>
              </a:spcAft>
            </a:pPr>
            <a:r>
              <a:rPr sz="1500" b="0">
                <a:solidFill>
                  <a:srgbClr val="FFFFFF"/>
                </a:solidFill>
                <a:latin typeface="Calibri"/>
              </a:rPr>
              <a:t>I'm not asking anyone to switch carriers. I'm asking for six months of shipping data and thirty minutes so we can confirm whether this is real. If it isn't, I'll say so. If it is, the savings go back to the mission.</a:t>
            </a:r>
          </a:p>
          <a:p>
            <a:pPr algn="ctr">
              <a:spcAft>
                <a:spcPts val="800"/>
              </a:spcAft>
            </a:pPr>
            <a:r>
              <a:rPr sz="1500" b="0">
                <a:solidFill>
                  <a:srgbClr val="FFFFFF"/>
                </a:solidFill>
                <a:latin typeface="Calibri"/>
              </a:rPr>
              <a:t>Thank you for considering it.</a:t>
            </a:r>
          </a:p>
        </p:txBody>
      </p:sp>
      <p:sp>
        <p:nvSpPr>
          <p:cNvPr id="3" name="Rectangle 2"/>
          <p:cNvSpPr/>
          <p:nvPr/>
        </p:nvSpPr>
        <p:spPr>
          <a:xfrm>
            <a:off x="4998567" y="4526280"/>
            <a:ext cx="2194560" cy="2286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ignature_white.png"/>
          <p:cNvPicPr>
            <a:picLocks noChangeAspect="1"/>
          </p:cNvPicPr>
          <p:nvPr/>
        </p:nvPicPr>
        <p:blipFill>
          <a:blip r:embed="rId4"/>
          <a:stretch>
            <a:fillRect/>
          </a:stretch>
        </p:blipFill>
        <p:spPr>
          <a:xfrm>
            <a:off x="4907127" y="4617720"/>
            <a:ext cx="2377440" cy="822960"/>
          </a:xfrm>
          <a:prstGeom prst="rect">
            <a:avLst/>
          </a:prstGeom>
        </p:spPr>
      </p:pic>
      <p:sp>
        <p:nvSpPr>
          <p:cNvPr id="5" name="TextBox 4"/>
          <p:cNvSpPr txBox="1"/>
          <p:nvPr/>
        </p:nvSpPr>
        <p:spPr>
          <a:xfrm>
            <a:off x="1828754" y="5440680"/>
            <a:ext cx="8534186" cy="1051560"/>
          </a:xfrm>
          <a:prstGeom prst="rect">
            <a:avLst/>
          </a:prstGeom>
          <a:noFill/>
        </p:spPr>
        <p:txBody>
          <a:bodyPr wrap="square"/>
          <a:lstStyle/>
          <a:p>
            <a:pPr algn="ctr">
              <a:spcAft>
                <a:spcPts val="0"/>
              </a:spcAft>
            </a:pPr>
            <a:r>
              <a:rPr sz="1300" b="0">
                <a:solidFill>
                  <a:srgbClr val="FFFFFF"/>
                </a:solidFill>
                <a:latin typeface="Calibri"/>
              </a:rPr>
              <a:t>Xander Hassan</a:t>
            </a:r>
          </a:p>
          <a:p>
            <a:pPr algn="ctr">
              <a:spcAft>
                <a:spcPts val="0"/>
              </a:spcAft>
            </a:pPr>
            <a:r>
              <a:rPr sz="1300" b="0">
                <a:solidFill>
                  <a:srgbClr val="FFFFFF"/>
                </a:solidFill>
                <a:latin typeface="Calibri"/>
              </a:rPr>
              <a:t>President &amp; CEO</a:t>
            </a:r>
          </a:p>
          <a:p>
            <a:pPr algn="ctr">
              <a:spcAft>
                <a:spcPts val="0"/>
              </a:spcAft>
            </a:pPr>
            <a:r>
              <a:rPr sz="1300" b="0">
                <a:solidFill>
                  <a:srgbClr val="FFFFFF"/>
                </a:solidFill>
                <a:latin typeface="Calibri"/>
              </a:rPr>
              <a:t>Hassan Transportation &amp; Logistics</a:t>
            </a:r>
          </a:p>
          <a:p>
            <a:pPr algn="ctr">
              <a:spcAft>
                <a:spcPts val="0"/>
              </a:spcAft>
            </a:pPr>
            <a:r>
              <a:rPr sz="1300" b="0">
                <a:solidFill>
                  <a:srgbClr val="FFFFFF"/>
                </a:solidFill>
                <a:latin typeface="Calibri"/>
              </a:rPr>
              <a:t>Xander@hassantranspo.com  |  610-731-3506  |  hassantranspo.net</a:t>
            </a:r>
          </a:p>
        </p:txBody>
      </p:sp>
      <p:sp>
        <p:nvSpPr>
          <p:cNvPr id="6" name="TextBox 5"/>
          <p:cNvSpPr txBox="1"/>
          <p:nvPr/>
        </p:nvSpPr>
        <p:spPr>
          <a:xfrm>
            <a:off x="365760" y="6565392"/>
            <a:ext cx="11460175" cy="256032"/>
          </a:xfrm>
          <a:prstGeom prst="rect">
            <a:avLst/>
          </a:prstGeom>
          <a:noFill/>
        </p:spPr>
        <p:txBody>
          <a:bodyPr wrap="square"/>
          <a:lstStyle/>
          <a:p>
            <a:pPr algn="ctr">
              <a:spcAft>
                <a:spcPts val="0"/>
              </a:spcAft>
            </a:pPr>
            <a:r>
              <a:rPr sz="1000" b="0">
                <a:solidFill>
                  <a:srgbClr val="8FA0B0"/>
                </a:solidFill>
                <a:latin typeface="Calibri"/>
              </a:rPr>
              <a:t>Hassan Transportation &amp; Logistics  |  in partnership with Efficient Logistics  |  610-731-3506  |  hassantranspo.net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Parcel Cost Outlook: Peak Surcharges vs. HTL &amp; Efficient Logistics</dc:title>
  <dc:subject>PptxGenJS Presentation</dc:subject>
  <dc:creator>Xander Hassan</dc:creator>
  <cp:lastModifiedBy>Xander Hassan</cp:lastModifiedBy>
  <cp:revision>1</cp:revision>
  <dcterms:created xsi:type="dcterms:W3CDTF">2026-10-07T04:52:45Z</dcterms:created>
  <dcterms:modified xsi:type="dcterms:W3CDTF">2026-10-07T04:52:45Z</dcterms:modified>
</cp:coreProperties>
</file>